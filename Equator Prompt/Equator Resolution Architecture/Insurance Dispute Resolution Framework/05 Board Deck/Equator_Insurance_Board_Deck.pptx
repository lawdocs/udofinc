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B4F"/>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17485E"/>
          </a:solidFill>
          <a:ln/>
        </p:spPr>
      </p:sp>
      <p:sp>
        <p:nvSpPr>
          <p:cNvPr id="3" name="Text 1"/>
          <p:cNvSpPr/>
          <p:nvPr/>
        </p:nvSpPr>
        <p:spPr>
          <a:xfrm>
            <a:off x="640080" y="1371600"/>
            <a:ext cx="10058400" cy="548640"/>
          </a:xfrm>
          <a:prstGeom prst="rect">
            <a:avLst/>
          </a:prstGeom>
          <a:noFill/>
          <a:ln/>
        </p:spPr>
        <p:txBody>
          <a:bodyPr wrap="square" lIns="0" tIns="0" rIns="0" bIns="0" rtlCol="0" anchor="ctr"/>
          <a:lstStyle/>
          <a:p>
            <a:pPr indent="0" marL="0">
              <a:buNone/>
            </a:pPr>
            <a:r>
              <a:rPr lang="en-US" sz="2200" b="1" spc="200" kern="0" dirty="0">
                <a:solidFill>
                  <a:srgbClr val="FFFFFF"/>
                </a:solidFill>
                <a:latin typeface="Cambria" pitchFamily="34" charset="0"/>
                <a:ea typeface="Cambria" pitchFamily="34" charset="-122"/>
                <a:cs typeface="Cambria" pitchFamily="34" charset="-120"/>
              </a:rPr>
              <a:t>EQUATOR RESOLUTION</a:t>
            </a:r>
            <a:endParaRPr lang="en-US" sz="2200" dirty="0"/>
          </a:p>
        </p:txBody>
      </p:sp>
      <p:sp>
        <p:nvSpPr>
          <p:cNvPr id="4" name="Text 2"/>
          <p:cNvSpPr/>
          <p:nvPr/>
        </p:nvSpPr>
        <p:spPr>
          <a:xfrm>
            <a:off x="640080" y="2286000"/>
            <a:ext cx="10972800" cy="9144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Insurance Dispute Resolution</a:t>
            </a:r>
            <a:endParaRPr lang="en-US" sz="3600" dirty="0"/>
          </a:p>
        </p:txBody>
      </p:sp>
      <p:sp>
        <p:nvSpPr>
          <p:cNvPr id="5" name="Text 3"/>
          <p:cNvSpPr/>
          <p:nvPr/>
        </p:nvSpPr>
        <p:spPr>
          <a:xfrm>
            <a:off x="658368" y="3383280"/>
            <a:ext cx="10241280" cy="914400"/>
          </a:xfrm>
          <a:prstGeom prst="rect">
            <a:avLst/>
          </a:prstGeom>
          <a:noFill/>
          <a:ln/>
        </p:spPr>
        <p:txBody>
          <a:bodyPr wrap="square" lIns="0" tIns="0" rIns="0" bIns="0" rtlCol="0" anchor="ctr"/>
          <a:lstStyle/>
          <a:p>
            <a:pPr indent="0" marL="0">
              <a:buNone/>
            </a:pPr>
            <a:r>
              <a:rPr lang="en-US" sz="1500" dirty="0">
                <a:solidFill>
                  <a:srgbClr val="CADCEA"/>
                </a:solidFill>
                <a:latin typeface="Calibri" pitchFamily="34" charset="0"/>
                <a:ea typeface="Calibri" pitchFamily="34" charset="-122"/>
                <a:cs typeface="Calibri" pitchFamily="34" charset="-120"/>
              </a:rPr>
              <a:t>Repudiated and short-settled claims, health and motor deductions, mis-selling, delay and</a:t>
            </a:r>
            <a:endParaRPr lang="en-US" sz="1500" dirty="0"/>
          </a:p>
          <a:p>
            <a:pPr indent="0" marL="0">
              <a:buNone/>
            </a:pPr>
            <a:r>
              <a:rPr lang="en-US" sz="1500" dirty="0">
                <a:solidFill>
                  <a:srgbClr val="CADCEA"/>
                </a:solidFill>
                <a:latin typeface="Calibri" pitchFamily="34" charset="0"/>
                <a:ea typeface="Calibri" pitchFamily="34" charset="-122"/>
                <a:cs typeface="Calibri" pitchFamily="34" charset="-120"/>
              </a:rPr>
              <a:t>commercial quantum disputes — prepared properly, settled quickly, enforceable as a decree.</a:t>
            </a:r>
            <a:endParaRPr lang="en-US" sz="1500" dirty="0"/>
          </a:p>
        </p:txBody>
      </p:sp>
      <p:sp>
        <p:nvSpPr>
          <p:cNvPr id="6" name="Text 4"/>
          <p:cNvSpPr/>
          <p:nvPr/>
        </p:nvSpPr>
        <p:spPr>
          <a:xfrm>
            <a:off x="658368" y="4846320"/>
            <a:ext cx="8229600" cy="365760"/>
          </a:xfrm>
          <a:prstGeom prst="rect">
            <a:avLst/>
          </a:prstGeom>
          <a:noFill/>
          <a:ln/>
        </p:spPr>
        <p:txBody>
          <a:bodyPr wrap="square" lIns="0" tIns="0" rIns="0" bIns="0" rtlCol="0" anchor="ctr"/>
          <a:lstStyle/>
          <a:p>
            <a:pPr indent="0" marL="0">
              <a:buNone/>
            </a:pPr>
            <a:r>
              <a:rPr lang="en-US" sz="1200" b="1" dirty="0">
                <a:solidFill>
                  <a:srgbClr val="C6A15B"/>
                </a:solidFill>
                <a:latin typeface="Calibri" pitchFamily="34" charset="0"/>
                <a:ea typeface="Calibri" pitchFamily="34" charset="-122"/>
                <a:cs typeface="Calibri" pitchFamily="34" charset="-120"/>
              </a:rPr>
              <a:t>Board &amp; Investor Briefing   ·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8"/>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2800" b="1" dirty="0">
                <a:solidFill>
                  <a:srgbClr val="123B4F"/>
                </a:solidFill>
                <a:latin typeface="Cambria" pitchFamily="34" charset="0"/>
                <a:ea typeface="Cambria" pitchFamily="34" charset="-122"/>
                <a:cs typeface="Cambria" pitchFamily="34" charset="-120"/>
              </a:rPr>
              <a:t>One statistic defines the opportunity</a:t>
            </a:r>
            <a:endParaRPr lang="en-US" sz="2800" dirty="0"/>
          </a:p>
        </p:txBody>
      </p:sp>
      <p:sp>
        <p:nvSpPr>
          <p:cNvPr id="3" name="Text 1"/>
          <p:cNvSpPr/>
          <p:nvPr/>
        </p:nvSpPr>
        <p:spPr>
          <a:xfrm>
            <a:off x="566928" y="1024128"/>
            <a:ext cx="10972800" cy="365760"/>
          </a:xfrm>
          <a:prstGeom prst="rect">
            <a:avLst/>
          </a:prstGeom>
          <a:noFill/>
          <a:ln/>
        </p:spPr>
        <p:txBody>
          <a:bodyPr wrap="square" lIns="0" tIns="0" rIns="0" bIns="0" rtlCol="0" anchor="ctr"/>
          <a:lstStyle/>
          <a:p>
            <a:pPr indent="0" marL="0">
              <a:buNone/>
            </a:pPr>
            <a:r>
              <a:rPr lang="en-US" sz="1300" i="1" dirty="0">
                <a:solidFill>
                  <a:srgbClr val="1E7A8C"/>
                </a:solidFill>
                <a:latin typeface="Calibri" pitchFamily="34" charset="0"/>
                <a:ea typeface="Calibri" pitchFamily="34" charset="-122"/>
                <a:cs typeface="Calibri" pitchFamily="34" charset="-120"/>
              </a:rPr>
              <a:t>Council for Insurance Ombudsmen, Annual Report 2023-24</a:t>
            </a:r>
            <a:endParaRPr lang="en-US" sz="1300" dirty="0"/>
          </a:p>
        </p:txBody>
      </p:sp>
      <p:sp>
        <p:nvSpPr>
          <p:cNvPr id="4" name="Shape 2"/>
          <p:cNvSpPr/>
          <p:nvPr/>
        </p:nvSpPr>
        <p:spPr>
          <a:xfrm>
            <a:off x="548640" y="1600200"/>
            <a:ext cx="5394960" cy="3566160"/>
          </a:xfrm>
          <a:prstGeom prst="roundRect">
            <a:avLst>
              <a:gd name="adj" fmla="val 2308"/>
            </a:avLst>
          </a:prstGeom>
          <a:solidFill>
            <a:srgbClr val="F6E0E4"/>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5" name="Text 3"/>
          <p:cNvSpPr/>
          <p:nvPr/>
        </p:nvSpPr>
        <p:spPr>
          <a:xfrm>
            <a:off x="822960" y="1920240"/>
            <a:ext cx="4846320" cy="1097280"/>
          </a:xfrm>
          <a:prstGeom prst="rect">
            <a:avLst/>
          </a:prstGeom>
          <a:noFill/>
          <a:ln/>
        </p:spPr>
        <p:txBody>
          <a:bodyPr wrap="square" lIns="0" tIns="0" rIns="0" bIns="0" rtlCol="0" anchor="ctr"/>
          <a:lstStyle/>
          <a:p>
            <a:pPr algn="ctr" indent="0" marL="0">
              <a:buNone/>
            </a:pPr>
            <a:r>
              <a:rPr lang="en-US" sz="6000" b="1" dirty="0">
                <a:solidFill>
                  <a:srgbClr val="B23A48"/>
                </a:solidFill>
                <a:latin typeface="Cambria" pitchFamily="34" charset="0"/>
                <a:ea typeface="Cambria" pitchFamily="34" charset="-122"/>
                <a:cs typeface="Cambria" pitchFamily="34" charset="-120"/>
              </a:rPr>
              <a:t>12,855</a:t>
            </a:r>
            <a:endParaRPr lang="en-US" sz="6000" dirty="0"/>
          </a:p>
        </p:txBody>
      </p:sp>
      <p:sp>
        <p:nvSpPr>
          <p:cNvPr id="6" name="Text 4"/>
          <p:cNvSpPr/>
          <p:nvPr/>
        </p:nvSpPr>
        <p:spPr>
          <a:xfrm>
            <a:off x="822960" y="3017520"/>
            <a:ext cx="4846320" cy="457200"/>
          </a:xfrm>
          <a:prstGeom prst="rect">
            <a:avLst/>
          </a:prstGeom>
          <a:noFill/>
          <a:ln/>
        </p:spPr>
        <p:txBody>
          <a:bodyPr wrap="square" lIns="0" tIns="0" rIns="0" bIns="0" rtlCol="0" anchor="ctr"/>
          <a:lstStyle/>
          <a:p>
            <a:pPr algn="ctr" indent="0" marL="0">
              <a:buNone/>
            </a:pPr>
            <a:r>
              <a:rPr lang="en-US" sz="1400" b="1" dirty="0">
                <a:solidFill>
                  <a:srgbClr val="123B4F"/>
                </a:solidFill>
                <a:latin typeface="Cambria" pitchFamily="34" charset="0"/>
                <a:ea typeface="Cambria" pitchFamily="34" charset="-122"/>
                <a:cs typeface="Cambria" pitchFamily="34" charset="-120"/>
              </a:rPr>
              <a:t>complaints treated as NON-ENTERTAINABLE</a:t>
            </a:r>
            <a:endParaRPr lang="en-US" sz="1400" dirty="0"/>
          </a:p>
        </p:txBody>
      </p:sp>
      <p:sp>
        <p:nvSpPr>
          <p:cNvPr id="7" name="Text 5"/>
          <p:cNvSpPr/>
          <p:nvPr/>
        </p:nvSpPr>
        <p:spPr>
          <a:xfrm>
            <a:off x="868680" y="3520440"/>
            <a:ext cx="4754880" cy="1463040"/>
          </a:xfrm>
          <a:prstGeom prst="rect">
            <a:avLst/>
          </a:prstGeom>
          <a:noFill/>
          <a:ln/>
        </p:spPr>
        <p:txBody>
          <a:bodyPr wrap="square" lIns="0" tIns="0" rIns="0" bIns="0" rtlCol="0" anchor="ctr"/>
          <a:lstStyle/>
          <a:p>
            <a:pPr algn="ctr" indent="0" marL="0">
              <a:buNone/>
            </a:pPr>
            <a:r>
              <a:rPr lang="en-US" sz="1200" dirty="0">
                <a:solidFill>
                  <a:srgbClr val="1B2A32"/>
                </a:solidFill>
                <a:latin typeface="Calibri" pitchFamily="34" charset="0"/>
                <a:ea typeface="Calibri" pitchFamily="34" charset="-122"/>
                <a:cs typeface="Calibri" pitchFamily="34" charset="-120"/>
              </a:rPr>
              <a:t>Out of 49,705 complaints disposed of by the 17 Ombudsman centres in 2023-24 — roughly one in four.</a:t>
            </a:r>
            <a:endParaRPr lang="en-US" sz="1200" dirty="0"/>
          </a:p>
          <a:p>
            <a:pPr algn="ctr" indent="0" marL="0">
              <a:buNone/>
            </a:pPr>
            <a:endParaRPr lang="en-US" sz="1200" dirty="0"/>
          </a:p>
          <a:p>
            <a:pPr algn="ctr" indent="0" marL="0">
              <a:buNone/>
            </a:pPr>
            <a:r>
              <a:rPr lang="en-US" sz="1200" dirty="0">
                <a:solidFill>
                  <a:srgbClr val="1B2A32"/>
                </a:solidFill>
                <a:latin typeface="Calibri" pitchFamily="34" charset="0"/>
                <a:ea typeface="Calibri" pitchFamily="34" charset="-122"/>
                <a:cs typeface="Calibri" pitchFamily="34" charset="-120"/>
              </a:rPr>
              <a:t>They failed on process, not on merits: no written representation to the insurer, the one-year window missed, the monetary limit exceeded, or the matter already pending elsewhere.</a:t>
            </a:r>
            <a:endParaRPr lang="en-US" sz="1200" dirty="0"/>
          </a:p>
        </p:txBody>
      </p:sp>
      <p:sp>
        <p:nvSpPr>
          <p:cNvPr id="8" name="Shape 6"/>
          <p:cNvSpPr/>
          <p:nvPr/>
        </p:nvSpPr>
        <p:spPr>
          <a:xfrm>
            <a:off x="6263640" y="1600200"/>
            <a:ext cx="5349240" cy="786384"/>
          </a:xfrm>
          <a:prstGeom prst="roundRect">
            <a:avLst>
              <a:gd name="adj" fmla="val 10465"/>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9" name="Text 7"/>
          <p:cNvSpPr/>
          <p:nvPr/>
        </p:nvSpPr>
        <p:spPr>
          <a:xfrm>
            <a:off x="6492240" y="1600200"/>
            <a:ext cx="1737360" cy="786384"/>
          </a:xfrm>
          <a:prstGeom prst="rect">
            <a:avLst/>
          </a:prstGeom>
          <a:noFill/>
          <a:ln/>
        </p:spPr>
        <p:txBody>
          <a:bodyPr wrap="square" lIns="0" tIns="0" rIns="0" bIns="0" rtlCol="0" anchor="ctr"/>
          <a:lstStyle/>
          <a:p>
            <a:pPr indent="0" marL="0">
              <a:buNone/>
            </a:pPr>
            <a:r>
              <a:rPr lang="en-US" sz="1900" b="1" dirty="0">
                <a:solidFill>
                  <a:srgbClr val="1E7A8C"/>
                </a:solidFill>
                <a:latin typeface="Cambria" pitchFamily="34" charset="0"/>
                <a:ea typeface="Cambria" pitchFamily="34" charset="-122"/>
                <a:cs typeface="Cambria" pitchFamily="34" charset="-120"/>
              </a:rPr>
              <a:t>52,575</a:t>
            </a:r>
            <a:endParaRPr lang="en-US" sz="1900" dirty="0"/>
          </a:p>
        </p:txBody>
      </p:sp>
      <p:sp>
        <p:nvSpPr>
          <p:cNvPr id="10" name="Text 8"/>
          <p:cNvSpPr/>
          <p:nvPr/>
        </p:nvSpPr>
        <p:spPr>
          <a:xfrm>
            <a:off x="8229600" y="1600200"/>
            <a:ext cx="3246120" cy="786384"/>
          </a:xfrm>
          <a:prstGeom prst="rect">
            <a:avLst/>
          </a:prstGeom>
          <a:noFill/>
          <a:ln/>
        </p:spPr>
        <p:txBody>
          <a:bodyPr wrap="square" lIns="0" tIns="0" rIns="0" bIns="0" rtlCol="0" anchor="ctr"/>
          <a:lstStyle/>
          <a:p>
            <a:pPr indent="0" marL="0">
              <a:buNone/>
            </a:pPr>
            <a:r>
              <a:rPr lang="en-US" sz="1100" dirty="0">
                <a:solidFill>
                  <a:srgbClr val="1B2A32"/>
                </a:solidFill>
                <a:latin typeface="Calibri" pitchFamily="34" charset="0"/>
                <a:ea typeface="Calibri" pitchFamily="34" charset="-122"/>
                <a:cs typeface="Calibri" pitchFamily="34" charset="-120"/>
              </a:rPr>
              <a:t>complaints received by the 17 centres, 2023-24</a:t>
            </a:r>
            <a:endParaRPr lang="en-US" sz="1100" dirty="0"/>
          </a:p>
        </p:txBody>
      </p:sp>
      <p:sp>
        <p:nvSpPr>
          <p:cNvPr id="11" name="Shape 9"/>
          <p:cNvSpPr/>
          <p:nvPr/>
        </p:nvSpPr>
        <p:spPr>
          <a:xfrm>
            <a:off x="6263640" y="2514600"/>
            <a:ext cx="5349240" cy="786384"/>
          </a:xfrm>
          <a:prstGeom prst="roundRect">
            <a:avLst>
              <a:gd name="adj" fmla="val 10465"/>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2" name="Text 10"/>
          <p:cNvSpPr/>
          <p:nvPr/>
        </p:nvSpPr>
        <p:spPr>
          <a:xfrm>
            <a:off x="6492240" y="2514600"/>
            <a:ext cx="1737360" cy="786384"/>
          </a:xfrm>
          <a:prstGeom prst="rect">
            <a:avLst/>
          </a:prstGeom>
          <a:noFill/>
          <a:ln/>
        </p:spPr>
        <p:txBody>
          <a:bodyPr wrap="square" lIns="0" tIns="0" rIns="0" bIns="0" rtlCol="0" anchor="ctr"/>
          <a:lstStyle/>
          <a:p>
            <a:pPr indent="0" marL="0">
              <a:buNone/>
            </a:pPr>
            <a:r>
              <a:rPr lang="en-US" sz="1900" b="1" dirty="0">
                <a:solidFill>
                  <a:srgbClr val="1E7A8C"/>
                </a:solidFill>
                <a:latin typeface="Cambria" pitchFamily="34" charset="0"/>
                <a:ea typeface="Cambria" pitchFamily="34" charset="-122"/>
                <a:cs typeface="Cambria" pitchFamily="34" charset="-120"/>
              </a:rPr>
              <a:t>9,287</a:t>
            </a:r>
            <a:endParaRPr lang="en-US" sz="1900" dirty="0"/>
          </a:p>
        </p:txBody>
      </p:sp>
      <p:sp>
        <p:nvSpPr>
          <p:cNvPr id="13" name="Text 11"/>
          <p:cNvSpPr/>
          <p:nvPr/>
        </p:nvSpPr>
        <p:spPr>
          <a:xfrm>
            <a:off x="8229600" y="2514600"/>
            <a:ext cx="3246120" cy="786384"/>
          </a:xfrm>
          <a:prstGeom prst="rect">
            <a:avLst/>
          </a:prstGeom>
          <a:noFill/>
          <a:ln/>
        </p:spPr>
        <p:txBody>
          <a:bodyPr wrap="square" lIns="0" tIns="0" rIns="0" bIns="0" rtlCol="0" anchor="ctr"/>
          <a:lstStyle/>
          <a:p>
            <a:pPr indent="0" marL="0">
              <a:buNone/>
            </a:pPr>
            <a:r>
              <a:rPr lang="en-US" sz="1100" dirty="0">
                <a:solidFill>
                  <a:srgbClr val="1B2A32"/>
                </a:solidFill>
                <a:latin typeface="Calibri" pitchFamily="34" charset="0"/>
                <a:ea typeface="Calibri" pitchFamily="34" charset="-122"/>
                <a:cs typeface="Calibri" pitchFamily="34" charset="-120"/>
              </a:rPr>
              <a:t>awards in favour of complainants</a:t>
            </a:r>
            <a:endParaRPr lang="en-US" sz="1100" dirty="0"/>
          </a:p>
        </p:txBody>
      </p:sp>
      <p:sp>
        <p:nvSpPr>
          <p:cNvPr id="14" name="Shape 12"/>
          <p:cNvSpPr/>
          <p:nvPr/>
        </p:nvSpPr>
        <p:spPr>
          <a:xfrm>
            <a:off x="6263640" y="3429000"/>
            <a:ext cx="5349240" cy="786384"/>
          </a:xfrm>
          <a:prstGeom prst="roundRect">
            <a:avLst>
              <a:gd name="adj" fmla="val 10465"/>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5" name="Text 13"/>
          <p:cNvSpPr/>
          <p:nvPr/>
        </p:nvSpPr>
        <p:spPr>
          <a:xfrm>
            <a:off x="6492240" y="3429000"/>
            <a:ext cx="1737360" cy="786384"/>
          </a:xfrm>
          <a:prstGeom prst="rect">
            <a:avLst/>
          </a:prstGeom>
          <a:noFill/>
          <a:ln/>
        </p:spPr>
        <p:txBody>
          <a:bodyPr wrap="square" lIns="0" tIns="0" rIns="0" bIns="0" rtlCol="0" anchor="ctr"/>
          <a:lstStyle/>
          <a:p>
            <a:pPr indent="0" marL="0">
              <a:buNone/>
            </a:pPr>
            <a:r>
              <a:rPr lang="en-US" sz="1900" b="1" dirty="0">
                <a:solidFill>
                  <a:srgbClr val="1E7A8C"/>
                </a:solidFill>
                <a:latin typeface="Cambria" pitchFamily="34" charset="0"/>
                <a:ea typeface="Cambria" pitchFamily="34" charset="-122"/>
                <a:cs typeface="Cambria" pitchFamily="34" charset="-120"/>
              </a:rPr>
              <a:t>+43%</a:t>
            </a:r>
            <a:endParaRPr lang="en-US" sz="1900" dirty="0"/>
          </a:p>
        </p:txBody>
      </p:sp>
      <p:sp>
        <p:nvSpPr>
          <p:cNvPr id="16" name="Text 14"/>
          <p:cNvSpPr/>
          <p:nvPr/>
        </p:nvSpPr>
        <p:spPr>
          <a:xfrm>
            <a:off x="8229600" y="3429000"/>
            <a:ext cx="3246120" cy="786384"/>
          </a:xfrm>
          <a:prstGeom prst="rect">
            <a:avLst/>
          </a:prstGeom>
          <a:noFill/>
          <a:ln/>
        </p:spPr>
        <p:txBody>
          <a:bodyPr wrap="square" lIns="0" tIns="0" rIns="0" bIns="0" rtlCol="0" anchor="ctr"/>
          <a:lstStyle/>
          <a:p>
            <a:pPr indent="0" marL="0">
              <a:buNone/>
            </a:pPr>
            <a:r>
              <a:rPr lang="en-US" sz="1100" dirty="0">
                <a:solidFill>
                  <a:srgbClr val="1B2A32"/>
                </a:solidFill>
                <a:latin typeface="Calibri" pitchFamily="34" charset="0"/>
                <a:ea typeface="Calibri" pitchFamily="34" charset="-122"/>
                <a:cs typeface="Calibri" pitchFamily="34" charset="-120"/>
              </a:rPr>
              <a:t>increase in total disposal year on year</a:t>
            </a:r>
            <a:endParaRPr lang="en-US" sz="1100" dirty="0"/>
          </a:p>
        </p:txBody>
      </p:sp>
      <p:sp>
        <p:nvSpPr>
          <p:cNvPr id="17" name="Shape 15"/>
          <p:cNvSpPr/>
          <p:nvPr/>
        </p:nvSpPr>
        <p:spPr>
          <a:xfrm>
            <a:off x="6263640" y="4343400"/>
            <a:ext cx="5349240" cy="786384"/>
          </a:xfrm>
          <a:prstGeom prst="roundRect">
            <a:avLst>
              <a:gd name="adj" fmla="val 10465"/>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8" name="Text 16"/>
          <p:cNvSpPr/>
          <p:nvPr/>
        </p:nvSpPr>
        <p:spPr>
          <a:xfrm>
            <a:off x="6492240" y="4343400"/>
            <a:ext cx="1737360" cy="786384"/>
          </a:xfrm>
          <a:prstGeom prst="rect">
            <a:avLst/>
          </a:prstGeom>
          <a:noFill/>
          <a:ln/>
        </p:spPr>
        <p:txBody>
          <a:bodyPr wrap="square" lIns="0" tIns="0" rIns="0" bIns="0" rtlCol="0" anchor="ctr"/>
          <a:lstStyle/>
          <a:p>
            <a:pPr indent="0" marL="0">
              <a:buNone/>
            </a:pPr>
            <a:r>
              <a:rPr lang="en-US" sz="1900" b="1" dirty="0">
                <a:solidFill>
                  <a:srgbClr val="1E7A8C"/>
                </a:solidFill>
                <a:latin typeface="Cambria" pitchFamily="34" charset="0"/>
                <a:ea typeface="Cambria" pitchFamily="34" charset="-122"/>
                <a:cs typeface="Cambria" pitchFamily="34" charset="-120"/>
              </a:rPr>
              <a:t>2,15,569</a:t>
            </a:r>
            <a:endParaRPr lang="en-US" sz="1900" dirty="0"/>
          </a:p>
        </p:txBody>
      </p:sp>
      <p:sp>
        <p:nvSpPr>
          <p:cNvPr id="19" name="Text 17"/>
          <p:cNvSpPr/>
          <p:nvPr/>
        </p:nvSpPr>
        <p:spPr>
          <a:xfrm>
            <a:off x="8229600" y="4343400"/>
            <a:ext cx="3246120" cy="786384"/>
          </a:xfrm>
          <a:prstGeom prst="rect">
            <a:avLst/>
          </a:prstGeom>
          <a:noFill/>
          <a:ln/>
        </p:spPr>
        <p:txBody>
          <a:bodyPr wrap="square" lIns="0" tIns="0" rIns="0" bIns="0" rtlCol="0" anchor="ctr"/>
          <a:lstStyle/>
          <a:p>
            <a:pPr indent="0" marL="0">
              <a:buNone/>
            </a:pPr>
            <a:r>
              <a:rPr lang="en-US" sz="1100" dirty="0">
                <a:solidFill>
                  <a:srgbClr val="1B2A32"/>
                </a:solidFill>
                <a:latin typeface="Calibri" pitchFamily="34" charset="0"/>
                <a:ea typeface="Calibri" pitchFamily="34" charset="-122"/>
                <a:cs typeface="Calibri" pitchFamily="34" charset="-120"/>
              </a:rPr>
              <a:t>grievances on Bima Bharosa, 2023-24 (1,20,726 life)</a:t>
            </a:r>
            <a:endParaRPr lang="en-US" sz="1100" dirty="0"/>
          </a:p>
        </p:txBody>
      </p:sp>
      <p:sp>
        <p:nvSpPr>
          <p:cNvPr id="20" name="Text 18"/>
          <p:cNvSpPr/>
          <p:nvPr/>
        </p:nvSpPr>
        <p:spPr>
          <a:xfrm>
            <a:off x="6263640" y="5394960"/>
            <a:ext cx="5349240" cy="731520"/>
          </a:xfrm>
          <a:prstGeom prst="rect">
            <a:avLst/>
          </a:prstGeom>
          <a:noFill/>
          <a:ln/>
        </p:spPr>
        <p:txBody>
          <a:bodyPr wrap="square" lIns="0" tIns="0" rIns="0" bIns="0" rtlCol="0" anchor="ctr"/>
          <a:lstStyle/>
          <a:p>
            <a:pPr indent="0" marL="0">
              <a:buNone/>
            </a:pPr>
            <a:r>
              <a:rPr lang="en-US" sz="1200" i="1" dirty="0">
                <a:solidFill>
                  <a:srgbClr val="123B4F"/>
                </a:solidFill>
                <a:latin typeface="Calibri" pitchFamily="34" charset="0"/>
                <a:ea typeface="Calibri" pitchFamily="34" charset="-122"/>
                <a:cs typeface="Calibri" pitchFamily="34" charset="-120"/>
              </a:rPr>
              <a:t>Equator's core proposition: most rejected complaints fail on process. A vertical that did nothing but get the process right would justify itself.</a:t>
            </a:r>
            <a:endParaRPr lang="en-US" sz="1200" dirty="0"/>
          </a:p>
        </p:txBody>
      </p:sp>
      <p:sp>
        <p:nvSpPr>
          <p:cNvPr id="21" name="Text 19"/>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556168"/>
                </a:solidFill>
                <a:latin typeface="Calibri" pitchFamily="34" charset="0"/>
                <a:ea typeface="Calibri" pitchFamily="34" charset="-122"/>
                <a:cs typeface="Calibri" pitchFamily="34" charset="-120"/>
              </a:rPr>
              <a:t>Equator Resolution  ·  Confidential  ·  An Infrabyx Group venture</a:t>
            </a:r>
            <a:endParaRPr lang="en-US" sz="800" dirty="0"/>
          </a:p>
        </p:txBody>
      </p:sp>
      <p:sp>
        <p:nvSpPr>
          <p:cNvPr id="22" name="Text 20"/>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800" dirty="0">
                <a:solidFill>
                  <a:srgbClr val="556168"/>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8"/>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2800" b="1" dirty="0">
                <a:solidFill>
                  <a:srgbClr val="123B4F"/>
                </a:solidFill>
                <a:latin typeface="Cambria" pitchFamily="34" charset="0"/>
                <a:ea typeface="Cambria" pitchFamily="34" charset="-122"/>
                <a:cs typeface="Cambria" pitchFamily="34" charset="-120"/>
              </a:rPr>
              <a:t>Why an insurance dispute is not like any other dispute</a:t>
            </a:r>
            <a:endParaRPr lang="en-US" sz="2800" dirty="0"/>
          </a:p>
        </p:txBody>
      </p:sp>
      <p:sp>
        <p:nvSpPr>
          <p:cNvPr id="3" name="Shape 1"/>
          <p:cNvSpPr/>
          <p:nvPr/>
        </p:nvSpPr>
        <p:spPr>
          <a:xfrm>
            <a:off x="548640" y="1645920"/>
            <a:ext cx="11064240" cy="1371600"/>
          </a:xfrm>
          <a:prstGeom prst="roundRect">
            <a:avLst>
              <a:gd name="adj" fmla="val 6000"/>
            </a:avLst>
          </a:prstGeom>
          <a:solidFill>
            <a:srgbClr val="DCEAE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4" name="Text 2"/>
          <p:cNvSpPr/>
          <p:nvPr/>
        </p:nvSpPr>
        <p:spPr>
          <a:xfrm>
            <a:off x="868680" y="1828800"/>
            <a:ext cx="10424160" cy="1005840"/>
          </a:xfrm>
          <a:prstGeom prst="rect">
            <a:avLst/>
          </a:prstGeom>
          <a:noFill/>
          <a:ln/>
        </p:spPr>
        <p:txBody>
          <a:bodyPr wrap="square" lIns="0" tIns="0" rIns="0" bIns="0" rtlCol="0" anchor="ctr"/>
          <a:lstStyle/>
          <a:p>
            <a:pPr indent="0" marL="0">
              <a:buNone/>
            </a:pPr>
            <a:r>
              <a:rPr lang="en-US" sz="1700" b="1" dirty="0">
                <a:solidFill>
                  <a:srgbClr val="123B4F"/>
                </a:solidFill>
                <a:latin typeface="Cambria" pitchFamily="34" charset="0"/>
                <a:ea typeface="Cambria" pitchFamily="34" charset="-122"/>
                <a:cs typeface="Cambria" pitchFamily="34" charset="-120"/>
              </a:rPr>
              <a:t>One party wrote the contract, holds the evidence, decided the claim in the first instance, and is a repeat player.</a:t>
            </a:r>
            <a:endParaRPr lang="en-US" sz="1700" dirty="0"/>
          </a:p>
          <a:p>
            <a:pPr indent="0" marL="0">
              <a:buNone/>
            </a:pPr>
            <a:r>
              <a:rPr lang="en-US" sz="1700" b="1" dirty="0">
                <a:solidFill>
                  <a:srgbClr val="123B4F"/>
                </a:solidFill>
                <a:latin typeface="Cambria" pitchFamily="34" charset="0"/>
                <a:ea typeface="Cambria" pitchFamily="34" charset="-122"/>
                <a:cs typeface="Cambria" pitchFamily="34" charset="-120"/>
              </a:rPr>
              <a:t>The other is usually facing the worst week of their life.</a:t>
            </a:r>
            <a:endParaRPr lang="en-US" sz="1700" dirty="0"/>
          </a:p>
        </p:txBody>
      </p:sp>
      <p:sp>
        <p:nvSpPr>
          <p:cNvPr id="5" name="Shape 3"/>
          <p:cNvSpPr/>
          <p:nvPr/>
        </p:nvSpPr>
        <p:spPr>
          <a:xfrm>
            <a:off x="548640" y="3246120"/>
            <a:ext cx="3520440" cy="2651760"/>
          </a:xfrm>
          <a:prstGeom prst="roundRect">
            <a:avLst>
              <a:gd name="adj" fmla="val 3103"/>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6" name="Shape 4"/>
          <p:cNvSpPr/>
          <p:nvPr/>
        </p:nvSpPr>
        <p:spPr>
          <a:xfrm>
            <a:off x="804672" y="3520440"/>
            <a:ext cx="640080" cy="640080"/>
          </a:xfrm>
          <a:prstGeom prst="ellipse">
            <a:avLst/>
          </a:prstGeom>
          <a:solidFill>
            <a:srgbClr val="1E7A8C"/>
          </a:solidFill>
          <a:ln/>
        </p:spPr>
      </p:sp>
      <p:sp>
        <p:nvSpPr>
          <p:cNvPr id="7" name="Text 5"/>
          <p:cNvSpPr/>
          <p:nvPr/>
        </p:nvSpPr>
        <p:spPr>
          <a:xfrm>
            <a:off x="804672" y="35204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8" name="Text 6"/>
          <p:cNvSpPr/>
          <p:nvPr/>
        </p:nvSpPr>
        <p:spPr>
          <a:xfrm>
            <a:off x="731520" y="4297680"/>
            <a:ext cx="3154680" cy="45720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Correct the asymmetry first</a:t>
            </a:r>
            <a:endParaRPr lang="en-US" sz="1400" dirty="0"/>
          </a:p>
        </p:txBody>
      </p:sp>
      <p:sp>
        <p:nvSpPr>
          <p:cNvPr id="9" name="Text 7"/>
          <p:cNvSpPr/>
          <p:nvPr/>
        </p:nvSpPr>
        <p:spPr>
          <a:xfrm>
            <a:off x="749808" y="4754880"/>
            <a:ext cx="3108960" cy="1051560"/>
          </a:xfrm>
          <a:prstGeom prst="rect">
            <a:avLst/>
          </a:prstGeom>
          <a:noFill/>
          <a:ln/>
        </p:spPr>
        <p:txBody>
          <a:bodyPr wrap="square" lIns="0" tIns="0" rIns="0" bIns="0" rtlCol="0" anchor="ctr"/>
          <a:lstStyle/>
          <a:p>
            <a:pPr indent="0" marL="0">
              <a:buNone/>
            </a:pPr>
            <a:r>
              <a:rPr lang="en-US" sz="1050" dirty="0">
                <a:solidFill>
                  <a:srgbClr val="1B2A32"/>
                </a:solidFill>
                <a:latin typeface="Calibri" pitchFamily="34" charset="0"/>
                <a:ea typeface="Calibri" pitchFamily="34" charset="-122"/>
                <a:cs typeface="Calibri" pitchFamily="34" charset="-120"/>
              </a:rPr>
              <a:t>We obtain the claim file, the survey report and the exact wording, and put them in front of both sides. A negotiation where only one party can see the evidence is not mediation — it is attrition.</a:t>
            </a:r>
            <a:endParaRPr lang="en-US" sz="1050" dirty="0"/>
          </a:p>
        </p:txBody>
      </p:sp>
      <p:sp>
        <p:nvSpPr>
          <p:cNvPr id="10" name="Shape 8"/>
          <p:cNvSpPr/>
          <p:nvPr/>
        </p:nvSpPr>
        <p:spPr>
          <a:xfrm>
            <a:off x="4270248" y="3246120"/>
            <a:ext cx="3520440" cy="2651760"/>
          </a:xfrm>
          <a:prstGeom prst="roundRect">
            <a:avLst>
              <a:gd name="adj" fmla="val 3103"/>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1" name="Shape 9"/>
          <p:cNvSpPr/>
          <p:nvPr/>
        </p:nvSpPr>
        <p:spPr>
          <a:xfrm>
            <a:off x="4526280" y="3520440"/>
            <a:ext cx="640080" cy="640080"/>
          </a:xfrm>
          <a:prstGeom prst="ellipse">
            <a:avLst/>
          </a:prstGeom>
          <a:solidFill>
            <a:srgbClr val="B23A48"/>
          </a:solidFill>
          <a:ln/>
        </p:spPr>
      </p:sp>
      <p:sp>
        <p:nvSpPr>
          <p:cNvPr id="12" name="Text 10"/>
          <p:cNvSpPr/>
          <p:nvPr/>
        </p:nvSpPr>
        <p:spPr>
          <a:xfrm>
            <a:off x="4526280" y="35204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3" name="Text 11"/>
          <p:cNvSpPr/>
          <p:nvPr/>
        </p:nvSpPr>
        <p:spPr>
          <a:xfrm>
            <a:off x="4453128" y="4297680"/>
            <a:ext cx="3154680" cy="45720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Never leave them worse off</a:t>
            </a:r>
            <a:endParaRPr lang="en-US" sz="1400" dirty="0"/>
          </a:p>
        </p:txBody>
      </p:sp>
      <p:sp>
        <p:nvSpPr>
          <p:cNvPr id="14" name="Text 12"/>
          <p:cNvSpPr/>
          <p:nvPr/>
        </p:nvSpPr>
        <p:spPr>
          <a:xfrm>
            <a:off x="4471416" y="4754880"/>
            <a:ext cx="3108960" cy="1051560"/>
          </a:xfrm>
          <a:prstGeom prst="rect">
            <a:avLst/>
          </a:prstGeom>
          <a:noFill/>
          <a:ln/>
        </p:spPr>
        <p:txBody>
          <a:bodyPr wrap="square" lIns="0" tIns="0" rIns="0" bIns="0" rtlCol="0" anchor="ctr"/>
          <a:lstStyle/>
          <a:p>
            <a:pPr indent="0" marL="0">
              <a:buNone/>
            </a:pPr>
            <a:r>
              <a:rPr lang="en-US" sz="1050" dirty="0">
                <a:solidFill>
                  <a:srgbClr val="1B2A32"/>
                </a:solidFill>
                <a:latin typeface="Calibri" pitchFamily="34" charset="0"/>
                <a:ea typeface="Calibri" pitchFamily="34" charset="-122"/>
                <a:cs typeface="Calibri" pitchFamily="34" charset="-120"/>
              </a:rPr>
              <a:t>A free statutory forum exists. Any process that consumes the one-year Ombudsman window without settling is a net harm. Clocks are a compliance control, not a nicety.</a:t>
            </a:r>
            <a:endParaRPr lang="en-US" sz="1050" dirty="0"/>
          </a:p>
        </p:txBody>
      </p:sp>
      <p:sp>
        <p:nvSpPr>
          <p:cNvPr id="15" name="Shape 13"/>
          <p:cNvSpPr/>
          <p:nvPr/>
        </p:nvSpPr>
        <p:spPr>
          <a:xfrm>
            <a:off x="7991856" y="3246120"/>
            <a:ext cx="3520440" cy="2651760"/>
          </a:xfrm>
          <a:prstGeom prst="roundRect">
            <a:avLst>
              <a:gd name="adj" fmla="val 3103"/>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6" name="Shape 14"/>
          <p:cNvSpPr/>
          <p:nvPr/>
        </p:nvSpPr>
        <p:spPr>
          <a:xfrm>
            <a:off x="8247888" y="3520440"/>
            <a:ext cx="640080" cy="640080"/>
          </a:xfrm>
          <a:prstGeom prst="ellipse">
            <a:avLst/>
          </a:prstGeom>
          <a:solidFill>
            <a:srgbClr val="C6A15B"/>
          </a:solidFill>
          <a:ln/>
        </p:spPr>
      </p:sp>
      <p:sp>
        <p:nvSpPr>
          <p:cNvPr id="17" name="Text 15"/>
          <p:cNvSpPr/>
          <p:nvPr/>
        </p:nvSpPr>
        <p:spPr>
          <a:xfrm>
            <a:off x="8247888" y="352044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8" name="Text 16"/>
          <p:cNvSpPr/>
          <p:nvPr/>
        </p:nvSpPr>
        <p:spPr>
          <a:xfrm>
            <a:off x="8174736" y="4297680"/>
            <a:ext cx="3154680" cy="45720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Guard against repeat-player capture</a:t>
            </a:r>
            <a:endParaRPr lang="en-US" sz="1400" dirty="0"/>
          </a:p>
        </p:txBody>
      </p:sp>
      <p:sp>
        <p:nvSpPr>
          <p:cNvPr id="19" name="Text 17"/>
          <p:cNvSpPr/>
          <p:nvPr/>
        </p:nvSpPr>
        <p:spPr>
          <a:xfrm>
            <a:off x="8193024" y="4754880"/>
            <a:ext cx="3108960" cy="1051560"/>
          </a:xfrm>
          <a:prstGeom prst="rect">
            <a:avLst/>
          </a:prstGeom>
          <a:noFill/>
          <a:ln/>
        </p:spPr>
        <p:txBody>
          <a:bodyPr wrap="square" lIns="0" tIns="0" rIns="0" bIns="0" rtlCol="0" anchor="ctr"/>
          <a:lstStyle/>
          <a:p>
            <a:pPr indent="0" marL="0">
              <a:buNone/>
            </a:pPr>
            <a:r>
              <a:rPr lang="en-US" sz="1050" dirty="0">
                <a:solidFill>
                  <a:srgbClr val="1B2A32"/>
                </a:solidFill>
                <a:latin typeface="Calibri" pitchFamily="34" charset="0"/>
                <a:ea typeface="Calibri" pitchFamily="34" charset="-122"/>
                <a:cs typeface="Calibri" pitchFamily="34" charset="-120"/>
              </a:rPr>
              <a:t>The insurer returns; the policyholder does not. Rotation, concentration caps, cooling-off and published outcomes are what make the institution credible.</a:t>
            </a:r>
            <a:endParaRPr lang="en-US" sz="1050" dirty="0"/>
          </a:p>
        </p:txBody>
      </p:sp>
      <p:sp>
        <p:nvSpPr>
          <p:cNvPr id="20" name="Text 18"/>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556168"/>
                </a:solidFill>
                <a:latin typeface="Calibri" pitchFamily="34" charset="0"/>
                <a:ea typeface="Calibri" pitchFamily="34" charset="-122"/>
                <a:cs typeface="Calibri" pitchFamily="34" charset="-120"/>
              </a:rPr>
              <a:t>Equator Resolution  ·  Confidential  ·  An Infrabyx Group venture</a:t>
            </a:r>
            <a:endParaRPr lang="en-US" sz="800" dirty="0"/>
          </a:p>
        </p:txBody>
      </p:sp>
      <p:sp>
        <p:nvSpPr>
          <p:cNvPr id="21" name="Text 19"/>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800" dirty="0">
                <a:solidFill>
                  <a:srgbClr val="556168"/>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8"/>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2800" b="1" dirty="0">
                <a:solidFill>
                  <a:srgbClr val="123B4F"/>
                </a:solidFill>
                <a:latin typeface="Cambria" pitchFamily="34" charset="0"/>
                <a:ea typeface="Cambria" pitchFamily="34" charset="-122"/>
                <a:cs typeface="Cambria" pitchFamily="34" charset="-120"/>
              </a:rPr>
              <a:t>The rule that splits the vertical in two</a:t>
            </a:r>
            <a:endParaRPr lang="en-US" sz="2800" dirty="0"/>
          </a:p>
        </p:txBody>
      </p:sp>
      <p:sp>
        <p:nvSpPr>
          <p:cNvPr id="3" name="Text 1"/>
          <p:cNvSpPr/>
          <p:nvPr/>
        </p:nvSpPr>
        <p:spPr>
          <a:xfrm>
            <a:off x="566928" y="1024128"/>
            <a:ext cx="10972800" cy="365760"/>
          </a:xfrm>
          <a:prstGeom prst="rect">
            <a:avLst/>
          </a:prstGeom>
          <a:noFill/>
          <a:ln/>
        </p:spPr>
        <p:txBody>
          <a:bodyPr wrap="square" lIns="0" tIns="0" rIns="0" bIns="0" rtlCol="0" anchor="ctr"/>
          <a:lstStyle/>
          <a:p>
            <a:pPr indent="0" marL="0">
              <a:buNone/>
            </a:pPr>
            <a:r>
              <a:rPr lang="en-US" sz="1300" i="1" dirty="0">
                <a:solidFill>
                  <a:srgbClr val="1E7A8C"/>
                </a:solidFill>
                <a:latin typeface="Calibri" pitchFamily="34" charset="0"/>
                <a:ea typeface="Calibri" pitchFamily="34" charset="-122"/>
                <a:cs typeface="Calibri" pitchFamily="34" charset="-120"/>
              </a:rPr>
              <a:t>IRDAI circular dated 27 October 2023</a:t>
            </a:r>
            <a:endParaRPr lang="en-US" sz="1300" dirty="0"/>
          </a:p>
        </p:txBody>
      </p:sp>
      <p:sp>
        <p:nvSpPr>
          <p:cNvPr id="4" name="Shape 2"/>
          <p:cNvSpPr/>
          <p:nvPr/>
        </p:nvSpPr>
        <p:spPr>
          <a:xfrm>
            <a:off x="548640" y="1645920"/>
            <a:ext cx="5394960" cy="3931920"/>
          </a:xfrm>
          <a:prstGeom prst="roundRect">
            <a:avLst>
              <a:gd name="adj" fmla="val 2093"/>
            </a:avLst>
          </a:prstGeom>
          <a:solidFill>
            <a:srgbClr val="F5ECD6"/>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5" name="Text 3"/>
          <p:cNvSpPr/>
          <p:nvPr/>
        </p:nvSpPr>
        <p:spPr>
          <a:xfrm>
            <a:off x="822960" y="1828800"/>
            <a:ext cx="4846320" cy="548640"/>
          </a:xfrm>
          <a:prstGeom prst="rect">
            <a:avLst/>
          </a:prstGeom>
          <a:noFill/>
          <a:ln/>
        </p:spPr>
        <p:txBody>
          <a:bodyPr wrap="square" lIns="0" tIns="0" rIns="0" bIns="0" rtlCol="0" anchor="ctr"/>
          <a:lstStyle/>
          <a:p>
            <a:pPr indent="0" marL="0">
              <a:buNone/>
            </a:pPr>
            <a:r>
              <a:rPr lang="en-US" sz="2600" b="1" dirty="0">
                <a:solidFill>
                  <a:srgbClr val="123B4F"/>
                </a:solidFill>
                <a:latin typeface="Cambria" pitchFamily="34" charset="0"/>
                <a:ea typeface="Cambria" pitchFamily="34" charset="-122"/>
                <a:cs typeface="Cambria" pitchFamily="34" charset="-120"/>
              </a:rPr>
              <a:t>RETAIL</a:t>
            </a:r>
            <a:endParaRPr lang="en-US" sz="2600" dirty="0"/>
          </a:p>
        </p:txBody>
      </p:sp>
      <p:sp>
        <p:nvSpPr>
          <p:cNvPr id="6" name="Text 4"/>
          <p:cNvSpPr/>
          <p:nvPr/>
        </p:nvSpPr>
        <p:spPr>
          <a:xfrm>
            <a:off x="822960" y="2331720"/>
            <a:ext cx="4846320" cy="365760"/>
          </a:xfrm>
          <a:prstGeom prst="rect">
            <a:avLst/>
          </a:prstGeom>
          <a:noFill/>
          <a:ln/>
        </p:spPr>
        <p:txBody>
          <a:bodyPr wrap="square" lIns="0" tIns="0" rIns="0" bIns="0" rtlCol="0" anchor="ctr"/>
          <a:lstStyle/>
          <a:p>
            <a:pPr indent="0" marL="0">
              <a:buNone/>
            </a:pPr>
            <a:r>
              <a:rPr lang="en-US" sz="1200" i="1" dirty="0">
                <a:solidFill>
                  <a:srgbClr val="556168"/>
                </a:solidFill>
                <a:latin typeface="Calibri" pitchFamily="34" charset="0"/>
                <a:ea typeface="Calibri" pitchFamily="34" charset="-122"/>
                <a:cs typeface="Calibri" pitchFamily="34" charset="-120"/>
              </a:rPr>
              <a:t>Personal health, motor, life, home, travel</a:t>
            </a:r>
            <a:endParaRPr lang="en-US" sz="1200" dirty="0"/>
          </a:p>
        </p:txBody>
      </p:sp>
      <p:sp>
        <p:nvSpPr>
          <p:cNvPr id="7" name="Text 5"/>
          <p:cNvSpPr/>
          <p:nvPr/>
        </p:nvSpPr>
        <p:spPr>
          <a:xfrm>
            <a:off x="868680" y="2788920"/>
            <a:ext cx="4754880" cy="2651760"/>
          </a:xfrm>
          <a:prstGeom prst="rect">
            <a:avLst/>
          </a:prstGeom>
          <a:noFill/>
          <a:ln/>
        </p:spPr>
        <p:txBody>
          <a:bodyPr wrap="square" lIns="0" tIns="0" rIns="0" bIns="0" rtlCol="0" anchor="ctr"/>
          <a:lstStyle/>
          <a:p>
            <a:pPr marL="342900" indent="-342900">
              <a:spcAft>
                <a:spcPts val="600"/>
              </a:spcAft>
              <a:buSzPct val="100000"/>
              <a:buChar char="•"/>
            </a:pPr>
            <a:r>
              <a:rPr lang="en-US" sz="1200" b="1" dirty="0">
                <a:solidFill>
                  <a:srgbClr val="1B2A32"/>
                </a:solidFill>
                <a:latin typeface="Calibri" pitchFamily="34" charset="0"/>
                <a:ea typeface="Calibri" pitchFamily="34" charset="-122"/>
                <a:cs typeface="Calibri" pitchFamily="34" charset="-120"/>
              </a:rPr>
              <a:t>NO arbitration clause permitted</a:t>
            </a:r>
            <a:endParaRPr lang="en-US" sz="1200" dirty="0"/>
          </a:p>
          <a:p>
            <a:pPr marL="342900" indent="-342900">
              <a:spcAft>
                <a:spcPts val="600"/>
              </a:spcAft>
              <a:buSzPct val="100000"/>
              <a:buChar char="•"/>
            </a:pPr>
            <a:r>
              <a:rPr lang="en-US" sz="1200" dirty="0">
                <a:solidFill>
                  <a:srgbClr val="1B2A32"/>
                </a:solidFill>
                <a:latin typeface="Calibri" pitchFamily="34" charset="0"/>
                <a:ea typeface="Calibri" pitchFamily="34" charset="-122"/>
                <a:cs typeface="Calibri" pitchFamily="34" charset="-120"/>
              </a:rPr>
              <a:t>Insurer grievance cell → 30 days</a:t>
            </a:r>
            <a:endParaRPr lang="en-US" sz="1200" dirty="0"/>
          </a:p>
          <a:p>
            <a:pPr marL="342900" indent="-342900">
              <a:spcAft>
                <a:spcPts val="600"/>
              </a:spcAft>
              <a:buSzPct val="100000"/>
              <a:buChar char="•"/>
            </a:pPr>
            <a:r>
              <a:rPr lang="en-US" sz="1200" dirty="0">
                <a:solidFill>
                  <a:srgbClr val="1B2A32"/>
                </a:solidFill>
                <a:latin typeface="Calibri" pitchFamily="34" charset="0"/>
                <a:ea typeface="Calibri" pitchFamily="34" charset="-122"/>
                <a:cs typeface="Calibri" pitchFamily="34" charset="-120"/>
              </a:rPr>
              <a:t>Insurance Ombudsman — free, no lawyer, 1 year, ₹50 lakh, award binds the insurer to ₹30 lakh</a:t>
            </a:r>
            <a:endParaRPr lang="en-US" sz="1200" dirty="0"/>
          </a:p>
          <a:p>
            <a:pPr marL="342900" indent="-342900">
              <a:spcAft>
                <a:spcPts val="600"/>
              </a:spcAft>
              <a:buSzPct val="100000"/>
              <a:buChar char="•"/>
            </a:pPr>
            <a:r>
              <a:rPr lang="en-US" sz="1200" dirty="0">
                <a:solidFill>
                  <a:srgbClr val="1B2A32"/>
                </a:solidFill>
                <a:latin typeface="Calibri" pitchFamily="34" charset="0"/>
                <a:ea typeface="Calibri" pitchFamily="34" charset="-122"/>
                <a:cs typeface="Calibri" pitchFamily="34" charset="-120"/>
              </a:rPr>
              <a:t>Consumer commission — an independent right that no arbitration clause can oust</a:t>
            </a:r>
            <a:endParaRPr lang="en-US" sz="1200" dirty="0"/>
          </a:p>
          <a:p>
            <a:pPr marL="342900" indent="-342900">
              <a:spcAft>
                <a:spcPts val="600"/>
              </a:spcAft>
              <a:buSzPct val="100000"/>
              <a:buChar char="•"/>
            </a:pPr>
            <a:r>
              <a:rPr lang="en-US" sz="1200" dirty="0">
                <a:solidFill>
                  <a:srgbClr val="1B2A32"/>
                </a:solidFill>
                <a:latin typeface="Calibri" pitchFamily="34" charset="0"/>
                <a:ea typeface="Calibri" pitchFamily="34" charset="-122"/>
                <a:cs typeface="Calibri" pitchFamily="34" charset="-120"/>
              </a:rPr>
              <a:t>Equator mediation, in parallel at any stage</a:t>
            </a:r>
            <a:endParaRPr lang="en-US" sz="1200" dirty="0"/>
          </a:p>
        </p:txBody>
      </p:sp>
      <p:sp>
        <p:nvSpPr>
          <p:cNvPr id="8" name="Shape 6"/>
          <p:cNvSpPr/>
          <p:nvPr/>
        </p:nvSpPr>
        <p:spPr>
          <a:xfrm>
            <a:off x="6263640" y="1645920"/>
            <a:ext cx="5349240" cy="3931920"/>
          </a:xfrm>
          <a:prstGeom prst="roundRect">
            <a:avLst>
              <a:gd name="adj" fmla="val 2093"/>
            </a:avLst>
          </a:prstGeom>
          <a:solidFill>
            <a:srgbClr val="DCEAE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9" name="Text 7"/>
          <p:cNvSpPr/>
          <p:nvPr/>
        </p:nvSpPr>
        <p:spPr>
          <a:xfrm>
            <a:off x="6537960" y="1828800"/>
            <a:ext cx="4846320" cy="548640"/>
          </a:xfrm>
          <a:prstGeom prst="rect">
            <a:avLst/>
          </a:prstGeom>
          <a:noFill/>
          <a:ln/>
        </p:spPr>
        <p:txBody>
          <a:bodyPr wrap="square" lIns="0" tIns="0" rIns="0" bIns="0" rtlCol="0" anchor="ctr"/>
          <a:lstStyle/>
          <a:p>
            <a:pPr indent="0" marL="0">
              <a:buNone/>
            </a:pPr>
            <a:r>
              <a:rPr lang="en-US" sz="2600" b="1" dirty="0">
                <a:solidFill>
                  <a:srgbClr val="123B4F"/>
                </a:solidFill>
                <a:latin typeface="Cambria" pitchFamily="34" charset="0"/>
                <a:ea typeface="Cambria" pitchFamily="34" charset="-122"/>
                <a:cs typeface="Cambria" pitchFamily="34" charset="-120"/>
              </a:rPr>
              <a:t>COMMERCIAL</a:t>
            </a:r>
            <a:endParaRPr lang="en-US" sz="2600" dirty="0"/>
          </a:p>
        </p:txBody>
      </p:sp>
      <p:sp>
        <p:nvSpPr>
          <p:cNvPr id="10" name="Text 8"/>
          <p:cNvSpPr/>
          <p:nvPr/>
        </p:nvSpPr>
        <p:spPr>
          <a:xfrm>
            <a:off x="6537960" y="2331720"/>
            <a:ext cx="4846320" cy="365760"/>
          </a:xfrm>
          <a:prstGeom prst="rect">
            <a:avLst/>
          </a:prstGeom>
          <a:noFill/>
          <a:ln/>
        </p:spPr>
        <p:txBody>
          <a:bodyPr wrap="square" lIns="0" tIns="0" rIns="0" bIns="0" rtlCol="0" anchor="ctr"/>
          <a:lstStyle/>
          <a:p>
            <a:pPr indent="0" marL="0">
              <a:buNone/>
            </a:pPr>
            <a:r>
              <a:rPr lang="en-US" sz="1200" i="1" dirty="0">
                <a:solidFill>
                  <a:srgbClr val="556168"/>
                </a:solidFill>
                <a:latin typeface="Calibri" pitchFamily="34" charset="0"/>
                <a:ea typeface="Calibri" pitchFamily="34" charset="-122"/>
                <a:cs typeface="Calibri" pitchFamily="34" charset="-120"/>
              </a:rPr>
              <a:t>Fire, marine, engineering, liability, group</a:t>
            </a:r>
            <a:endParaRPr lang="en-US" sz="1200" dirty="0"/>
          </a:p>
        </p:txBody>
      </p:sp>
      <p:sp>
        <p:nvSpPr>
          <p:cNvPr id="11" name="Text 9"/>
          <p:cNvSpPr/>
          <p:nvPr/>
        </p:nvSpPr>
        <p:spPr>
          <a:xfrm>
            <a:off x="6583680" y="2788920"/>
            <a:ext cx="4709160" cy="2651760"/>
          </a:xfrm>
          <a:prstGeom prst="rect">
            <a:avLst/>
          </a:prstGeom>
          <a:noFill/>
          <a:ln/>
        </p:spPr>
        <p:txBody>
          <a:bodyPr wrap="square" lIns="0" tIns="0" rIns="0" bIns="0" rtlCol="0" anchor="ctr"/>
          <a:lstStyle/>
          <a:p>
            <a:pPr marL="342900" indent="-342900">
              <a:spcAft>
                <a:spcPts val="600"/>
              </a:spcAft>
              <a:buSzPct val="100000"/>
              <a:buChar char="•"/>
            </a:pPr>
            <a:r>
              <a:rPr lang="en-US" sz="1200" b="1" dirty="0">
                <a:solidFill>
                  <a:srgbClr val="1B2A32"/>
                </a:solidFill>
                <a:latin typeface="Calibri" pitchFamily="34" charset="0"/>
                <a:ea typeface="Calibri" pitchFamily="34" charset="-122"/>
                <a:cs typeface="Calibri" pitchFamily="34" charset="-120"/>
              </a:rPr>
              <a:t>Arbitration available ONLY on a separate, mutually agreed arbitration agreement</a:t>
            </a:r>
            <a:endParaRPr lang="en-US" sz="1200" dirty="0"/>
          </a:p>
          <a:p>
            <a:pPr marL="342900" indent="-342900">
              <a:spcAft>
                <a:spcPts val="600"/>
              </a:spcAft>
              <a:buSzPct val="100000"/>
              <a:buChar char="•"/>
            </a:pPr>
            <a:r>
              <a:rPr lang="en-US" sz="1200" dirty="0">
                <a:solidFill>
                  <a:srgbClr val="1B2A32"/>
                </a:solidFill>
                <a:latin typeface="Calibri" pitchFamily="34" charset="0"/>
                <a:ea typeface="Calibri" pitchFamily="34" charset="-122"/>
                <a:cs typeface="Calibri" pitchFamily="34" charset="-120"/>
              </a:rPr>
              <a:t>The Ombudsman is not available to commercial insureds</a:t>
            </a:r>
            <a:endParaRPr lang="en-US" sz="1200" dirty="0"/>
          </a:p>
          <a:p>
            <a:pPr marL="342900" indent="-342900">
              <a:spcAft>
                <a:spcPts val="600"/>
              </a:spcAft>
              <a:buSzPct val="100000"/>
              <a:buChar char="•"/>
            </a:pPr>
            <a:r>
              <a:rPr lang="en-US" sz="1200" dirty="0">
                <a:solidFill>
                  <a:srgbClr val="1B2A32"/>
                </a:solidFill>
                <a:latin typeface="Calibri" pitchFamily="34" charset="0"/>
                <a:ea typeface="Calibri" pitchFamily="34" charset="-122"/>
                <a:cs typeface="Calibri" pitchFamily="34" charset="-120"/>
              </a:rPr>
              <a:t>Mediation first — quantum disputes settle</a:t>
            </a:r>
            <a:endParaRPr lang="en-US" sz="1200" dirty="0"/>
          </a:p>
          <a:p>
            <a:pPr marL="342900" indent="-342900">
              <a:spcAft>
                <a:spcPts val="600"/>
              </a:spcAft>
              <a:buSzPct val="100000"/>
              <a:buChar char="•"/>
            </a:pPr>
            <a:r>
              <a:rPr lang="en-US" sz="1200" dirty="0">
                <a:solidFill>
                  <a:srgbClr val="1B2A32"/>
                </a:solidFill>
                <a:latin typeface="Calibri" pitchFamily="34" charset="0"/>
                <a:ea typeface="Calibri" pitchFamily="34" charset="-122"/>
                <a:cs typeface="Calibri" pitchFamily="34" charset="-120"/>
              </a:rPr>
              <a:t>Civil court</a:t>
            </a:r>
            <a:endParaRPr lang="en-US" sz="1200" dirty="0"/>
          </a:p>
          <a:p>
            <a:pPr marL="342900" indent="-342900">
              <a:spcAft>
                <a:spcPts val="600"/>
              </a:spcAft>
              <a:buSzPct val="100000"/>
              <a:buChar char="•"/>
            </a:pPr>
            <a:r>
              <a:rPr lang="en-US" sz="1200" dirty="0">
                <a:solidFill>
                  <a:srgbClr val="1B2A32"/>
                </a:solidFill>
                <a:latin typeface="Calibri" pitchFamily="34" charset="0"/>
                <a:ea typeface="Calibri" pitchFamily="34" charset="-122"/>
                <a:cs typeface="Calibri" pitchFamily="34" charset="-120"/>
              </a:rPr>
              <a:t>Delhi HC (Dec 2025) upheld a separately agreed arbitration provision [verify]</a:t>
            </a:r>
            <a:endParaRPr lang="en-US" sz="1200" dirty="0"/>
          </a:p>
        </p:txBody>
      </p:sp>
      <p:sp>
        <p:nvSpPr>
          <p:cNvPr id="12" name="Text 10"/>
          <p:cNvSpPr/>
          <p:nvPr/>
        </p:nvSpPr>
        <p:spPr>
          <a:xfrm>
            <a:off x="548640" y="5760720"/>
            <a:ext cx="11064240" cy="548640"/>
          </a:xfrm>
          <a:prstGeom prst="rect">
            <a:avLst/>
          </a:prstGeom>
          <a:noFill/>
          <a:ln/>
        </p:spPr>
        <p:txBody>
          <a:bodyPr wrap="square" lIns="0" tIns="0" rIns="0" bIns="0" rtlCol="0" anchor="ctr"/>
          <a:lstStyle/>
          <a:p>
            <a:pPr indent="0" marL="0">
              <a:buNone/>
            </a:pPr>
            <a:r>
              <a:rPr lang="en-US" sz="1200" b="1" i="1" dirty="0">
                <a:solidFill>
                  <a:srgbClr val="B23A48"/>
                </a:solidFill>
                <a:latin typeface="Calibri" pitchFamily="34" charset="0"/>
                <a:ea typeface="Calibri" pitchFamily="34" charset="-122"/>
                <a:cs typeface="Calibri" pitchFamily="34" charset="-120"/>
              </a:rPr>
              <a:t>The single worst compliance failure available in this vertical is to route a retail policyholder into arbitration. We enforce the bar in the form, in the API and as a database constraint.</a:t>
            </a:r>
            <a:endParaRPr lang="en-US" sz="1200" dirty="0"/>
          </a:p>
        </p:txBody>
      </p:sp>
      <p:sp>
        <p:nvSpPr>
          <p:cNvPr id="13" name="Text 11"/>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556168"/>
                </a:solidFill>
                <a:latin typeface="Calibri" pitchFamily="34" charset="0"/>
                <a:ea typeface="Calibri" pitchFamily="34" charset="-122"/>
                <a:cs typeface="Calibri" pitchFamily="34" charset="-120"/>
              </a:rPr>
              <a:t>Equator Resolution  ·  Confidential  ·  An Infrabyx Group venture</a:t>
            </a:r>
            <a:endParaRPr lang="en-US" sz="800" dirty="0"/>
          </a:p>
        </p:txBody>
      </p:sp>
      <p:sp>
        <p:nvSpPr>
          <p:cNvPr id="14" name="Text 12"/>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800" dirty="0">
                <a:solidFill>
                  <a:srgbClr val="556168"/>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8"/>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2800" b="1" dirty="0">
                <a:solidFill>
                  <a:srgbClr val="123B4F"/>
                </a:solidFill>
                <a:latin typeface="Cambria" pitchFamily="34" charset="0"/>
                <a:ea typeface="Cambria" pitchFamily="34" charset="-122"/>
                <a:cs typeface="Cambria" pitchFamily="34" charset="-120"/>
              </a:rPr>
              <a:t>What we actually do</a:t>
            </a:r>
            <a:endParaRPr lang="en-US" sz="2800" dirty="0"/>
          </a:p>
        </p:txBody>
      </p:sp>
      <p:sp>
        <p:nvSpPr>
          <p:cNvPr id="3" name="Text 1"/>
          <p:cNvSpPr/>
          <p:nvPr/>
        </p:nvSpPr>
        <p:spPr>
          <a:xfrm>
            <a:off x="566928" y="1024128"/>
            <a:ext cx="10972800" cy="365760"/>
          </a:xfrm>
          <a:prstGeom prst="rect">
            <a:avLst/>
          </a:prstGeom>
          <a:noFill/>
          <a:ln/>
        </p:spPr>
        <p:txBody>
          <a:bodyPr wrap="square" lIns="0" tIns="0" rIns="0" bIns="0" rtlCol="0" anchor="ctr"/>
          <a:lstStyle/>
          <a:p>
            <a:pPr indent="0" marL="0">
              <a:buNone/>
            </a:pPr>
            <a:r>
              <a:rPr lang="en-US" sz="1300" i="1" dirty="0">
                <a:solidFill>
                  <a:srgbClr val="1E7A8C"/>
                </a:solidFill>
                <a:latin typeface="Calibri" pitchFamily="34" charset="0"/>
                <a:ea typeface="Calibri" pitchFamily="34" charset="-122"/>
                <a:cs typeface="Calibri" pitchFamily="34" charset="-120"/>
              </a:rPr>
              <a:t>Four steps — and preparation is the leverage</a:t>
            </a:r>
            <a:endParaRPr lang="en-US" sz="1300" dirty="0"/>
          </a:p>
        </p:txBody>
      </p:sp>
      <p:sp>
        <p:nvSpPr>
          <p:cNvPr id="4" name="Shape 2"/>
          <p:cNvSpPr/>
          <p:nvPr/>
        </p:nvSpPr>
        <p:spPr>
          <a:xfrm>
            <a:off x="548640" y="1691640"/>
            <a:ext cx="2606040" cy="3108960"/>
          </a:xfrm>
          <a:prstGeom prst="roundRect">
            <a:avLst>
              <a:gd name="adj" fmla="val 3158"/>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5" name="Shape 3"/>
          <p:cNvSpPr/>
          <p:nvPr/>
        </p:nvSpPr>
        <p:spPr>
          <a:xfrm>
            <a:off x="1508760" y="1920240"/>
            <a:ext cx="685800" cy="685800"/>
          </a:xfrm>
          <a:prstGeom prst="ellipse">
            <a:avLst/>
          </a:prstGeom>
          <a:solidFill>
            <a:srgbClr val="1E7A8C"/>
          </a:solidFill>
          <a:ln/>
        </p:spPr>
      </p:sp>
      <p:sp>
        <p:nvSpPr>
          <p:cNvPr id="6" name="Text 4"/>
          <p:cNvSpPr/>
          <p:nvPr/>
        </p:nvSpPr>
        <p:spPr>
          <a:xfrm>
            <a:off x="1508760"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685800" y="2743200"/>
            <a:ext cx="2331720" cy="457200"/>
          </a:xfrm>
          <a:prstGeom prst="rect">
            <a:avLst/>
          </a:prstGeom>
          <a:noFill/>
          <a:ln/>
        </p:spPr>
        <p:txBody>
          <a:bodyPr wrap="square" lIns="0" tIns="0" rIns="0" bIns="0" rtlCol="0" anchor="ctr"/>
          <a:lstStyle/>
          <a:p>
            <a:pPr algn="ctr" indent="0" marL="0">
              <a:buNone/>
            </a:pPr>
            <a:r>
              <a:rPr lang="en-US" sz="1500" b="1" dirty="0">
                <a:solidFill>
                  <a:srgbClr val="123B4F"/>
                </a:solidFill>
                <a:latin typeface="Cambria" pitchFamily="34" charset="0"/>
                <a:ea typeface="Cambria" pitchFamily="34" charset="-122"/>
                <a:cs typeface="Cambria" pitchFamily="34" charset="-120"/>
              </a:rPr>
              <a:t>Signpost</a:t>
            </a:r>
            <a:endParaRPr lang="en-US" sz="1500" dirty="0"/>
          </a:p>
        </p:txBody>
      </p:sp>
      <p:sp>
        <p:nvSpPr>
          <p:cNvPr id="8" name="Text 6"/>
          <p:cNvSpPr/>
          <p:nvPr/>
        </p:nvSpPr>
        <p:spPr>
          <a:xfrm>
            <a:off x="731520" y="3200400"/>
            <a:ext cx="2240280" cy="1463040"/>
          </a:xfrm>
          <a:prstGeom prst="rect">
            <a:avLst/>
          </a:prstGeom>
          <a:noFill/>
          <a:ln/>
        </p:spPr>
        <p:txBody>
          <a:bodyPr wrap="square" lIns="0" tIns="0" rIns="0" bIns="0" rtlCol="0" anchor="ctr"/>
          <a:lstStyle/>
          <a:p>
            <a:pPr algn="ctr" indent="0" marL="0">
              <a:buNone/>
            </a:pPr>
            <a:r>
              <a:rPr lang="en-US" sz="1100" dirty="0">
                <a:solidFill>
                  <a:srgbClr val="1B2A32"/>
                </a:solidFill>
                <a:latin typeface="Calibri" pitchFamily="34" charset="0"/>
                <a:ea typeface="Calibri" pitchFamily="34" charset="-122"/>
                <a:cs typeface="Calibri" pitchFamily="34" charset="-120"/>
              </a:rPr>
              <a:t>Name the free Ombudsman, state the deadline, hand over the clock table. Every case, first contact.</a:t>
            </a:r>
            <a:endParaRPr lang="en-US" sz="1100" dirty="0"/>
          </a:p>
        </p:txBody>
      </p:sp>
      <p:sp>
        <p:nvSpPr>
          <p:cNvPr id="9" name="Shape 7"/>
          <p:cNvSpPr/>
          <p:nvPr/>
        </p:nvSpPr>
        <p:spPr>
          <a:xfrm>
            <a:off x="3337560" y="1691640"/>
            <a:ext cx="2606040" cy="3108960"/>
          </a:xfrm>
          <a:prstGeom prst="roundRect">
            <a:avLst>
              <a:gd name="adj" fmla="val 3158"/>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0" name="Shape 8"/>
          <p:cNvSpPr/>
          <p:nvPr/>
        </p:nvSpPr>
        <p:spPr>
          <a:xfrm>
            <a:off x="4297680" y="1920240"/>
            <a:ext cx="685800" cy="685800"/>
          </a:xfrm>
          <a:prstGeom prst="ellipse">
            <a:avLst/>
          </a:prstGeom>
          <a:solidFill>
            <a:srgbClr val="1E7A8C"/>
          </a:solidFill>
          <a:ln/>
        </p:spPr>
      </p:sp>
      <p:sp>
        <p:nvSpPr>
          <p:cNvPr id="11" name="Text 9"/>
          <p:cNvSpPr/>
          <p:nvPr/>
        </p:nvSpPr>
        <p:spPr>
          <a:xfrm>
            <a:off x="4297680"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3474720" y="2743200"/>
            <a:ext cx="2331720" cy="457200"/>
          </a:xfrm>
          <a:prstGeom prst="rect">
            <a:avLst/>
          </a:prstGeom>
          <a:noFill/>
          <a:ln/>
        </p:spPr>
        <p:txBody>
          <a:bodyPr wrap="square" lIns="0" tIns="0" rIns="0" bIns="0" rtlCol="0" anchor="ctr"/>
          <a:lstStyle/>
          <a:p>
            <a:pPr algn="ctr" indent="0" marL="0">
              <a:buNone/>
            </a:pPr>
            <a:r>
              <a:rPr lang="en-US" sz="1500" b="1" dirty="0">
                <a:solidFill>
                  <a:srgbClr val="123B4F"/>
                </a:solidFill>
                <a:latin typeface="Cambria" pitchFamily="34" charset="0"/>
                <a:ea typeface="Cambria" pitchFamily="34" charset="-122"/>
                <a:cs typeface="Cambria" pitchFamily="34" charset="-120"/>
              </a:rPr>
              <a:t>Get the file</a:t>
            </a:r>
            <a:endParaRPr lang="en-US" sz="1500" dirty="0"/>
          </a:p>
        </p:txBody>
      </p:sp>
      <p:sp>
        <p:nvSpPr>
          <p:cNvPr id="13" name="Text 11"/>
          <p:cNvSpPr/>
          <p:nvPr/>
        </p:nvSpPr>
        <p:spPr>
          <a:xfrm>
            <a:off x="3520440" y="3200400"/>
            <a:ext cx="2240280" cy="1463040"/>
          </a:xfrm>
          <a:prstGeom prst="rect">
            <a:avLst/>
          </a:prstGeom>
          <a:noFill/>
          <a:ln/>
        </p:spPr>
        <p:txBody>
          <a:bodyPr wrap="square" lIns="0" tIns="0" rIns="0" bIns="0" rtlCol="0" anchor="ctr"/>
          <a:lstStyle/>
          <a:p>
            <a:pPr algn="ctr" indent="0" marL="0">
              <a:buNone/>
            </a:pPr>
            <a:r>
              <a:rPr lang="en-US" sz="1100" dirty="0">
                <a:solidFill>
                  <a:srgbClr val="1B2A32"/>
                </a:solidFill>
                <a:latin typeface="Calibri" pitchFamily="34" charset="0"/>
                <a:ea typeface="Calibri" pitchFamily="34" charset="-122"/>
                <a:cs typeface="Calibri" pitchFamily="34" charset="-120"/>
              </a:rPr>
              <a:t>Claim file, survey or investigation report, wording as at the date of loss, TPA computation sheet.</a:t>
            </a:r>
            <a:endParaRPr lang="en-US" sz="1100" dirty="0"/>
          </a:p>
        </p:txBody>
      </p:sp>
      <p:sp>
        <p:nvSpPr>
          <p:cNvPr id="14" name="Shape 12"/>
          <p:cNvSpPr/>
          <p:nvPr/>
        </p:nvSpPr>
        <p:spPr>
          <a:xfrm>
            <a:off x="6126480" y="1691640"/>
            <a:ext cx="2606040" cy="3108960"/>
          </a:xfrm>
          <a:prstGeom prst="roundRect">
            <a:avLst>
              <a:gd name="adj" fmla="val 3158"/>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5" name="Shape 13"/>
          <p:cNvSpPr/>
          <p:nvPr/>
        </p:nvSpPr>
        <p:spPr>
          <a:xfrm>
            <a:off x="7086600" y="1920240"/>
            <a:ext cx="685800" cy="685800"/>
          </a:xfrm>
          <a:prstGeom prst="ellipse">
            <a:avLst/>
          </a:prstGeom>
          <a:solidFill>
            <a:srgbClr val="1E7A8C"/>
          </a:solidFill>
          <a:ln/>
        </p:spPr>
      </p:sp>
      <p:sp>
        <p:nvSpPr>
          <p:cNvPr id="16" name="Text 14"/>
          <p:cNvSpPr/>
          <p:nvPr/>
        </p:nvSpPr>
        <p:spPr>
          <a:xfrm>
            <a:off x="7086600"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6263640" y="2743200"/>
            <a:ext cx="2331720" cy="457200"/>
          </a:xfrm>
          <a:prstGeom prst="rect">
            <a:avLst/>
          </a:prstGeom>
          <a:noFill/>
          <a:ln/>
        </p:spPr>
        <p:txBody>
          <a:bodyPr wrap="square" lIns="0" tIns="0" rIns="0" bIns="0" rtlCol="0" anchor="ctr"/>
          <a:lstStyle/>
          <a:p>
            <a:pPr algn="ctr" indent="0" marL="0">
              <a:buNone/>
            </a:pPr>
            <a:r>
              <a:rPr lang="en-US" sz="1500" b="1" dirty="0">
                <a:solidFill>
                  <a:srgbClr val="123B4F"/>
                </a:solidFill>
                <a:latin typeface="Cambria" pitchFamily="34" charset="0"/>
                <a:ea typeface="Cambria" pitchFamily="34" charset="-122"/>
                <a:cs typeface="Cambria" pitchFamily="34" charset="-120"/>
              </a:rPr>
              <a:t>Break it down</a:t>
            </a:r>
            <a:endParaRPr lang="en-US" sz="1500" dirty="0"/>
          </a:p>
        </p:txBody>
      </p:sp>
      <p:sp>
        <p:nvSpPr>
          <p:cNvPr id="18" name="Text 16"/>
          <p:cNvSpPr/>
          <p:nvPr/>
        </p:nvSpPr>
        <p:spPr>
          <a:xfrm>
            <a:off x="6309360" y="3200400"/>
            <a:ext cx="2240280" cy="1463040"/>
          </a:xfrm>
          <a:prstGeom prst="rect">
            <a:avLst/>
          </a:prstGeom>
          <a:noFill/>
          <a:ln/>
        </p:spPr>
        <p:txBody>
          <a:bodyPr wrap="square" lIns="0" tIns="0" rIns="0" bIns="0" rtlCol="0" anchor="ctr"/>
          <a:lstStyle/>
          <a:p>
            <a:pPr algn="ctr" indent="0" marL="0">
              <a:buNone/>
            </a:pPr>
            <a:r>
              <a:rPr lang="en-US" sz="1100" dirty="0">
                <a:solidFill>
                  <a:srgbClr val="1B2A32"/>
                </a:solidFill>
                <a:latin typeface="Calibri" pitchFamily="34" charset="0"/>
                <a:ea typeface="Calibri" pitchFamily="34" charset="-122"/>
                <a:cs typeface="Calibri" pitchFamily="34" charset="-120"/>
              </a:rPr>
              <a:t>Every ground in its own row against the four tests. Every deduction line by line.</a:t>
            </a:r>
            <a:endParaRPr lang="en-US" sz="1100" dirty="0"/>
          </a:p>
        </p:txBody>
      </p:sp>
      <p:sp>
        <p:nvSpPr>
          <p:cNvPr id="19" name="Shape 17"/>
          <p:cNvSpPr/>
          <p:nvPr/>
        </p:nvSpPr>
        <p:spPr>
          <a:xfrm>
            <a:off x="8915400" y="1691640"/>
            <a:ext cx="2606040" cy="3108960"/>
          </a:xfrm>
          <a:prstGeom prst="roundRect">
            <a:avLst>
              <a:gd name="adj" fmla="val 3158"/>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20" name="Shape 18"/>
          <p:cNvSpPr/>
          <p:nvPr/>
        </p:nvSpPr>
        <p:spPr>
          <a:xfrm>
            <a:off x="9875520" y="1920240"/>
            <a:ext cx="685800" cy="685800"/>
          </a:xfrm>
          <a:prstGeom prst="ellipse">
            <a:avLst/>
          </a:prstGeom>
          <a:solidFill>
            <a:srgbClr val="1E7A8C"/>
          </a:solidFill>
          <a:ln/>
        </p:spPr>
      </p:sp>
      <p:sp>
        <p:nvSpPr>
          <p:cNvPr id="21" name="Text 19"/>
          <p:cNvSpPr/>
          <p:nvPr/>
        </p:nvSpPr>
        <p:spPr>
          <a:xfrm>
            <a:off x="9875520" y="192024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9052560" y="2743200"/>
            <a:ext cx="2331720" cy="457200"/>
          </a:xfrm>
          <a:prstGeom prst="rect">
            <a:avLst/>
          </a:prstGeom>
          <a:noFill/>
          <a:ln/>
        </p:spPr>
        <p:txBody>
          <a:bodyPr wrap="square" lIns="0" tIns="0" rIns="0" bIns="0" rtlCol="0" anchor="ctr"/>
          <a:lstStyle/>
          <a:p>
            <a:pPr algn="ctr" indent="0" marL="0">
              <a:buNone/>
            </a:pPr>
            <a:r>
              <a:rPr lang="en-US" sz="1500" b="1" dirty="0">
                <a:solidFill>
                  <a:srgbClr val="123B4F"/>
                </a:solidFill>
                <a:latin typeface="Cambria" pitchFamily="34" charset="0"/>
                <a:ea typeface="Cambria" pitchFamily="34" charset="-122"/>
                <a:cs typeface="Cambria" pitchFamily="34" charset="-120"/>
              </a:rPr>
              <a:t>Settle &amp; enforce</a:t>
            </a:r>
            <a:endParaRPr lang="en-US" sz="1500" dirty="0"/>
          </a:p>
        </p:txBody>
      </p:sp>
      <p:sp>
        <p:nvSpPr>
          <p:cNvPr id="23" name="Text 21"/>
          <p:cNvSpPr/>
          <p:nvPr/>
        </p:nvSpPr>
        <p:spPr>
          <a:xfrm>
            <a:off x="9098280" y="3200400"/>
            <a:ext cx="2240280" cy="1463040"/>
          </a:xfrm>
          <a:prstGeom prst="rect">
            <a:avLst/>
          </a:prstGeom>
          <a:noFill/>
          <a:ln/>
        </p:spPr>
        <p:txBody>
          <a:bodyPr wrap="square" lIns="0" tIns="0" rIns="0" bIns="0" rtlCol="0" anchor="ctr"/>
          <a:lstStyle/>
          <a:p>
            <a:pPr algn="ctr" indent="0" marL="0">
              <a:buNone/>
            </a:pPr>
            <a:r>
              <a:rPr lang="en-US" sz="1100" dirty="0">
                <a:solidFill>
                  <a:srgbClr val="1B2A32"/>
                </a:solidFill>
                <a:latin typeface="Calibri" pitchFamily="34" charset="0"/>
                <a:ea typeface="Calibri" pitchFamily="34" charset="-122"/>
                <a:cs typeface="Calibri" pitchFamily="34" charset="-120"/>
              </a:rPr>
              <a:t>A package — money, continuity, record correction, a date — registered and enforceable as a decree.</a:t>
            </a:r>
            <a:endParaRPr lang="en-US" sz="1100" dirty="0"/>
          </a:p>
        </p:txBody>
      </p:sp>
      <p:sp>
        <p:nvSpPr>
          <p:cNvPr id="24" name="Shape 22"/>
          <p:cNvSpPr/>
          <p:nvPr/>
        </p:nvSpPr>
        <p:spPr>
          <a:xfrm>
            <a:off x="548640" y="5029200"/>
            <a:ext cx="11064240" cy="960120"/>
          </a:xfrm>
          <a:prstGeom prst="roundRect">
            <a:avLst>
              <a:gd name="adj" fmla="val 8571"/>
            </a:avLst>
          </a:prstGeom>
          <a:solidFill>
            <a:srgbClr val="F5ECD6"/>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25" name="Text 23"/>
          <p:cNvSpPr/>
          <p:nvPr/>
        </p:nvSpPr>
        <p:spPr>
          <a:xfrm>
            <a:off x="822960" y="5166360"/>
            <a:ext cx="10515600" cy="731520"/>
          </a:xfrm>
          <a:prstGeom prst="rect">
            <a:avLst/>
          </a:prstGeom>
          <a:noFill/>
          <a:ln/>
        </p:spPr>
        <p:txBody>
          <a:bodyPr wrap="square" lIns="0" tIns="0" rIns="0" bIns="0" rtlCol="0" anchor="ctr"/>
          <a:lstStyle/>
          <a:p>
            <a:pPr indent="0" marL="0">
              <a:buNone/>
            </a:pPr>
            <a:r>
              <a:rPr lang="en-US" sz="1250" dirty="0">
                <a:solidFill>
                  <a:srgbClr val="1B2A32"/>
                </a:solidFill>
                <a:latin typeface="Calibri" pitchFamily="34" charset="0"/>
                <a:ea typeface="Calibri" pitchFamily="34" charset="-122"/>
                <a:cs typeface="Calibri" pitchFamily="34" charset="-120"/>
              </a:rPr>
              <a:t>The line-item deduction schedule is the highest-yield document in the vertical. Insurers rarely receive one. When every deduction must be justified in its own row, with the clause and the amount, weak deductions fall away without argument.</a:t>
            </a:r>
            <a:endParaRPr lang="en-US" sz="1250" dirty="0"/>
          </a:p>
        </p:txBody>
      </p:sp>
      <p:sp>
        <p:nvSpPr>
          <p:cNvPr id="26" name="Text 24"/>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556168"/>
                </a:solidFill>
                <a:latin typeface="Calibri" pitchFamily="34" charset="0"/>
                <a:ea typeface="Calibri" pitchFamily="34" charset="-122"/>
                <a:cs typeface="Calibri" pitchFamily="34" charset="-120"/>
              </a:rPr>
              <a:t>Equator Resolution  ·  Confidential  ·  An Infrabyx Group venture</a:t>
            </a:r>
            <a:endParaRPr lang="en-US" sz="800" dirty="0"/>
          </a:p>
        </p:txBody>
      </p:sp>
      <p:sp>
        <p:nvSpPr>
          <p:cNvPr id="27" name="Text 25"/>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800" dirty="0">
                <a:solidFill>
                  <a:srgbClr val="556168"/>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8"/>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2800" b="1" dirty="0">
                <a:solidFill>
                  <a:srgbClr val="123B4F"/>
                </a:solidFill>
                <a:latin typeface="Cambria" pitchFamily="34" charset="0"/>
                <a:ea typeface="Cambria" pitchFamily="34" charset="-122"/>
                <a:cs typeface="Cambria" pitchFamily="34" charset="-120"/>
              </a:rPr>
              <a:t>What a settlement can do that an award cannot</a:t>
            </a:r>
            <a:endParaRPr lang="en-US" sz="2800" dirty="0"/>
          </a:p>
        </p:txBody>
      </p:sp>
      <p:sp>
        <p:nvSpPr>
          <p:cNvPr id="3" name="Shape 1"/>
          <p:cNvSpPr/>
          <p:nvPr/>
        </p:nvSpPr>
        <p:spPr>
          <a:xfrm>
            <a:off x="548640" y="1691640"/>
            <a:ext cx="5394960" cy="1965960"/>
          </a:xfrm>
          <a:prstGeom prst="roundRect">
            <a:avLst>
              <a:gd name="adj" fmla="val 4186"/>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4" name="Shape 2"/>
          <p:cNvSpPr/>
          <p:nvPr/>
        </p:nvSpPr>
        <p:spPr>
          <a:xfrm>
            <a:off x="804672" y="1984248"/>
            <a:ext cx="640080" cy="640080"/>
          </a:xfrm>
          <a:prstGeom prst="ellipse">
            <a:avLst/>
          </a:prstGeom>
          <a:solidFill>
            <a:srgbClr val="1E7A8C"/>
          </a:solidFill>
          <a:ln/>
        </p:spPr>
      </p:sp>
      <p:sp>
        <p:nvSpPr>
          <p:cNvPr id="5" name="Text 3"/>
          <p:cNvSpPr/>
          <p:nvPr/>
        </p:nvSpPr>
        <p:spPr>
          <a:xfrm>
            <a:off x="804672" y="1984248"/>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6" name="Text 4"/>
          <p:cNvSpPr/>
          <p:nvPr/>
        </p:nvSpPr>
        <p:spPr>
          <a:xfrm>
            <a:off x="1600200" y="1911096"/>
            <a:ext cx="4206240" cy="457200"/>
          </a:xfrm>
          <a:prstGeom prst="rect">
            <a:avLst/>
          </a:prstGeom>
          <a:noFill/>
          <a:ln/>
        </p:spPr>
        <p:txBody>
          <a:bodyPr wrap="square" lIns="0" tIns="0" rIns="0" bIns="0" rtlCol="0" anchor="ctr"/>
          <a:lstStyle/>
          <a:p>
            <a:pPr indent="0" marL="0">
              <a:buNone/>
            </a:pPr>
            <a:r>
              <a:rPr lang="en-US" sz="1450" b="1" dirty="0">
                <a:solidFill>
                  <a:srgbClr val="123B4F"/>
                </a:solidFill>
                <a:latin typeface="Cambria" pitchFamily="34" charset="0"/>
                <a:ea typeface="Cambria" pitchFamily="34" charset="-122"/>
                <a:cs typeface="Cambria" pitchFamily="34" charset="-120"/>
              </a:rPr>
              <a:t>Reinstate the policy with continuity</a:t>
            </a:r>
            <a:endParaRPr lang="en-US" sz="1450" dirty="0"/>
          </a:p>
        </p:txBody>
      </p:sp>
      <p:sp>
        <p:nvSpPr>
          <p:cNvPr id="7" name="Text 5"/>
          <p:cNvSpPr/>
          <p:nvPr/>
        </p:nvSpPr>
        <p:spPr>
          <a:xfrm>
            <a:off x="1600200" y="2404872"/>
            <a:ext cx="4206240" cy="1097280"/>
          </a:xfrm>
          <a:prstGeom prst="rect">
            <a:avLst/>
          </a:prstGeom>
          <a:noFill/>
          <a:ln/>
        </p:spPr>
        <p:txBody>
          <a:bodyPr wrap="square" lIns="0" tIns="0" rIns="0" bIns="0" rtlCol="0" anchor="ctr"/>
          <a:lstStyle/>
          <a:p>
            <a:pPr indent="0" marL="0">
              <a:buNone/>
            </a:pPr>
            <a:r>
              <a:rPr lang="en-US" sz="1150" dirty="0">
                <a:solidFill>
                  <a:srgbClr val="1B2A32"/>
                </a:solidFill>
                <a:latin typeface="Calibri" pitchFamily="34" charset="0"/>
                <a:ea typeface="Calibri" pitchFamily="34" charset="-122"/>
                <a:cs typeface="Calibri" pitchFamily="34" charset="-120"/>
              </a:rPr>
              <a:t>Waiting periods and cumulative bonus preserved — frequently worth more to the policyholder than the cash.</a:t>
            </a:r>
            <a:endParaRPr lang="en-US" sz="1150" dirty="0"/>
          </a:p>
        </p:txBody>
      </p:sp>
      <p:sp>
        <p:nvSpPr>
          <p:cNvPr id="8" name="Shape 6"/>
          <p:cNvSpPr/>
          <p:nvPr/>
        </p:nvSpPr>
        <p:spPr>
          <a:xfrm>
            <a:off x="6172200" y="1691640"/>
            <a:ext cx="5394960" cy="1965960"/>
          </a:xfrm>
          <a:prstGeom prst="roundRect">
            <a:avLst>
              <a:gd name="adj" fmla="val 4186"/>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9" name="Shape 7"/>
          <p:cNvSpPr/>
          <p:nvPr/>
        </p:nvSpPr>
        <p:spPr>
          <a:xfrm>
            <a:off x="6428232" y="1984248"/>
            <a:ext cx="640080" cy="640080"/>
          </a:xfrm>
          <a:prstGeom prst="ellipse">
            <a:avLst/>
          </a:prstGeom>
          <a:solidFill>
            <a:srgbClr val="B23A48"/>
          </a:solidFill>
          <a:ln/>
        </p:spPr>
      </p:sp>
      <p:sp>
        <p:nvSpPr>
          <p:cNvPr id="10" name="Text 8"/>
          <p:cNvSpPr/>
          <p:nvPr/>
        </p:nvSpPr>
        <p:spPr>
          <a:xfrm>
            <a:off x="6428232" y="1984248"/>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1" name="Text 9"/>
          <p:cNvSpPr/>
          <p:nvPr/>
        </p:nvSpPr>
        <p:spPr>
          <a:xfrm>
            <a:off x="7223760" y="1911096"/>
            <a:ext cx="4206240" cy="457200"/>
          </a:xfrm>
          <a:prstGeom prst="rect">
            <a:avLst/>
          </a:prstGeom>
          <a:noFill/>
          <a:ln/>
        </p:spPr>
        <p:txBody>
          <a:bodyPr wrap="square" lIns="0" tIns="0" rIns="0" bIns="0" rtlCol="0" anchor="ctr"/>
          <a:lstStyle/>
          <a:p>
            <a:pPr indent="0" marL="0">
              <a:buNone/>
            </a:pPr>
            <a:r>
              <a:rPr lang="en-US" sz="1450" b="1" dirty="0">
                <a:solidFill>
                  <a:srgbClr val="123B4F"/>
                </a:solidFill>
                <a:latin typeface="Cambria" pitchFamily="34" charset="0"/>
                <a:ea typeface="Cambria" pitchFamily="34" charset="-122"/>
                <a:cs typeface="Cambria" pitchFamily="34" charset="-120"/>
              </a:rPr>
              <a:t>Remove an adverse remark or fraud flag</a:t>
            </a:r>
            <a:endParaRPr lang="en-US" sz="1450" dirty="0"/>
          </a:p>
        </p:txBody>
      </p:sp>
      <p:sp>
        <p:nvSpPr>
          <p:cNvPr id="12" name="Text 10"/>
          <p:cNvSpPr/>
          <p:nvPr/>
        </p:nvSpPr>
        <p:spPr>
          <a:xfrm>
            <a:off x="7223760" y="2404872"/>
            <a:ext cx="4206240" cy="1097280"/>
          </a:xfrm>
          <a:prstGeom prst="rect">
            <a:avLst/>
          </a:prstGeom>
          <a:noFill/>
          <a:ln/>
        </p:spPr>
        <p:txBody>
          <a:bodyPr wrap="square" lIns="0" tIns="0" rIns="0" bIns="0" rtlCol="0" anchor="ctr"/>
          <a:lstStyle/>
          <a:p>
            <a:pPr indent="0" marL="0">
              <a:buNone/>
            </a:pPr>
            <a:r>
              <a:rPr lang="en-US" sz="1150" dirty="0">
                <a:solidFill>
                  <a:srgbClr val="1B2A32"/>
                </a:solidFill>
                <a:latin typeface="Calibri" pitchFamily="34" charset="0"/>
                <a:ea typeface="Calibri" pitchFamily="34" charset="-122"/>
                <a:cs typeface="Calibri" pitchFamily="34" charset="-120"/>
              </a:rPr>
              <a:t>Withdrawn in writing from the insurer's records and any industry database. A flag follows a person to every future insurer.</a:t>
            </a:r>
            <a:endParaRPr lang="en-US" sz="1150" dirty="0"/>
          </a:p>
        </p:txBody>
      </p:sp>
      <p:sp>
        <p:nvSpPr>
          <p:cNvPr id="13" name="Shape 11"/>
          <p:cNvSpPr/>
          <p:nvPr/>
        </p:nvSpPr>
        <p:spPr>
          <a:xfrm>
            <a:off x="548640" y="3840480"/>
            <a:ext cx="5394960" cy="1965960"/>
          </a:xfrm>
          <a:prstGeom prst="roundRect">
            <a:avLst>
              <a:gd name="adj" fmla="val 4186"/>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4" name="Shape 12"/>
          <p:cNvSpPr/>
          <p:nvPr/>
        </p:nvSpPr>
        <p:spPr>
          <a:xfrm>
            <a:off x="804672" y="4133088"/>
            <a:ext cx="640080" cy="640080"/>
          </a:xfrm>
          <a:prstGeom prst="ellipse">
            <a:avLst/>
          </a:prstGeom>
          <a:solidFill>
            <a:srgbClr val="C6A15B"/>
          </a:solidFill>
          <a:ln/>
        </p:spPr>
      </p:sp>
      <p:sp>
        <p:nvSpPr>
          <p:cNvPr id="15" name="Text 13"/>
          <p:cNvSpPr/>
          <p:nvPr/>
        </p:nvSpPr>
        <p:spPr>
          <a:xfrm>
            <a:off x="804672" y="4133088"/>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6" name="Text 14"/>
          <p:cNvSpPr/>
          <p:nvPr/>
        </p:nvSpPr>
        <p:spPr>
          <a:xfrm>
            <a:off x="1600200" y="4059936"/>
            <a:ext cx="4206240" cy="457200"/>
          </a:xfrm>
          <a:prstGeom prst="rect">
            <a:avLst/>
          </a:prstGeom>
          <a:noFill/>
          <a:ln/>
        </p:spPr>
        <p:txBody>
          <a:bodyPr wrap="square" lIns="0" tIns="0" rIns="0" bIns="0" rtlCol="0" anchor="ctr"/>
          <a:lstStyle/>
          <a:p>
            <a:pPr indent="0" marL="0">
              <a:buNone/>
            </a:pPr>
            <a:r>
              <a:rPr lang="en-US" sz="1450" b="1" dirty="0">
                <a:solidFill>
                  <a:srgbClr val="123B4F"/>
                </a:solidFill>
                <a:latin typeface="Cambria" pitchFamily="34" charset="0"/>
                <a:ea typeface="Cambria" pitchFamily="34" charset="-122"/>
                <a:cs typeface="Cambria" pitchFamily="34" charset="-120"/>
              </a:rPr>
              <a:t>Convert a mis-sold product</a:t>
            </a:r>
            <a:endParaRPr lang="en-US" sz="1450" dirty="0"/>
          </a:p>
        </p:txBody>
      </p:sp>
      <p:sp>
        <p:nvSpPr>
          <p:cNvPr id="17" name="Text 15"/>
          <p:cNvSpPr/>
          <p:nvPr/>
        </p:nvSpPr>
        <p:spPr>
          <a:xfrm>
            <a:off x="1600200" y="4553712"/>
            <a:ext cx="4206240" cy="1097280"/>
          </a:xfrm>
          <a:prstGeom prst="rect">
            <a:avLst/>
          </a:prstGeom>
          <a:noFill/>
          <a:ln/>
        </p:spPr>
        <p:txBody>
          <a:bodyPr wrap="square" lIns="0" tIns="0" rIns="0" bIns="0" rtlCol="0" anchor="ctr"/>
          <a:lstStyle/>
          <a:p>
            <a:pPr indent="0" marL="0">
              <a:buNone/>
            </a:pPr>
            <a:r>
              <a:rPr lang="en-US" sz="1150" dirty="0">
                <a:solidFill>
                  <a:srgbClr val="1B2A32"/>
                </a:solidFill>
                <a:latin typeface="Calibri" pitchFamily="34" charset="0"/>
                <a:ea typeface="Calibri" pitchFamily="34" charset="-122"/>
                <a:cs typeface="Calibri" pitchFamily="34" charset="-120"/>
              </a:rPr>
              <a:t>Paid-up, single-premium, premium waiver or substitution — remedies a refund order cannot construct.</a:t>
            </a:r>
            <a:endParaRPr lang="en-US" sz="1150" dirty="0"/>
          </a:p>
        </p:txBody>
      </p:sp>
      <p:sp>
        <p:nvSpPr>
          <p:cNvPr id="18" name="Shape 16"/>
          <p:cNvSpPr/>
          <p:nvPr/>
        </p:nvSpPr>
        <p:spPr>
          <a:xfrm>
            <a:off x="6172200" y="3840480"/>
            <a:ext cx="5394960" cy="1965960"/>
          </a:xfrm>
          <a:prstGeom prst="roundRect">
            <a:avLst>
              <a:gd name="adj" fmla="val 4186"/>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9" name="Shape 17"/>
          <p:cNvSpPr/>
          <p:nvPr/>
        </p:nvSpPr>
        <p:spPr>
          <a:xfrm>
            <a:off x="6428232" y="4133088"/>
            <a:ext cx="640080" cy="640080"/>
          </a:xfrm>
          <a:prstGeom prst="ellipse">
            <a:avLst/>
          </a:prstGeom>
          <a:solidFill>
            <a:srgbClr val="2E7D5B"/>
          </a:solidFill>
          <a:ln/>
        </p:spPr>
      </p:sp>
      <p:sp>
        <p:nvSpPr>
          <p:cNvPr id="20" name="Text 18"/>
          <p:cNvSpPr/>
          <p:nvPr/>
        </p:nvSpPr>
        <p:spPr>
          <a:xfrm>
            <a:off x="6428232" y="4133088"/>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1" name="Text 19"/>
          <p:cNvSpPr/>
          <p:nvPr/>
        </p:nvSpPr>
        <p:spPr>
          <a:xfrm>
            <a:off x="7223760" y="4059936"/>
            <a:ext cx="4206240" cy="457200"/>
          </a:xfrm>
          <a:prstGeom prst="rect">
            <a:avLst/>
          </a:prstGeom>
          <a:noFill/>
          <a:ln/>
        </p:spPr>
        <p:txBody>
          <a:bodyPr wrap="square" lIns="0" tIns="0" rIns="0" bIns="0" rtlCol="0" anchor="ctr"/>
          <a:lstStyle/>
          <a:p>
            <a:pPr indent="0" marL="0">
              <a:buNone/>
            </a:pPr>
            <a:r>
              <a:rPr lang="en-US" sz="1450" b="1" dirty="0">
                <a:solidFill>
                  <a:srgbClr val="123B4F"/>
                </a:solidFill>
                <a:latin typeface="Cambria" pitchFamily="34" charset="0"/>
                <a:ea typeface="Cambria" pitchFamily="34" charset="-122"/>
                <a:cs typeface="Cambria" pitchFamily="34" charset="-120"/>
              </a:rPr>
              <a:t>Resolve a book at once</a:t>
            </a:r>
            <a:endParaRPr lang="en-US" sz="1450" dirty="0"/>
          </a:p>
        </p:txBody>
      </p:sp>
      <p:sp>
        <p:nvSpPr>
          <p:cNvPr id="22" name="Text 20"/>
          <p:cNvSpPr/>
          <p:nvPr/>
        </p:nvSpPr>
        <p:spPr>
          <a:xfrm>
            <a:off x="7223760" y="4553712"/>
            <a:ext cx="4206240" cy="1097280"/>
          </a:xfrm>
          <a:prstGeom prst="rect">
            <a:avLst/>
          </a:prstGeom>
          <a:noFill/>
          <a:ln/>
        </p:spPr>
        <p:txBody>
          <a:bodyPr wrap="square" lIns="0" tIns="0" rIns="0" bIns="0" rtlCol="0" anchor="ctr"/>
          <a:lstStyle/>
          <a:p>
            <a:pPr indent="0" marL="0">
              <a:buNone/>
            </a:pPr>
            <a:r>
              <a:rPr lang="en-US" sz="1150" dirty="0">
                <a:solidFill>
                  <a:srgbClr val="1B2A32"/>
                </a:solidFill>
                <a:latin typeface="Calibri" pitchFamily="34" charset="0"/>
                <a:ea typeface="Calibri" pitchFamily="34" charset="-122"/>
                <a:cs typeface="Calibri" pitchFamily="34" charset="-120"/>
              </a:rPr>
              <a:t>A batched settlement day: one neutral, one venue, thirty files, a settlement grid agreed in advance.</a:t>
            </a:r>
            <a:endParaRPr lang="en-US" sz="1150" dirty="0"/>
          </a:p>
        </p:txBody>
      </p:sp>
      <p:sp>
        <p:nvSpPr>
          <p:cNvPr id="23" name="Text 21"/>
          <p:cNvSpPr/>
          <p:nvPr/>
        </p:nvSpPr>
        <p:spPr>
          <a:xfrm>
            <a:off x="548640" y="5806440"/>
            <a:ext cx="11064240" cy="457200"/>
          </a:xfrm>
          <a:prstGeom prst="rect">
            <a:avLst/>
          </a:prstGeom>
          <a:noFill/>
          <a:ln/>
        </p:spPr>
        <p:txBody>
          <a:bodyPr wrap="square" lIns="0" tIns="0" rIns="0" bIns="0" rtlCol="0" anchor="ctr"/>
          <a:lstStyle/>
          <a:p>
            <a:pPr indent="0" marL="0">
              <a:buNone/>
            </a:pPr>
            <a:r>
              <a:rPr lang="en-US" sz="1200" i="1" dirty="0">
                <a:solidFill>
                  <a:srgbClr val="123B4F"/>
                </a:solidFill>
                <a:latin typeface="Calibri" pitchFamily="34" charset="0"/>
                <a:ea typeface="Calibri" pitchFamily="34" charset="-122"/>
                <a:cs typeface="Calibri" pitchFamily="34" charset="-120"/>
              </a:rPr>
              <a:t>Speed matters too: 30–45 days against an Ombudsman process of several months and a consumer commission of years.</a:t>
            </a:r>
            <a:endParaRPr lang="en-US" sz="1200" dirty="0"/>
          </a:p>
        </p:txBody>
      </p:sp>
      <p:sp>
        <p:nvSpPr>
          <p:cNvPr id="24" name="Text 22"/>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556168"/>
                </a:solidFill>
                <a:latin typeface="Calibri" pitchFamily="34" charset="0"/>
                <a:ea typeface="Calibri" pitchFamily="34" charset="-122"/>
                <a:cs typeface="Calibri" pitchFamily="34" charset="-120"/>
              </a:rPr>
              <a:t>Equator Resolution  ·  Confidential  ·  An Infrabyx Group venture</a:t>
            </a:r>
            <a:endParaRPr lang="en-US" sz="800" dirty="0"/>
          </a:p>
        </p:txBody>
      </p:sp>
      <p:sp>
        <p:nvSpPr>
          <p:cNvPr id="25" name="Text 23"/>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800" dirty="0">
                <a:solidFill>
                  <a:srgbClr val="556168"/>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8"/>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2800" b="1" dirty="0">
                <a:solidFill>
                  <a:srgbClr val="123B4F"/>
                </a:solidFill>
                <a:latin typeface="Cambria" pitchFamily="34" charset="0"/>
                <a:ea typeface="Cambria" pitchFamily="34" charset="-122"/>
                <a:cs typeface="Cambria" pitchFamily="34" charset="-120"/>
              </a:rPr>
              <a:t>The recurring patterns — and why they settle</a:t>
            </a:r>
            <a:endParaRPr lang="en-US" sz="2800" dirty="0"/>
          </a:p>
        </p:txBody>
      </p:sp>
      <p:sp>
        <p:nvSpPr>
          <p:cNvPr id="3" name="Shape 1"/>
          <p:cNvSpPr/>
          <p:nvPr/>
        </p:nvSpPr>
        <p:spPr>
          <a:xfrm>
            <a:off x="548640" y="1645920"/>
            <a:ext cx="11064240" cy="566928"/>
          </a:xfrm>
          <a:prstGeom prst="roundRect">
            <a:avLst>
              <a:gd name="adj" fmla="val 14516"/>
            </a:avLst>
          </a:prstGeom>
          <a:solidFill>
            <a:srgbClr val="ECF2F4"/>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4" name="Text 2"/>
          <p:cNvSpPr/>
          <p:nvPr/>
        </p:nvSpPr>
        <p:spPr>
          <a:xfrm>
            <a:off x="777240" y="1645920"/>
            <a:ext cx="2651760" cy="566928"/>
          </a:xfrm>
          <a:prstGeom prst="rect">
            <a:avLst/>
          </a:prstGeom>
          <a:noFill/>
          <a:ln/>
        </p:spPr>
        <p:txBody>
          <a:bodyPr wrap="square" lIns="0" tIns="0" rIns="0" bIns="0" rtlCol="0" anchor="ctr"/>
          <a:lstStyle/>
          <a:p>
            <a:pPr indent="0" marL="0">
              <a:buNone/>
            </a:pPr>
            <a:r>
              <a:rPr lang="en-US" sz="1250" b="1" dirty="0">
                <a:solidFill>
                  <a:srgbClr val="123B4F"/>
                </a:solidFill>
                <a:latin typeface="Cambria" pitchFamily="34" charset="0"/>
                <a:ea typeface="Cambria" pitchFamily="34" charset="-122"/>
                <a:cs typeface="Cambria" pitchFamily="34" charset="-120"/>
              </a:rPr>
              <a:t>Deduction stack</a:t>
            </a:r>
            <a:endParaRPr lang="en-US" sz="1250" dirty="0"/>
          </a:p>
        </p:txBody>
      </p:sp>
      <p:sp>
        <p:nvSpPr>
          <p:cNvPr id="5" name="Text 3"/>
          <p:cNvSpPr/>
          <p:nvPr/>
        </p:nvSpPr>
        <p:spPr>
          <a:xfrm>
            <a:off x="3429000" y="1645920"/>
            <a:ext cx="1828800" cy="566928"/>
          </a:xfrm>
          <a:prstGeom prst="rect">
            <a:avLst/>
          </a:prstGeom>
          <a:noFill/>
          <a:ln/>
        </p:spPr>
        <p:txBody>
          <a:bodyPr wrap="square" lIns="0" tIns="0" rIns="0" bIns="0" rtlCol="0" anchor="ctr"/>
          <a:lstStyle/>
          <a:p>
            <a:pPr indent="0" marL="0">
              <a:buNone/>
            </a:pPr>
            <a:r>
              <a:rPr lang="en-US" sz="1100" i="1" dirty="0">
                <a:solidFill>
                  <a:srgbClr val="1E7A8C"/>
                </a:solidFill>
                <a:latin typeface="Calibri" pitchFamily="34" charset="0"/>
                <a:ea typeface="Calibri" pitchFamily="34" charset="-122"/>
                <a:cs typeface="Calibri" pitchFamily="34" charset="-120"/>
              </a:rPr>
              <a:t>Health</a:t>
            </a:r>
            <a:endParaRPr lang="en-US" sz="1100" dirty="0"/>
          </a:p>
        </p:txBody>
      </p:sp>
      <p:sp>
        <p:nvSpPr>
          <p:cNvPr id="6" name="Text 4"/>
          <p:cNvSpPr/>
          <p:nvPr/>
        </p:nvSpPr>
        <p:spPr>
          <a:xfrm>
            <a:off x="5257800" y="1645920"/>
            <a:ext cx="6172200" cy="566928"/>
          </a:xfrm>
          <a:prstGeom prst="rect">
            <a:avLst/>
          </a:prstGeom>
          <a:noFill/>
          <a:ln/>
        </p:spPr>
        <p:txBody>
          <a:bodyPr wrap="square" lIns="0" tIns="0" rIns="0" bIns="0" rtlCol="0" anchor="ctr"/>
          <a:lstStyle/>
          <a:p>
            <a:pPr indent="0" marL="0">
              <a:buNone/>
            </a:pPr>
            <a:r>
              <a:rPr lang="en-US" sz="1100" dirty="0">
                <a:solidFill>
                  <a:srgbClr val="1B2A32"/>
                </a:solidFill>
                <a:latin typeface="Calibri" pitchFamily="34" charset="0"/>
                <a:ea typeface="Calibri" pitchFamily="34" charset="-122"/>
                <a:cs typeface="Calibri" pitchFamily="34" charset="-120"/>
              </a:rPr>
              <a:t>Each deduction is separately arguable; a line-item split is a natural mediated outcome</a:t>
            </a:r>
            <a:endParaRPr lang="en-US" sz="1100" dirty="0"/>
          </a:p>
        </p:txBody>
      </p:sp>
      <p:sp>
        <p:nvSpPr>
          <p:cNvPr id="7" name="Shape 5"/>
          <p:cNvSpPr/>
          <p:nvPr/>
        </p:nvSpPr>
        <p:spPr>
          <a:xfrm>
            <a:off x="548640" y="2304288"/>
            <a:ext cx="11064240" cy="566928"/>
          </a:xfrm>
          <a:prstGeom prst="roundRect">
            <a:avLst>
              <a:gd name="adj" fmla="val 14516"/>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8" name="Text 6"/>
          <p:cNvSpPr/>
          <p:nvPr/>
        </p:nvSpPr>
        <p:spPr>
          <a:xfrm>
            <a:off x="777240" y="2304288"/>
            <a:ext cx="2651760" cy="566928"/>
          </a:xfrm>
          <a:prstGeom prst="rect">
            <a:avLst/>
          </a:prstGeom>
          <a:noFill/>
          <a:ln/>
        </p:spPr>
        <p:txBody>
          <a:bodyPr wrap="square" lIns="0" tIns="0" rIns="0" bIns="0" rtlCol="0" anchor="ctr"/>
          <a:lstStyle/>
          <a:p>
            <a:pPr indent="0" marL="0">
              <a:buNone/>
            </a:pPr>
            <a:r>
              <a:rPr lang="en-US" sz="1250" b="1" dirty="0">
                <a:solidFill>
                  <a:srgbClr val="123B4F"/>
                </a:solidFill>
                <a:latin typeface="Cambria" pitchFamily="34" charset="0"/>
                <a:ea typeface="Cambria" pitchFamily="34" charset="-122"/>
                <a:cs typeface="Cambria" pitchFamily="34" charset="-120"/>
              </a:rPr>
              <a:t>PED / waiting period</a:t>
            </a:r>
            <a:endParaRPr lang="en-US" sz="1250" dirty="0"/>
          </a:p>
        </p:txBody>
      </p:sp>
      <p:sp>
        <p:nvSpPr>
          <p:cNvPr id="9" name="Text 7"/>
          <p:cNvSpPr/>
          <p:nvPr/>
        </p:nvSpPr>
        <p:spPr>
          <a:xfrm>
            <a:off x="3429000" y="2304288"/>
            <a:ext cx="1828800" cy="566928"/>
          </a:xfrm>
          <a:prstGeom prst="rect">
            <a:avLst/>
          </a:prstGeom>
          <a:noFill/>
          <a:ln/>
        </p:spPr>
        <p:txBody>
          <a:bodyPr wrap="square" lIns="0" tIns="0" rIns="0" bIns="0" rtlCol="0" anchor="ctr"/>
          <a:lstStyle/>
          <a:p>
            <a:pPr indent="0" marL="0">
              <a:buNone/>
            </a:pPr>
            <a:r>
              <a:rPr lang="en-US" sz="1100" i="1" dirty="0">
                <a:solidFill>
                  <a:srgbClr val="1E7A8C"/>
                </a:solidFill>
                <a:latin typeface="Calibri" pitchFamily="34" charset="0"/>
                <a:ea typeface="Calibri" pitchFamily="34" charset="-122"/>
                <a:cs typeface="Calibri" pitchFamily="34" charset="-120"/>
              </a:rPr>
              <a:t>Health</a:t>
            </a:r>
            <a:endParaRPr lang="en-US" sz="1100" dirty="0"/>
          </a:p>
        </p:txBody>
      </p:sp>
      <p:sp>
        <p:nvSpPr>
          <p:cNvPr id="10" name="Text 8"/>
          <p:cNvSpPr/>
          <p:nvPr/>
        </p:nvSpPr>
        <p:spPr>
          <a:xfrm>
            <a:off x="5257800" y="2304288"/>
            <a:ext cx="6172200" cy="566928"/>
          </a:xfrm>
          <a:prstGeom prst="rect">
            <a:avLst/>
          </a:prstGeom>
          <a:noFill/>
          <a:ln/>
        </p:spPr>
        <p:txBody>
          <a:bodyPr wrap="square" lIns="0" tIns="0" rIns="0" bIns="0" rtlCol="0" anchor="ctr"/>
          <a:lstStyle/>
          <a:p>
            <a:pPr indent="0" marL="0">
              <a:buNone/>
            </a:pPr>
            <a:r>
              <a:rPr lang="en-US" sz="1100" dirty="0">
                <a:solidFill>
                  <a:srgbClr val="1B2A32"/>
                </a:solidFill>
                <a:latin typeface="Calibri" pitchFamily="34" charset="0"/>
                <a:ea typeface="Calibri" pitchFamily="34" charset="-122"/>
                <a:cs typeface="Calibri" pitchFamily="34" charset="-120"/>
              </a:rPr>
              <a:t>Continuity and portability credit are objectively checkable — records, not law</a:t>
            </a:r>
            <a:endParaRPr lang="en-US" sz="1100" dirty="0"/>
          </a:p>
        </p:txBody>
      </p:sp>
      <p:sp>
        <p:nvSpPr>
          <p:cNvPr id="11" name="Shape 9"/>
          <p:cNvSpPr/>
          <p:nvPr/>
        </p:nvSpPr>
        <p:spPr>
          <a:xfrm>
            <a:off x="548640" y="2962656"/>
            <a:ext cx="11064240" cy="566928"/>
          </a:xfrm>
          <a:prstGeom prst="roundRect">
            <a:avLst>
              <a:gd name="adj" fmla="val 14516"/>
            </a:avLst>
          </a:prstGeom>
          <a:solidFill>
            <a:srgbClr val="ECF2F4"/>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2" name="Text 10"/>
          <p:cNvSpPr/>
          <p:nvPr/>
        </p:nvSpPr>
        <p:spPr>
          <a:xfrm>
            <a:off x="777240" y="2962656"/>
            <a:ext cx="2651760" cy="566928"/>
          </a:xfrm>
          <a:prstGeom prst="rect">
            <a:avLst/>
          </a:prstGeom>
          <a:noFill/>
          <a:ln/>
        </p:spPr>
        <p:txBody>
          <a:bodyPr wrap="square" lIns="0" tIns="0" rIns="0" bIns="0" rtlCol="0" anchor="ctr"/>
          <a:lstStyle/>
          <a:p>
            <a:pPr indent="0" marL="0">
              <a:buNone/>
            </a:pPr>
            <a:r>
              <a:rPr lang="en-US" sz="1250" b="1" dirty="0">
                <a:solidFill>
                  <a:srgbClr val="123B4F"/>
                </a:solidFill>
                <a:latin typeface="Cambria" pitchFamily="34" charset="0"/>
                <a:ea typeface="Cambria" pitchFamily="34" charset="-122"/>
                <a:cs typeface="Cambria" pitchFamily="34" charset="-120"/>
              </a:rPr>
              <a:t>Non-disclosure</a:t>
            </a:r>
            <a:endParaRPr lang="en-US" sz="1250" dirty="0"/>
          </a:p>
        </p:txBody>
      </p:sp>
      <p:sp>
        <p:nvSpPr>
          <p:cNvPr id="13" name="Text 11"/>
          <p:cNvSpPr/>
          <p:nvPr/>
        </p:nvSpPr>
        <p:spPr>
          <a:xfrm>
            <a:off x="3429000" y="2962656"/>
            <a:ext cx="1828800" cy="566928"/>
          </a:xfrm>
          <a:prstGeom prst="rect">
            <a:avLst/>
          </a:prstGeom>
          <a:noFill/>
          <a:ln/>
        </p:spPr>
        <p:txBody>
          <a:bodyPr wrap="square" lIns="0" tIns="0" rIns="0" bIns="0" rtlCol="0" anchor="ctr"/>
          <a:lstStyle/>
          <a:p>
            <a:pPr indent="0" marL="0">
              <a:buNone/>
            </a:pPr>
            <a:r>
              <a:rPr lang="en-US" sz="1100" i="1" dirty="0">
                <a:solidFill>
                  <a:srgbClr val="1E7A8C"/>
                </a:solidFill>
                <a:latin typeface="Calibri" pitchFamily="34" charset="0"/>
                <a:ea typeface="Calibri" pitchFamily="34" charset="-122"/>
                <a:cs typeface="Calibri" pitchFamily="34" charset="-120"/>
              </a:rPr>
              <a:t>Life, health</a:t>
            </a:r>
            <a:endParaRPr lang="en-US" sz="1100" dirty="0"/>
          </a:p>
        </p:txBody>
      </p:sp>
      <p:sp>
        <p:nvSpPr>
          <p:cNvPr id="14" name="Text 12"/>
          <p:cNvSpPr/>
          <p:nvPr/>
        </p:nvSpPr>
        <p:spPr>
          <a:xfrm>
            <a:off x="5257800" y="2962656"/>
            <a:ext cx="6172200" cy="566928"/>
          </a:xfrm>
          <a:prstGeom prst="rect">
            <a:avLst/>
          </a:prstGeom>
          <a:noFill/>
          <a:ln/>
        </p:spPr>
        <p:txBody>
          <a:bodyPr wrap="square" lIns="0" tIns="0" rIns="0" bIns="0" rtlCol="0" anchor="ctr"/>
          <a:lstStyle/>
          <a:p>
            <a:pPr indent="0" marL="0">
              <a:buNone/>
            </a:pPr>
            <a:r>
              <a:rPr lang="en-US" sz="1100" dirty="0">
                <a:solidFill>
                  <a:srgbClr val="1B2A32"/>
                </a:solidFill>
                <a:latin typeface="Calibri" pitchFamily="34" charset="0"/>
                <a:ea typeface="Calibri" pitchFamily="34" charset="-122"/>
                <a:cs typeface="Calibri" pitchFamily="34" charset="-120"/>
              </a:rPr>
              <a:t>Materiality and, for life, the section 45 timeline are both contestable</a:t>
            </a:r>
            <a:endParaRPr lang="en-US" sz="1100" dirty="0"/>
          </a:p>
        </p:txBody>
      </p:sp>
      <p:sp>
        <p:nvSpPr>
          <p:cNvPr id="15" name="Shape 13"/>
          <p:cNvSpPr/>
          <p:nvPr/>
        </p:nvSpPr>
        <p:spPr>
          <a:xfrm>
            <a:off x="548640" y="3621024"/>
            <a:ext cx="11064240" cy="566928"/>
          </a:xfrm>
          <a:prstGeom prst="roundRect">
            <a:avLst>
              <a:gd name="adj" fmla="val 14516"/>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6" name="Text 14"/>
          <p:cNvSpPr/>
          <p:nvPr/>
        </p:nvSpPr>
        <p:spPr>
          <a:xfrm>
            <a:off x="777240" y="3621024"/>
            <a:ext cx="2651760" cy="566928"/>
          </a:xfrm>
          <a:prstGeom prst="rect">
            <a:avLst/>
          </a:prstGeom>
          <a:noFill/>
          <a:ln/>
        </p:spPr>
        <p:txBody>
          <a:bodyPr wrap="square" lIns="0" tIns="0" rIns="0" bIns="0" rtlCol="0" anchor="ctr"/>
          <a:lstStyle/>
          <a:p>
            <a:pPr indent="0" marL="0">
              <a:buNone/>
            </a:pPr>
            <a:r>
              <a:rPr lang="en-US" sz="1250" b="1" dirty="0">
                <a:solidFill>
                  <a:srgbClr val="123B4F"/>
                </a:solidFill>
                <a:latin typeface="Cambria" pitchFamily="34" charset="0"/>
                <a:ea typeface="Cambria" pitchFamily="34" charset="-122"/>
                <a:cs typeface="Cambria" pitchFamily="34" charset="-120"/>
              </a:rPr>
              <a:t>Quantum / survey</a:t>
            </a:r>
            <a:endParaRPr lang="en-US" sz="1250" dirty="0"/>
          </a:p>
        </p:txBody>
      </p:sp>
      <p:sp>
        <p:nvSpPr>
          <p:cNvPr id="17" name="Text 15"/>
          <p:cNvSpPr/>
          <p:nvPr/>
        </p:nvSpPr>
        <p:spPr>
          <a:xfrm>
            <a:off x="3429000" y="3621024"/>
            <a:ext cx="1828800" cy="566928"/>
          </a:xfrm>
          <a:prstGeom prst="rect">
            <a:avLst/>
          </a:prstGeom>
          <a:noFill/>
          <a:ln/>
        </p:spPr>
        <p:txBody>
          <a:bodyPr wrap="square" lIns="0" tIns="0" rIns="0" bIns="0" rtlCol="0" anchor="ctr"/>
          <a:lstStyle/>
          <a:p>
            <a:pPr indent="0" marL="0">
              <a:buNone/>
            </a:pPr>
            <a:r>
              <a:rPr lang="en-US" sz="1100" i="1" dirty="0">
                <a:solidFill>
                  <a:srgbClr val="1E7A8C"/>
                </a:solidFill>
                <a:latin typeface="Calibri" pitchFamily="34" charset="0"/>
                <a:ea typeface="Calibri" pitchFamily="34" charset="-122"/>
                <a:cs typeface="Calibri" pitchFamily="34" charset="-120"/>
              </a:rPr>
              <a:t>Motor, fire, marine</a:t>
            </a:r>
            <a:endParaRPr lang="en-US" sz="1100" dirty="0"/>
          </a:p>
        </p:txBody>
      </p:sp>
      <p:sp>
        <p:nvSpPr>
          <p:cNvPr id="18" name="Text 16"/>
          <p:cNvSpPr/>
          <p:nvPr/>
        </p:nvSpPr>
        <p:spPr>
          <a:xfrm>
            <a:off x="5257800" y="3621024"/>
            <a:ext cx="6172200" cy="566928"/>
          </a:xfrm>
          <a:prstGeom prst="rect">
            <a:avLst/>
          </a:prstGeom>
          <a:noFill/>
          <a:ln/>
        </p:spPr>
        <p:txBody>
          <a:bodyPr wrap="square" lIns="0" tIns="0" rIns="0" bIns="0" rtlCol="0" anchor="ctr"/>
          <a:lstStyle/>
          <a:p>
            <a:pPr indent="0" marL="0">
              <a:buNone/>
            </a:pPr>
            <a:r>
              <a:rPr lang="en-US" sz="1100" dirty="0">
                <a:solidFill>
                  <a:srgbClr val="1B2A32"/>
                </a:solidFill>
                <a:latin typeface="Calibri" pitchFamily="34" charset="0"/>
                <a:ea typeface="Calibri" pitchFamily="34" charset="-122"/>
                <a:cs typeface="Calibri" pitchFamily="34" charset="-120"/>
              </a:rPr>
              <a:t>Two professional assessments and a number in between</a:t>
            </a:r>
            <a:endParaRPr lang="en-US" sz="1100" dirty="0"/>
          </a:p>
        </p:txBody>
      </p:sp>
      <p:sp>
        <p:nvSpPr>
          <p:cNvPr id="19" name="Shape 17"/>
          <p:cNvSpPr/>
          <p:nvPr/>
        </p:nvSpPr>
        <p:spPr>
          <a:xfrm>
            <a:off x="548640" y="4279392"/>
            <a:ext cx="11064240" cy="566928"/>
          </a:xfrm>
          <a:prstGeom prst="roundRect">
            <a:avLst>
              <a:gd name="adj" fmla="val 14516"/>
            </a:avLst>
          </a:prstGeom>
          <a:solidFill>
            <a:srgbClr val="ECF2F4"/>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20" name="Text 18"/>
          <p:cNvSpPr/>
          <p:nvPr/>
        </p:nvSpPr>
        <p:spPr>
          <a:xfrm>
            <a:off x="777240" y="4279392"/>
            <a:ext cx="2651760" cy="566928"/>
          </a:xfrm>
          <a:prstGeom prst="rect">
            <a:avLst/>
          </a:prstGeom>
          <a:noFill/>
          <a:ln/>
        </p:spPr>
        <p:txBody>
          <a:bodyPr wrap="square" lIns="0" tIns="0" rIns="0" bIns="0" rtlCol="0" anchor="ctr"/>
          <a:lstStyle/>
          <a:p>
            <a:pPr indent="0" marL="0">
              <a:buNone/>
            </a:pPr>
            <a:r>
              <a:rPr lang="en-US" sz="1250" b="1" dirty="0">
                <a:solidFill>
                  <a:srgbClr val="123B4F"/>
                </a:solidFill>
                <a:latin typeface="Cambria" pitchFamily="34" charset="0"/>
                <a:ea typeface="Cambria" pitchFamily="34" charset="-122"/>
                <a:cs typeface="Cambria" pitchFamily="34" charset="-120"/>
              </a:rPr>
              <a:t>Policy-condition breach</a:t>
            </a:r>
            <a:endParaRPr lang="en-US" sz="1250" dirty="0"/>
          </a:p>
        </p:txBody>
      </p:sp>
      <p:sp>
        <p:nvSpPr>
          <p:cNvPr id="21" name="Text 19"/>
          <p:cNvSpPr/>
          <p:nvPr/>
        </p:nvSpPr>
        <p:spPr>
          <a:xfrm>
            <a:off x="3429000" y="4279392"/>
            <a:ext cx="1828800" cy="566928"/>
          </a:xfrm>
          <a:prstGeom prst="rect">
            <a:avLst/>
          </a:prstGeom>
          <a:noFill/>
          <a:ln/>
        </p:spPr>
        <p:txBody>
          <a:bodyPr wrap="square" lIns="0" tIns="0" rIns="0" bIns="0" rtlCol="0" anchor="ctr"/>
          <a:lstStyle/>
          <a:p>
            <a:pPr indent="0" marL="0">
              <a:buNone/>
            </a:pPr>
            <a:r>
              <a:rPr lang="en-US" sz="1100" i="1" dirty="0">
                <a:solidFill>
                  <a:srgbClr val="1E7A8C"/>
                </a:solidFill>
                <a:latin typeface="Calibri" pitchFamily="34" charset="0"/>
                <a:ea typeface="Calibri" pitchFamily="34" charset="-122"/>
                <a:cs typeface="Calibri" pitchFamily="34" charset="-120"/>
              </a:rPr>
              <a:t>Motor, commercial</a:t>
            </a:r>
            <a:endParaRPr lang="en-US" sz="1100" dirty="0"/>
          </a:p>
        </p:txBody>
      </p:sp>
      <p:sp>
        <p:nvSpPr>
          <p:cNvPr id="22" name="Text 20"/>
          <p:cNvSpPr/>
          <p:nvPr/>
        </p:nvSpPr>
        <p:spPr>
          <a:xfrm>
            <a:off x="5257800" y="4279392"/>
            <a:ext cx="6172200" cy="566928"/>
          </a:xfrm>
          <a:prstGeom prst="rect">
            <a:avLst/>
          </a:prstGeom>
          <a:noFill/>
          <a:ln/>
        </p:spPr>
        <p:txBody>
          <a:bodyPr wrap="square" lIns="0" tIns="0" rIns="0" bIns="0" rtlCol="0" anchor="ctr"/>
          <a:lstStyle/>
          <a:p>
            <a:pPr indent="0" marL="0">
              <a:buNone/>
            </a:pPr>
            <a:r>
              <a:rPr lang="en-US" sz="1100" dirty="0">
                <a:solidFill>
                  <a:srgbClr val="1B2A32"/>
                </a:solidFill>
                <a:latin typeface="Calibri" pitchFamily="34" charset="0"/>
                <a:ea typeface="Calibri" pitchFamily="34" charset="-122"/>
                <a:cs typeface="Calibri" pitchFamily="34" charset="-120"/>
              </a:rPr>
              <a:t>Non-standard settlement at a percentage of the assessed loss is established market practice</a:t>
            </a:r>
            <a:endParaRPr lang="en-US" sz="1100" dirty="0"/>
          </a:p>
        </p:txBody>
      </p:sp>
      <p:sp>
        <p:nvSpPr>
          <p:cNvPr id="23" name="Shape 21"/>
          <p:cNvSpPr/>
          <p:nvPr/>
        </p:nvSpPr>
        <p:spPr>
          <a:xfrm>
            <a:off x="548640" y="4937760"/>
            <a:ext cx="11064240" cy="566928"/>
          </a:xfrm>
          <a:prstGeom prst="roundRect">
            <a:avLst>
              <a:gd name="adj" fmla="val 14516"/>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24" name="Text 22"/>
          <p:cNvSpPr/>
          <p:nvPr/>
        </p:nvSpPr>
        <p:spPr>
          <a:xfrm>
            <a:off x="777240" y="4937760"/>
            <a:ext cx="2651760" cy="566928"/>
          </a:xfrm>
          <a:prstGeom prst="rect">
            <a:avLst/>
          </a:prstGeom>
          <a:noFill/>
          <a:ln/>
        </p:spPr>
        <p:txBody>
          <a:bodyPr wrap="square" lIns="0" tIns="0" rIns="0" bIns="0" rtlCol="0" anchor="ctr"/>
          <a:lstStyle/>
          <a:p>
            <a:pPr indent="0" marL="0">
              <a:buNone/>
            </a:pPr>
            <a:r>
              <a:rPr lang="en-US" sz="1250" b="1" dirty="0">
                <a:solidFill>
                  <a:srgbClr val="123B4F"/>
                </a:solidFill>
                <a:latin typeface="Cambria" pitchFamily="34" charset="0"/>
                <a:ea typeface="Cambria" pitchFamily="34" charset="-122"/>
                <a:cs typeface="Cambria" pitchFamily="34" charset="-120"/>
              </a:rPr>
              <a:t>Mis-selling</a:t>
            </a:r>
            <a:endParaRPr lang="en-US" sz="1250" dirty="0"/>
          </a:p>
        </p:txBody>
      </p:sp>
      <p:sp>
        <p:nvSpPr>
          <p:cNvPr id="25" name="Text 23"/>
          <p:cNvSpPr/>
          <p:nvPr/>
        </p:nvSpPr>
        <p:spPr>
          <a:xfrm>
            <a:off x="3429000" y="4937760"/>
            <a:ext cx="1828800" cy="566928"/>
          </a:xfrm>
          <a:prstGeom prst="rect">
            <a:avLst/>
          </a:prstGeom>
          <a:noFill/>
          <a:ln/>
        </p:spPr>
        <p:txBody>
          <a:bodyPr wrap="square" lIns="0" tIns="0" rIns="0" bIns="0" rtlCol="0" anchor="ctr"/>
          <a:lstStyle/>
          <a:p>
            <a:pPr indent="0" marL="0">
              <a:buNone/>
            </a:pPr>
            <a:r>
              <a:rPr lang="en-US" sz="1100" i="1" dirty="0">
                <a:solidFill>
                  <a:srgbClr val="1E7A8C"/>
                </a:solidFill>
                <a:latin typeface="Calibri" pitchFamily="34" charset="0"/>
                <a:ea typeface="Calibri" pitchFamily="34" charset="-122"/>
                <a:cs typeface="Calibri" pitchFamily="34" charset="-120"/>
              </a:rPr>
              <a:t>Life, bancassurance</a:t>
            </a:r>
            <a:endParaRPr lang="en-US" sz="1100" dirty="0"/>
          </a:p>
        </p:txBody>
      </p:sp>
      <p:sp>
        <p:nvSpPr>
          <p:cNvPr id="26" name="Text 24"/>
          <p:cNvSpPr/>
          <p:nvPr/>
        </p:nvSpPr>
        <p:spPr>
          <a:xfrm>
            <a:off x="5257800" y="4937760"/>
            <a:ext cx="6172200" cy="566928"/>
          </a:xfrm>
          <a:prstGeom prst="rect">
            <a:avLst/>
          </a:prstGeom>
          <a:noFill/>
          <a:ln/>
        </p:spPr>
        <p:txBody>
          <a:bodyPr wrap="square" lIns="0" tIns="0" rIns="0" bIns="0" rtlCol="0" anchor="ctr"/>
          <a:lstStyle/>
          <a:p>
            <a:pPr indent="0" marL="0">
              <a:buNone/>
            </a:pPr>
            <a:r>
              <a:rPr lang="en-US" sz="1100" dirty="0">
                <a:solidFill>
                  <a:srgbClr val="1B2A32"/>
                </a:solidFill>
                <a:latin typeface="Calibri" pitchFamily="34" charset="0"/>
                <a:ea typeface="Calibri" pitchFamily="34" charset="-122"/>
                <a:cs typeface="Calibri" pitchFamily="34" charset="-120"/>
              </a:rPr>
              <a:t>Refund, conversion and waiver are all available; reputational exposure motivates</a:t>
            </a:r>
            <a:endParaRPr lang="en-US" sz="1100" dirty="0"/>
          </a:p>
        </p:txBody>
      </p:sp>
      <p:sp>
        <p:nvSpPr>
          <p:cNvPr id="27" name="Shape 25"/>
          <p:cNvSpPr/>
          <p:nvPr/>
        </p:nvSpPr>
        <p:spPr>
          <a:xfrm>
            <a:off x="548640" y="5596128"/>
            <a:ext cx="11064240" cy="566928"/>
          </a:xfrm>
          <a:prstGeom prst="roundRect">
            <a:avLst>
              <a:gd name="adj" fmla="val 14516"/>
            </a:avLst>
          </a:prstGeom>
          <a:solidFill>
            <a:srgbClr val="ECF2F4"/>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28" name="Text 26"/>
          <p:cNvSpPr/>
          <p:nvPr/>
        </p:nvSpPr>
        <p:spPr>
          <a:xfrm>
            <a:off x="777240" y="5596128"/>
            <a:ext cx="2651760" cy="566928"/>
          </a:xfrm>
          <a:prstGeom prst="rect">
            <a:avLst/>
          </a:prstGeom>
          <a:noFill/>
          <a:ln/>
        </p:spPr>
        <p:txBody>
          <a:bodyPr wrap="square" lIns="0" tIns="0" rIns="0" bIns="0" rtlCol="0" anchor="ctr"/>
          <a:lstStyle/>
          <a:p>
            <a:pPr indent="0" marL="0">
              <a:buNone/>
            </a:pPr>
            <a:r>
              <a:rPr lang="en-US" sz="1250" b="1" dirty="0">
                <a:solidFill>
                  <a:srgbClr val="123B4F"/>
                </a:solidFill>
                <a:latin typeface="Cambria" pitchFamily="34" charset="0"/>
                <a:ea typeface="Cambria" pitchFamily="34" charset="-122"/>
                <a:cs typeface="Cambria" pitchFamily="34" charset="-120"/>
              </a:rPr>
              <a:t>Nomination / heirship</a:t>
            </a:r>
            <a:endParaRPr lang="en-US" sz="1250" dirty="0"/>
          </a:p>
        </p:txBody>
      </p:sp>
      <p:sp>
        <p:nvSpPr>
          <p:cNvPr id="29" name="Text 27"/>
          <p:cNvSpPr/>
          <p:nvPr/>
        </p:nvSpPr>
        <p:spPr>
          <a:xfrm>
            <a:off x="3429000" y="5596128"/>
            <a:ext cx="1828800" cy="566928"/>
          </a:xfrm>
          <a:prstGeom prst="rect">
            <a:avLst/>
          </a:prstGeom>
          <a:noFill/>
          <a:ln/>
        </p:spPr>
        <p:txBody>
          <a:bodyPr wrap="square" lIns="0" tIns="0" rIns="0" bIns="0" rtlCol="0" anchor="ctr"/>
          <a:lstStyle/>
          <a:p>
            <a:pPr indent="0" marL="0">
              <a:buNone/>
            </a:pPr>
            <a:r>
              <a:rPr lang="en-US" sz="1100" i="1" dirty="0">
                <a:solidFill>
                  <a:srgbClr val="1E7A8C"/>
                </a:solidFill>
                <a:latin typeface="Calibri" pitchFamily="34" charset="0"/>
                <a:ea typeface="Calibri" pitchFamily="34" charset="-122"/>
                <a:cs typeface="Calibri" pitchFamily="34" charset="-120"/>
              </a:rPr>
              <a:t>Life</a:t>
            </a:r>
            <a:endParaRPr lang="en-US" sz="1100" dirty="0"/>
          </a:p>
        </p:txBody>
      </p:sp>
      <p:sp>
        <p:nvSpPr>
          <p:cNvPr id="30" name="Text 28"/>
          <p:cNvSpPr/>
          <p:nvPr/>
        </p:nvSpPr>
        <p:spPr>
          <a:xfrm>
            <a:off x="5257800" y="5596128"/>
            <a:ext cx="6172200" cy="566928"/>
          </a:xfrm>
          <a:prstGeom prst="rect">
            <a:avLst/>
          </a:prstGeom>
          <a:noFill/>
          <a:ln/>
        </p:spPr>
        <p:txBody>
          <a:bodyPr wrap="square" lIns="0" tIns="0" rIns="0" bIns="0" rtlCol="0" anchor="ctr"/>
          <a:lstStyle/>
          <a:p>
            <a:pPr indent="0" marL="0">
              <a:buNone/>
            </a:pPr>
            <a:r>
              <a:rPr lang="en-US" sz="1100" dirty="0">
                <a:solidFill>
                  <a:srgbClr val="1B2A32"/>
                </a:solidFill>
                <a:latin typeface="Calibri" pitchFamily="34" charset="0"/>
                <a:ea typeface="Calibri" pitchFamily="34" charset="-122"/>
                <a:cs typeface="Calibri" pitchFamily="34" charset="-120"/>
              </a:rPr>
              <a:t>Not a dispute with the insurer at all — pure mediation territory the Ombudsman cannot reach</a:t>
            </a:r>
            <a:endParaRPr lang="en-US" sz="1100" dirty="0"/>
          </a:p>
        </p:txBody>
      </p:sp>
      <p:sp>
        <p:nvSpPr>
          <p:cNvPr id="31" name="Text 29"/>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556168"/>
                </a:solidFill>
                <a:latin typeface="Calibri" pitchFamily="34" charset="0"/>
                <a:ea typeface="Calibri" pitchFamily="34" charset="-122"/>
                <a:cs typeface="Calibri" pitchFamily="34" charset="-120"/>
              </a:rPr>
              <a:t>Equator Resolution  ·  Confidential  ·  An Infrabyx Group venture</a:t>
            </a:r>
            <a:endParaRPr lang="en-US" sz="800" dirty="0"/>
          </a:p>
        </p:txBody>
      </p:sp>
      <p:sp>
        <p:nvSpPr>
          <p:cNvPr id="32" name="Text 30"/>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800" dirty="0">
                <a:solidFill>
                  <a:srgbClr val="556168"/>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8"/>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2800" b="1" dirty="0">
                <a:solidFill>
                  <a:srgbClr val="123B4F"/>
                </a:solidFill>
                <a:latin typeface="Cambria" pitchFamily="34" charset="0"/>
                <a:ea typeface="Cambria" pitchFamily="34" charset="-122"/>
                <a:cs typeface="Cambria" pitchFamily="34" charset="-120"/>
              </a:rPr>
              <a:t>Who buys, and why</a:t>
            </a:r>
            <a:endParaRPr lang="en-US" sz="2800" dirty="0"/>
          </a:p>
        </p:txBody>
      </p:sp>
      <p:sp>
        <p:nvSpPr>
          <p:cNvPr id="3" name="Shape 1"/>
          <p:cNvSpPr/>
          <p:nvPr/>
        </p:nvSpPr>
        <p:spPr>
          <a:xfrm>
            <a:off x="548640" y="1554480"/>
            <a:ext cx="5486400" cy="4206240"/>
          </a:xfrm>
          <a:prstGeom prst="roundRect">
            <a:avLst>
              <a:gd name="adj" fmla="val 1957"/>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4" name="Shape 2"/>
          <p:cNvSpPr/>
          <p:nvPr/>
        </p:nvSpPr>
        <p:spPr>
          <a:xfrm>
            <a:off x="6309360" y="1554480"/>
            <a:ext cx="5303520" cy="4206240"/>
          </a:xfrm>
          <a:prstGeom prst="roundRect">
            <a:avLst>
              <a:gd name="adj" fmla="val 1957"/>
            </a:avLst>
          </a:prstGeom>
          <a:solidFill>
            <a:srgbClr val="DCEAE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5" name="Text 3"/>
          <p:cNvSpPr/>
          <p:nvPr/>
        </p:nvSpPr>
        <p:spPr>
          <a:xfrm>
            <a:off x="822960" y="1737360"/>
            <a:ext cx="4937760" cy="365760"/>
          </a:xfrm>
          <a:prstGeom prst="rect">
            <a:avLst/>
          </a:prstGeom>
          <a:noFill/>
          <a:ln/>
        </p:spPr>
        <p:txBody>
          <a:bodyPr wrap="square" lIns="0" tIns="0" rIns="0" bIns="0" rtlCol="0" anchor="ctr"/>
          <a:lstStyle/>
          <a:p>
            <a:pPr indent="0" marL="0">
              <a:buNone/>
            </a:pPr>
            <a:r>
              <a:rPr lang="en-US" sz="1700" b="1" dirty="0">
                <a:solidFill>
                  <a:srgbClr val="123B4F"/>
                </a:solidFill>
                <a:latin typeface="Cambria" pitchFamily="34" charset="0"/>
                <a:ea typeface="Cambria" pitchFamily="34" charset="-122"/>
                <a:cs typeface="Cambria" pitchFamily="34" charset="-120"/>
              </a:rPr>
              <a:t>Policyholder side</a:t>
            </a:r>
            <a:endParaRPr lang="en-US" sz="1700" dirty="0"/>
          </a:p>
        </p:txBody>
      </p:sp>
      <p:sp>
        <p:nvSpPr>
          <p:cNvPr id="6" name="Text 4"/>
          <p:cNvSpPr/>
          <p:nvPr/>
        </p:nvSpPr>
        <p:spPr>
          <a:xfrm>
            <a:off x="868680" y="2240280"/>
            <a:ext cx="4846320" cy="329184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B2A32"/>
                </a:solidFill>
                <a:latin typeface="Calibri" pitchFamily="34" charset="0"/>
                <a:ea typeface="Calibri" pitchFamily="34" charset="-122"/>
                <a:cs typeface="Calibri" pitchFamily="34" charset="-120"/>
              </a:rPr>
              <a:t>Individual policyholders and claimants</a:t>
            </a:r>
            <a:endParaRPr lang="en-US" sz="1250" dirty="0"/>
          </a:p>
          <a:p>
            <a:pPr marL="342900" indent="-342900">
              <a:spcAft>
                <a:spcPts val="800"/>
              </a:spcAft>
              <a:buSzPct val="100000"/>
              <a:buChar char="•"/>
            </a:pPr>
            <a:r>
              <a:rPr lang="en-US" sz="1250" dirty="0">
                <a:solidFill>
                  <a:srgbClr val="1B2A32"/>
                </a:solidFill>
                <a:latin typeface="Calibri" pitchFamily="34" charset="0"/>
                <a:ea typeface="Calibri" pitchFamily="34" charset="-122"/>
                <a:cs typeface="Calibri" pitchFamily="34" charset="-120"/>
              </a:rPr>
              <a:t>Nominees and legal heirs holding up a death claim</a:t>
            </a:r>
            <a:endParaRPr lang="en-US" sz="1250" dirty="0"/>
          </a:p>
          <a:p>
            <a:pPr marL="342900" indent="-342900">
              <a:spcAft>
                <a:spcPts val="800"/>
              </a:spcAft>
              <a:buSzPct val="100000"/>
              <a:buChar char="•"/>
            </a:pPr>
            <a:r>
              <a:rPr lang="en-US" sz="1250" dirty="0">
                <a:solidFill>
                  <a:srgbClr val="1B2A32"/>
                </a:solidFill>
                <a:latin typeface="Calibri" pitchFamily="34" charset="0"/>
                <a:ea typeface="Calibri" pitchFamily="34" charset="-122"/>
                <a:cs typeface="Calibri" pitchFamily="34" charset="-120"/>
              </a:rPr>
              <a:t>Patients caught in a cashless denial</a:t>
            </a:r>
            <a:endParaRPr lang="en-US" sz="1250" dirty="0"/>
          </a:p>
          <a:p>
            <a:pPr marL="342900" indent="-342900">
              <a:spcAft>
                <a:spcPts val="800"/>
              </a:spcAft>
              <a:buSzPct val="100000"/>
              <a:buChar char="•"/>
            </a:pPr>
            <a:r>
              <a:rPr lang="en-US" sz="1250" dirty="0">
                <a:solidFill>
                  <a:srgbClr val="1B2A32"/>
                </a:solidFill>
                <a:latin typeface="Calibri" pitchFamily="34" charset="0"/>
                <a:ea typeface="Calibri" pitchFamily="34" charset="-122"/>
                <a:cs typeface="Calibri" pitchFamily="34" charset="-120"/>
              </a:rPr>
              <a:t>Vehicle owners in a total-loss dispute</a:t>
            </a:r>
            <a:endParaRPr lang="en-US" sz="1250" dirty="0"/>
          </a:p>
          <a:p>
            <a:pPr marL="342900" indent="-342900">
              <a:spcAft>
                <a:spcPts val="800"/>
              </a:spcAft>
              <a:buSzPct val="100000"/>
              <a:buChar char="•"/>
            </a:pPr>
            <a:r>
              <a:rPr lang="en-US" sz="1250" dirty="0">
                <a:solidFill>
                  <a:srgbClr val="1B2A32"/>
                </a:solidFill>
                <a:latin typeface="Calibri" pitchFamily="34" charset="0"/>
                <a:ea typeface="Calibri" pitchFamily="34" charset="-122"/>
                <a:cs typeface="Calibri" pitchFamily="34" charset="-120"/>
              </a:rPr>
              <a:t>Customers mis-sold a policy at a bank branch</a:t>
            </a:r>
            <a:endParaRPr lang="en-US" sz="1250" dirty="0"/>
          </a:p>
          <a:p>
            <a:pPr marL="342900" indent="-342900">
              <a:spcAft>
                <a:spcPts val="800"/>
              </a:spcAft>
              <a:buSzPct val="100000"/>
              <a:buChar char="•"/>
            </a:pPr>
            <a:r>
              <a:rPr lang="en-US" sz="1250" dirty="0">
                <a:solidFill>
                  <a:srgbClr val="1B2A32"/>
                </a:solidFill>
                <a:latin typeface="Calibri" pitchFamily="34" charset="0"/>
                <a:ea typeface="Calibri" pitchFamily="34" charset="-122"/>
                <a:cs typeface="Calibri" pitchFamily="34" charset="-120"/>
              </a:rPr>
              <a:t>MSMEs with a fire, marine or engineering claim</a:t>
            </a:r>
            <a:endParaRPr lang="en-US" sz="1250" dirty="0"/>
          </a:p>
        </p:txBody>
      </p:sp>
      <p:sp>
        <p:nvSpPr>
          <p:cNvPr id="7" name="Text 5"/>
          <p:cNvSpPr/>
          <p:nvPr/>
        </p:nvSpPr>
        <p:spPr>
          <a:xfrm>
            <a:off x="6583680" y="1737360"/>
            <a:ext cx="4754880" cy="365760"/>
          </a:xfrm>
          <a:prstGeom prst="rect">
            <a:avLst/>
          </a:prstGeom>
          <a:noFill/>
          <a:ln/>
        </p:spPr>
        <p:txBody>
          <a:bodyPr wrap="square" lIns="0" tIns="0" rIns="0" bIns="0" rtlCol="0" anchor="ctr"/>
          <a:lstStyle/>
          <a:p>
            <a:pPr indent="0" marL="0">
              <a:buNone/>
            </a:pPr>
            <a:r>
              <a:rPr lang="en-US" sz="1600" b="1" dirty="0">
                <a:solidFill>
                  <a:srgbClr val="123B4F"/>
                </a:solidFill>
                <a:latin typeface="Cambria" pitchFamily="34" charset="0"/>
                <a:ea typeface="Cambria" pitchFamily="34" charset="-122"/>
                <a:cs typeface="Cambria" pitchFamily="34" charset="-120"/>
              </a:rPr>
              <a:t>Insurer side — the line that makes it work</a:t>
            </a:r>
            <a:endParaRPr lang="en-US" sz="1600" dirty="0"/>
          </a:p>
        </p:txBody>
      </p:sp>
      <p:sp>
        <p:nvSpPr>
          <p:cNvPr id="8" name="Text 6"/>
          <p:cNvSpPr/>
          <p:nvPr/>
        </p:nvSpPr>
        <p:spPr>
          <a:xfrm>
            <a:off x="6629400" y="2240280"/>
            <a:ext cx="4709160" cy="27432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B2A32"/>
                </a:solidFill>
                <a:latin typeface="Calibri" pitchFamily="34" charset="0"/>
                <a:ea typeface="Calibri" pitchFamily="34" charset="-122"/>
                <a:cs typeface="Calibri" pitchFamily="34" charset="-120"/>
              </a:rPr>
              <a:t>Fewer Ombudsman awards and lower legal spend</a:t>
            </a:r>
            <a:endParaRPr lang="en-US" sz="1250" dirty="0"/>
          </a:p>
          <a:p>
            <a:pPr marL="342900" indent="-342900">
              <a:spcAft>
                <a:spcPts val="800"/>
              </a:spcAft>
              <a:buSzPct val="100000"/>
              <a:buChar char="•"/>
            </a:pPr>
            <a:r>
              <a:rPr lang="en-US" sz="1250" dirty="0">
                <a:solidFill>
                  <a:srgbClr val="1B2A32"/>
                </a:solidFill>
                <a:latin typeface="Calibri" pitchFamily="34" charset="0"/>
                <a:ea typeface="Calibri" pitchFamily="34" charset="-122"/>
                <a:cs typeface="Calibri" pitchFamily="34" charset="-120"/>
              </a:rPr>
              <a:t>Better regulatory complaint metrics</a:t>
            </a:r>
            <a:endParaRPr lang="en-US" sz="1250" dirty="0"/>
          </a:p>
          <a:p>
            <a:pPr marL="342900" indent="-342900">
              <a:spcAft>
                <a:spcPts val="800"/>
              </a:spcAft>
              <a:buSzPct val="100000"/>
              <a:buChar char="•"/>
            </a:pPr>
            <a:r>
              <a:rPr lang="en-US" sz="1250" dirty="0">
                <a:solidFill>
                  <a:srgbClr val="1B2A32"/>
                </a:solidFill>
                <a:latin typeface="Calibri" pitchFamily="34" charset="0"/>
                <a:ea typeface="Calibri" pitchFamily="34" charset="-122"/>
                <a:cs typeface="Calibri" pitchFamily="34" charset="-120"/>
              </a:rPr>
              <a:t>A defensible audit trail for the regulator</a:t>
            </a:r>
            <a:endParaRPr lang="en-US" sz="1250" dirty="0"/>
          </a:p>
          <a:p>
            <a:pPr marL="342900" indent="-342900">
              <a:spcAft>
                <a:spcPts val="800"/>
              </a:spcAft>
              <a:buSzPct val="100000"/>
              <a:buChar char="•"/>
            </a:pPr>
            <a:r>
              <a:rPr lang="en-US" sz="1250" dirty="0">
                <a:solidFill>
                  <a:srgbClr val="1B2A32"/>
                </a:solidFill>
                <a:latin typeface="Calibri" pitchFamily="34" charset="0"/>
                <a:ea typeface="Calibri" pitchFamily="34" charset="-122"/>
                <a:cs typeface="Calibri" pitchFamily="34" charset="-120"/>
              </a:rPr>
              <a:t>Decree-grade settlements, registered</a:t>
            </a:r>
            <a:endParaRPr lang="en-US" sz="1250" dirty="0"/>
          </a:p>
          <a:p>
            <a:pPr marL="342900" indent="-342900">
              <a:spcAft>
                <a:spcPts val="800"/>
              </a:spcAft>
              <a:buSzPct val="100000"/>
              <a:buChar char="•"/>
            </a:pPr>
            <a:r>
              <a:rPr lang="en-US" sz="1250" dirty="0">
                <a:solidFill>
                  <a:srgbClr val="1B2A32"/>
                </a:solidFill>
                <a:latin typeface="Calibri" pitchFamily="34" charset="0"/>
                <a:ea typeface="Calibri" pitchFamily="34" charset="-122"/>
                <a:cs typeface="Calibri" pitchFamily="34" charset="-120"/>
              </a:rPr>
              <a:t>Batched settlement days for a book of small claims</a:t>
            </a:r>
            <a:endParaRPr lang="en-US" sz="1250" dirty="0"/>
          </a:p>
          <a:p>
            <a:pPr marL="342900" indent="-342900">
              <a:spcAft>
                <a:spcPts val="800"/>
              </a:spcAft>
              <a:buSzPct val="100000"/>
              <a:buChar char="•"/>
            </a:pPr>
            <a:r>
              <a:rPr lang="en-US" sz="1250" dirty="0">
                <a:solidFill>
                  <a:srgbClr val="1B2A32"/>
                </a:solidFill>
                <a:latin typeface="Calibri" pitchFamily="34" charset="0"/>
                <a:ea typeface="Calibri" pitchFamily="34" charset="-122"/>
                <a:cs typeface="Calibri" pitchFamily="34" charset="-120"/>
              </a:rPr>
              <a:t>Standing protocol with agreed turnarounds</a:t>
            </a:r>
            <a:endParaRPr lang="en-US" sz="1250" dirty="0"/>
          </a:p>
        </p:txBody>
      </p:sp>
      <p:sp>
        <p:nvSpPr>
          <p:cNvPr id="9" name="Text 7"/>
          <p:cNvSpPr/>
          <p:nvPr/>
        </p:nvSpPr>
        <p:spPr>
          <a:xfrm>
            <a:off x="6629400" y="5029200"/>
            <a:ext cx="4709160" cy="640080"/>
          </a:xfrm>
          <a:prstGeom prst="rect">
            <a:avLst/>
          </a:prstGeom>
          <a:noFill/>
          <a:ln/>
        </p:spPr>
        <p:txBody>
          <a:bodyPr wrap="square" lIns="0" tIns="0" rIns="0" bIns="0" rtlCol="0" anchor="ctr"/>
          <a:lstStyle/>
          <a:p>
            <a:pPr indent="0" marL="0">
              <a:buNone/>
            </a:pPr>
            <a:r>
              <a:rPr lang="en-US" sz="1200" b="1" i="1" dirty="0">
                <a:solidFill>
                  <a:srgbClr val="123B4F"/>
                </a:solidFill>
                <a:latin typeface="Calibri" pitchFamily="34" charset="0"/>
                <a:ea typeface="Calibri" pitchFamily="34" charset="-122"/>
                <a:cs typeface="Calibri" pitchFamily="34" charset="-120"/>
              </a:rPr>
              <a:t>“Settle the settleable ones early, at a lower total cost, with a document you can show the regulator.”</a:t>
            </a:r>
            <a:endParaRPr lang="en-US" sz="1200" dirty="0"/>
          </a:p>
        </p:txBody>
      </p:sp>
      <p:sp>
        <p:nvSpPr>
          <p:cNvPr id="10" name="Text 8"/>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556168"/>
                </a:solidFill>
                <a:latin typeface="Calibri" pitchFamily="34" charset="0"/>
                <a:ea typeface="Calibri" pitchFamily="34" charset="-122"/>
                <a:cs typeface="Calibri" pitchFamily="34" charset="-120"/>
              </a:rPr>
              <a:t>Equator Resolution  ·  Confidential  ·  An Infrabyx Group venture</a:t>
            </a:r>
            <a:endParaRPr lang="en-US" sz="800" dirty="0"/>
          </a:p>
        </p:txBody>
      </p:sp>
      <p:sp>
        <p:nvSpPr>
          <p:cNvPr id="11" name="Text 9"/>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800" dirty="0">
                <a:solidFill>
                  <a:srgbClr val="556168"/>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8"/>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2800" b="1" dirty="0">
                <a:solidFill>
                  <a:srgbClr val="123B4F"/>
                </a:solidFill>
                <a:latin typeface="Cambria" pitchFamily="34" charset="0"/>
                <a:ea typeface="Cambria" pitchFamily="34" charset="-122"/>
                <a:cs typeface="Cambria" pitchFamily="34" charset="-120"/>
              </a:rPr>
              <a:t>Three things changed in the last eighteen months</a:t>
            </a:r>
            <a:endParaRPr lang="en-US" sz="2800" dirty="0"/>
          </a:p>
        </p:txBody>
      </p:sp>
      <p:sp>
        <p:nvSpPr>
          <p:cNvPr id="3" name="Text 1"/>
          <p:cNvSpPr/>
          <p:nvPr/>
        </p:nvSpPr>
        <p:spPr>
          <a:xfrm>
            <a:off x="566928" y="1024128"/>
            <a:ext cx="10972800" cy="365760"/>
          </a:xfrm>
          <a:prstGeom prst="rect">
            <a:avLst/>
          </a:prstGeom>
          <a:noFill/>
          <a:ln/>
        </p:spPr>
        <p:txBody>
          <a:bodyPr wrap="square" lIns="0" tIns="0" rIns="0" bIns="0" rtlCol="0" anchor="ctr"/>
          <a:lstStyle/>
          <a:p>
            <a:pPr indent="0" marL="0">
              <a:buNone/>
            </a:pPr>
            <a:r>
              <a:rPr lang="en-US" sz="1300" i="1" dirty="0">
                <a:solidFill>
                  <a:srgbClr val="1E7A8C"/>
                </a:solidFill>
                <a:latin typeface="Calibri" pitchFamily="34" charset="0"/>
                <a:ea typeface="Calibri" pitchFamily="34" charset="-122"/>
                <a:cs typeface="Calibri" pitchFamily="34" charset="-120"/>
              </a:rPr>
              <a:t>All of them expand the market</a:t>
            </a:r>
            <a:endParaRPr lang="en-US" sz="1300" dirty="0"/>
          </a:p>
        </p:txBody>
      </p:sp>
      <p:sp>
        <p:nvSpPr>
          <p:cNvPr id="4" name="Shape 2"/>
          <p:cNvSpPr/>
          <p:nvPr/>
        </p:nvSpPr>
        <p:spPr>
          <a:xfrm>
            <a:off x="548640" y="1691640"/>
            <a:ext cx="11064240" cy="1325880"/>
          </a:xfrm>
          <a:prstGeom prst="roundRect">
            <a:avLst>
              <a:gd name="adj" fmla="val 6207"/>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5" name="Shape 3"/>
          <p:cNvSpPr/>
          <p:nvPr/>
        </p:nvSpPr>
        <p:spPr>
          <a:xfrm>
            <a:off x="822960" y="2020824"/>
            <a:ext cx="658368" cy="658368"/>
          </a:xfrm>
          <a:prstGeom prst="ellipse">
            <a:avLst/>
          </a:prstGeom>
          <a:solidFill>
            <a:srgbClr val="1E7A8C"/>
          </a:solidFill>
          <a:ln/>
        </p:spPr>
      </p:sp>
      <p:sp>
        <p:nvSpPr>
          <p:cNvPr id="6" name="Text 4"/>
          <p:cNvSpPr/>
          <p:nvPr/>
        </p:nvSpPr>
        <p:spPr>
          <a:xfrm>
            <a:off x="822960" y="2020824"/>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p:nvPr/>
        </p:nvSpPr>
        <p:spPr>
          <a:xfrm>
            <a:off x="1645920" y="1819656"/>
            <a:ext cx="9692640" cy="41148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Sabka Bima Sabki Raksha (Amendment of Insurance Laws) Act, 2025</a:t>
            </a:r>
            <a:endParaRPr lang="en-US" sz="1400" dirty="0"/>
          </a:p>
        </p:txBody>
      </p:sp>
      <p:sp>
        <p:nvSpPr>
          <p:cNvPr id="8" name="Text 6"/>
          <p:cNvSpPr/>
          <p:nvPr/>
        </p:nvSpPr>
        <p:spPr>
          <a:xfrm>
            <a:off x="1664208" y="2240280"/>
            <a:ext cx="9646920" cy="685800"/>
          </a:xfrm>
          <a:prstGeom prst="rect">
            <a:avLst/>
          </a:prstGeom>
          <a:noFill/>
          <a:ln/>
        </p:spPr>
        <p:txBody>
          <a:bodyPr wrap="square" lIns="0" tIns="0" rIns="0" bIns="0" rtlCol="0" anchor="ctr"/>
          <a:lstStyle/>
          <a:p>
            <a:pPr indent="0" marL="0">
              <a:buNone/>
            </a:pPr>
            <a:r>
              <a:rPr lang="en-US" sz="1150" dirty="0">
                <a:solidFill>
                  <a:srgbClr val="1B2A32"/>
                </a:solidFill>
                <a:latin typeface="Calibri" pitchFamily="34" charset="0"/>
                <a:ea typeface="Calibri" pitchFamily="34" charset="-122"/>
                <a:cs typeface="Calibri" pitchFamily="34" charset="-120"/>
              </a:rPr>
              <a:t>Passed 16–17 December 2025, assent 20 December 2025. Up to 100% FDI in Indian insurers. More insurers, more products, more distribution — and, on every precedent, more disputes. [verify — provisions in force]</a:t>
            </a:r>
            <a:endParaRPr lang="en-US" sz="1150" dirty="0"/>
          </a:p>
        </p:txBody>
      </p:sp>
      <p:sp>
        <p:nvSpPr>
          <p:cNvPr id="9" name="Shape 7"/>
          <p:cNvSpPr/>
          <p:nvPr/>
        </p:nvSpPr>
        <p:spPr>
          <a:xfrm>
            <a:off x="548640" y="3172968"/>
            <a:ext cx="11064240" cy="1325880"/>
          </a:xfrm>
          <a:prstGeom prst="roundRect">
            <a:avLst>
              <a:gd name="adj" fmla="val 6207"/>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0" name="Shape 8"/>
          <p:cNvSpPr/>
          <p:nvPr/>
        </p:nvSpPr>
        <p:spPr>
          <a:xfrm>
            <a:off x="822960" y="3502152"/>
            <a:ext cx="658368" cy="658368"/>
          </a:xfrm>
          <a:prstGeom prst="ellipse">
            <a:avLst/>
          </a:prstGeom>
          <a:solidFill>
            <a:srgbClr val="123B4F"/>
          </a:solidFill>
          <a:ln/>
        </p:spPr>
      </p:sp>
      <p:sp>
        <p:nvSpPr>
          <p:cNvPr id="11" name="Text 9"/>
          <p:cNvSpPr/>
          <p:nvPr/>
        </p:nvSpPr>
        <p:spPr>
          <a:xfrm>
            <a:off x="822960" y="3502152"/>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2" name="Text 10"/>
          <p:cNvSpPr/>
          <p:nvPr/>
        </p:nvSpPr>
        <p:spPr>
          <a:xfrm>
            <a:off x="1645920" y="3300984"/>
            <a:ext cx="9692640" cy="41148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Bima Sugam</a:t>
            </a:r>
            <a:endParaRPr lang="en-US" sz="1400" dirty="0"/>
          </a:p>
        </p:txBody>
      </p:sp>
      <p:sp>
        <p:nvSpPr>
          <p:cNvPr id="13" name="Text 11"/>
          <p:cNvSpPr/>
          <p:nvPr/>
        </p:nvSpPr>
        <p:spPr>
          <a:xfrm>
            <a:off x="1664208" y="3721608"/>
            <a:ext cx="9646920" cy="685800"/>
          </a:xfrm>
          <a:prstGeom prst="rect">
            <a:avLst/>
          </a:prstGeom>
          <a:noFill/>
          <a:ln/>
        </p:spPr>
        <p:txBody>
          <a:bodyPr wrap="square" lIns="0" tIns="0" rIns="0" bIns="0" rtlCol="0" anchor="ctr"/>
          <a:lstStyle/>
          <a:p>
            <a:pPr indent="0" marL="0">
              <a:buNone/>
            </a:pPr>
            <a:r>
              <a:rPr lang="en-US" sz="1150" dirty="0">
                <a:solidFill>
                  <a:srgbClr val="1B2A32"/>
                </a:solidFill>
                <a:latin typeface="Calibri" pitchFamily="34" charset="0"/>
                <a:ea typeface="Calibri" pitchFamily="34" charset="-122"/>
                <a:cs typeface="Calibri" pitchFamily="34" charset="-120"/>
              </a:rPr>
              <a:t>Notified March 2024; Phase 1 live December 2025. A single electronic marketplace means a single place where policy and claim data live — the integration surface for a dispute platform. [verify — current scope]</a:t>
            </a:r>
            <a:endParaRPr lang="en-US" sz="1150" dirty="0"/>
          </a:p>
        </p:txBody>
      </p:sp>
      <p:sp>
        <p:nvSpPr>
          <p:cNvPr id="14" name="Shape 12"/>
          <p:cNvSpPr/>
          <p:nvPr/>
        </p:nvSpPr>
        <p:spPr>
          <a:xfrm>
            <a:off x="548640" y="4654296"/>
            <a:ext cx="11064240" cy="1325880"/>
          </a:xfrm>
          <a:prstGeom prst="roundRect">
            <a:avLst>
              <a:gd name="adj" fmla="val 6207"/>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5" name="Shape 13"/>
          <p:cNvSpPr/>
          <p:nvPr/>
        </p:nvSpPr>
        <p:spPr>
          <a:xfrm>
            <a:off x="822960" y="4983480"/>
            <a:ext cx="658368" cy="658368"/>
          </a:xfrm>
          <a:prstGeom prst="ellipse">
            <a:avLst/>
          </a:prstGeom>
          <a:solidFill>
            <a:srgbClr val="C6A15B"/>
          </a:solidFill>
          <a:ln/>
        </p:spPr>
      </p:sp>
      <p:sp>
        <p:nvSpPr>
          <p:cNvPr id="16" name="Text 14"/>
          <p:cNvSpPr/>
          <p:nvPr/>
        </p:nvSpPr>
        <p:spPr>
          <a:xfrm>
            <a:off x="822960" y="4983480"/>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7" name="Text 15"/>
          <p:cNvSpPr/>
          <p:nvPr/>
        </p:nvSpPr>
        <p:spPr>
          <a:xfrm>
            <a:off x="1645920" y="4782312"/>
            <a:ext cx="9692640" cy="41148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Draft Internal Insurance Ombudsman Guidelines, 2025</a:t>
            </a:r>
            <a:endParaRPr lang="en-US" sz="1400" dirty="0"/>
          </a:p>
        </p:txBody>
      </p:sp>
      <p:sp>
        <p:nvSpPr>
          <p:cNvPr id="18" name="Text 16"/>
          <p:cNvSpPr/>
          <p:nvPr/>
        </p:nvSpPr>
        <p:spPr>
          <a:xfrm>
            <a:off x="1664208" y="5202936"/>
            <a:ext cx="9646920" cy="685800"/>
          </a:xfrm>
          <a:prstGeom prst="rect">
            <a:avLst/>
          </a:prstGeom>
          <a:noFill/>
          <a:ln/>
        </p:spPr>
        <p:txBody>
          <a:bodyPr wrap="square" lIns="0" tIns="0" rIns="0" bIns="0" rtlCol="0" anchor="ctr"/>
          <a:lstStyle/>
          <a:p>
            <a:pPr indent="0" marL="0">
              <a:buNone/>
            </a:pPr>
            <a:r>
              <a:rPr lang="en-US" sz="1150" dirty="0">
                <a:solidFill>
                  <a:srgbClr val="1B2A32"/>
                </a:solidFill>
                <a:latin typeface="Calibri" pitchFamily="34" charset="0"/>
                <a:ea typeface="Calibri" pitchFamily="34" charset="-122"/>
                <a:cs typeface="Calibri" pitchFamily="34" charset="-120"/>
              </a:rPr>
              <a:t>Issued 23 July 2025. Would make an internal ombudsman mandatory for insurers over three years old, with jurisdiction to ₹50 lakh. Adds a step to triage — and creates a new institutional buyer. [verify — finalisation]</a:t>
            </a:r>
            <a:endParaRPr lang="en-US" sz="1150" dirty="0"/>
          </a:p>
        </p:txBody>
      </p:sp>
      <p:sp>
        <p:nvSpPr>
          <p:cNvPr id="19" name="Text 17"/>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556168"/>
                </a:solidFill>
                <a:latin typeface="Calibri" pitchFamily="34" charset="0"/>
                <a:ea typeface="Calibri" pitchFamily="34" charset="-122"/>
                <a:cs typeface="Calibri" pitchFamily="34" charset="-120"/>
              </a:rPr>
              <a:t>Equator Resolution  ·  Confidential  ·  An Infrabyx Group venture</a:t>
            </a:r>
            <a:endParaRPr lang="en-US" sz="800" dirty="0"/>
          </a:p>
        </p:txBody>
      </p:sp>
      <p:sp>
        <p:nvSpPr>
          <p:cNvPr id="20" name="Text 18"/>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800" dirty="0">
                <a:solidFill>
                  <a:srgbClr val="556168"/>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8"/>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2800" b="1" dirty="0">
                <a:solidFill>
                  <a:srgbClr val="123B4F"/>
                </a:solidFill>
                <a:latin typeface="Cambria" pitchFamily="34" charset="0"/>
                <a:ea typeface="Cambria" pitchFamily="34" charset="-122"/>
                <a:cs typeface="Cambria" pitchFamily="34" charset="-120"/>
              </a:rPr>
              <a:t>The commitments that make this credible</a:t>
            </a:r>
            <a:endParaRPr lang="en-US" sz="2800" dirty="0"/>
          </a:p>
        </p:txBody>
      </p:sp>
      <p:sp>
        <p:nvSpPr>
          <p:cNvPr id="3" name="Text 1"/>
          <p:cNvSpPr/>
          <p:nvPr/>
        </p:nvSpPr>
        <p:spPr>
          <a:xfrm>
            <a:off x="566928" y="1024128"/>
            <a:ext cx="10972800" cy="365760"/>
          </a:xfrm>
          <a:prstGeom prst="rect">
            <a:avLst/>
          </a:prstGeom>
          <a:noFill/>
          <a:ln/>
        </p:spPr>
        <p:txBody>
          <a:bodyPr wrap="square" lIns="0" tIns="0" rIns="0" bIns="0" rtlCol="0" anchor="ctr"/>
          <a:lstStyle/>
          <a:p>
            <a:pPr indent="0" marL="0">
              <a:buNone/>
            </a:pPr>
            <a:r>
              <a:rPr lang="en-US" sz="1300" i="1" dirty="0">
                <a:solidFill>
                  <a:srgbClr val="1E7A8C"/>
                </a:solidFill>
                <a:latin typeface="Calibri" pitchFamily="34" charset="0"/>
                <a:ea typeface="Calibri" pitchFamily="34" charset="-122"/>
                <a:cs typeface="Calibri" pitchFamily="34" charset="-120"/>
              </a:rPr>
              <a:t>Because one side is a repeat player and the other is not</a:t>
            </a:r>
            <a:endParaRPr lang="en-US" sz="1300" dirty="0"/>
          </a:p>
        </p:txBody>
      </p:sp>
      <p:sp>
        <p:nvSpPr>
          <p:cNvPr id="4" name="Shape 2"/>
          <p:cNvSpPr/>
          <p:nvPr/>
        </p:nvSpPr>
        <p:spPr>
          <a:xfrm>
            <a:off x="548640" y="1691640"/>
            <a:ext cx="5394960" cy="2011680"/>
          </a:xfrm>
          <a:prstGeom prst="roundRect">
            <a:avLst>
              <a:gd name="adj" fmla="val 4091"/>
            </a:avLst>
          </a:prstGeom>
          <a:solidFill>
            <a:srgbClr val="F5ECD6"/>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5" name="Text 3"/>
          <p:cNvSpPr/>
          <p:nvPr/>
        </p:nvSpPr>
        <p:spPr>
          <a:xfrm>
            <a:off x="822960" y="1874520"/>
            <a:ext cx="4846320" cy="50292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We name the free forum first, every time</a:t>
            </a:r>
            <a:endParaRPr lang="en-US" sz="1400" dirty="0"/>
          </a:p>
        </p:txBody>
      </p:sp>
      <p:sp>
        <p:nvSpPr>
          <p:cNvPr id="6" name="Text 4"/>
          <p:cNvSpPr/>
          <p:nvPr/>
        </p:nvSpPr>
        <p:spPr>
          <a:xfrm>
            <a:off x="841248" y="2404872"/>
            <a:ext cx="4800600" cy="1188720"/>
          </a:xfrm>
          <a:prstGeom prst="rect">
            <a:avLst/>
          </a:prstGeom>
          <a:noFill/>
          <a:ln/>
        </p:spPr>
        <p:txBody>
          <a:bodyPr wrap="square" lIns="0" tIns="0" rIns="0" bIns="0" rtlCol="0" anchor="ctr"/>
          <a:lstStyle/>
          <a:p>
            <a:pPr indent="0" marL="0">
              <a:buNone/>
            </a:pPr>
            <a:r>
              <a:rPr lang="en-US" sz="1150" dirty="0">
                <a:solidFill>
                  <a:srgbClr val="1B2A32"/>
                </a:solidFill>
                <a:latin typeface="Calibri" pitchFamily="34" charset="0"/>
                <a:ea typeface="Calibri" pitchFamily="34" charset="-122"/>
                <a:cs typeface="Calibri" pitchFamily="34" charset="-120"/>
              </a:rPr>
              <a:t>The Ombudsman signposting script is delivered verbatim at first contact and recorded on the file. QA samples call recordings against it.</a:t>
            </a:r>
            <a:endParaRPr lang="en-US" sz="1150" dirty="0"/>
          </a:p>
        </p:txBody>
      </p:sp>
      <p:sp>
        <p:nvSpPr>
          <p:cNvPr id="7" name="Shape 5"/>
          <p:cNvSpPr/>
          <p:nvPr/>
        </p:nvSpPr>
        <p:spPr>
          <a:xfrm>
            <a:off x="6172200" y="1691640"/>
            <a:ext cx="5394960" cy="2011680"/>
          </a:xfrm>
          <a:prstGeom prst="roundRect">
            <a:avLst>
              <a:gd name="adj" fmla="val 4091"/>
            </a:avLst>
          </a:prstGeom>
          <a:solidFill>
            <a:srgbClr val="F5ECD6"/>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8" name="Text 6"/>
          <p:cNvSpPr/>
          <p:nvPr/>
        </p:nvSpPr>
        <p:spPr>
          <a:xfrm>
            <a:off x="6446520" y="1874520"/>
            <a:ext cx="4846320" cy="50292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We never let a clock run out</a:t>
            </a:r>
            <a:endParaRPr lang="en-US" sz="1400" dirty="0"/>
          </a:p>
        </p:txBody>
      </p:sp>
      <p:sp>
        <p:nvSpPr>
          <p:cNvPr id="9" name="Text 7"/>
          <p:cNvSpPr/>
          <p:nvPr/>
        </p:nvSpPr>
        <p:spPr>
          <a:xfrm>
            <a:off x="6464808" y="2404872"/>
            <a:ext cx="4800600" cy="1188720"/>
          </a:xfrm>
          <a:prstGeom prst="rect">
            <a:avLst/>
          </a:prstGeom>
          <a:noFill/>
          <a:ln/>
        </p:spPr>
        <p:txBody>
          <a:bodyPr wrap="square" lIns="0" tIns="0" rIns="0" bIns="0" rtlCol="0" anchor="ctr"/>
          <a:lstStyle/>
          <a:p>
            <a:pPr indent="0" marL="0">
              <a:buNone/>
            </a:pPr>
            <a:r>
              <a:rPr lang="en-US" sz="1150" dirty="0">
                <a:solidFill>
                  <a:srgbClr val="1B2A32"/>
                </a:solidFill>
                <a:latin typeface="Calibri" pitchFamily="34" charset="0"/>
                <a:ea typeface="Calibri" pitchFamily="34" charset="-122"/>
                <a:cs typeface="Calibri" pitchFamily="34" charset="-120"/>
              </a:rPr>
              <a:t>Every case carries a clock table with named owners and alerts at 90, 60 and 30 days. At 60 days we prompt the party to file and record it. The system blocks closure on an unowned clock.</a:t>
            </a:r>
            <a:endParaRPr lang="en-US" sz="1150" dirty="0"/>
          </a:p>
        </p:txBody>
      </p:sp>
      <p:sp>
        <p:nvSpPr>
          <p:cNvPr id="10" name="Shape 8"/>
          <p:cNvSpPr/>
          <p:nvPr/>
        </p:nvSpPr>
        <p:spPr>
          <a:xfrm>
            <a:off x="548640" y="3886200"/>
            <a:ext cx="5394960" cy="2011680"/>
          </a:xfrm>
          <a:prstGeom prst="roundRect">
            <a:avLst>
              <a:gd name="adj" fmla="val 4091"/>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1" name="Text 9"/>
          <p:cNvSpPr/>
          <p:nvPr/>
        </p:nvSpPr>
        <p:spPr>
          <a:xfrm>
            <a:off x="822960" y="4069080"/>
            <a:ext cx="4846320" cy="50292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We do not advise on merits or price the claim</a:t>
            </a:r>
            <a:endParaRPr lang="en-US" sz="1400" dirty="0"/>
          </a:p>
        </p:txBody>
      </p:sp>
      <p:sp>
        <p:nvSpPr>
          <p:cNvPr id="12" name="Text 10"/>
          <p:cNvSpPr/>
          <p:nvPr/>
        </p:nvSpPr>
        <p:spPr>
          <a:xfrm>
            <a:off x="841248" y="4599432"/>
            <a:ext cx="4800600" cy="1188720"/>
          </a:xfrm>
          <a:prstGeom prst="rect">
            <a:avLst/>
          </a:prstGeom>
          <a:noFill/>
          <a:ln/>
        </p:spPr>
        <p:txBody>
          <a:bodyPr wrap="square" lIns="0" tIns="0" rIns="0" bIns="0" rtlCol="0" anchor="ctr"/>
          <a:lstStyle/>
          <a:p>
            <a:pPr indent="0" marL="0">
              <a:buNone/>
            </a:pPr>
            <a:r>
              <a:rPr lang="en-US" sz="1150" dirty="0">
                <a:solidFill>
                  <a:srgbClr val="1B2A32"/>
                </a:solidFill>
                <a:latin typeface="Calibri" pitchFamily="34" charset="0"/>
                <a:ea typeface="Calibri" pitchFamily="34" charset="-122"/>
                <a:cs typeface="Calibri" pitchFamily="34" charset="-120"/>
              </a:rPr>
              <a:t>Neither do our people nor our software. Guardrails IN-G-03 and IN-G-04 are tested adversarially before every release.</a:t>
            </a:r>
            <a:endParaRPr lang="en-US" sz="1150" dirty="0"/>
          </a:p>
        </p:txBody>
      </p:sp>
      <p:sp>
        <p:nvSpPr>
          <p:cNvPr id="13" name="Shape 11"/>
          <p:cNvSpPr/>
          <p:nvPr/>
        </p:nvSpPr>
        <p:spPr>
          <a:xfrm>
            <a:off x="6172200" y="3886200"/>
            <a:ext cx="5394960" cy="2011680"/>
          </a:xfrm>
          <a:prstGeom prst="roundRect">
            <a:avLst>
              <a:gd name="adj" fmla="val 4091"/>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4" name="Text 12"/>
          <p:cNvSpPr/>
          <p:nvPr/>
        </p:nvSpPr>
        <p:spPr>
          <a:xfrm>
            <a:off x="6446520" y="4069080"/>
            <a:ext cx="4846320" cy="502920"/>
          </a:xfrm>
          <a:prstGeom prst="rect">
            <a:avLst/>
          </a:prstGeom>
          <a:noFill/>
          <a:ln/>
        </p:spPr>
        <p:txBody>
          <a:bodyPr wrap="square" lIns="0" tIns="0" rIns="0" bIns="0" rtlCol="0" anchor="ctr"/>
          <a:lstStyle/>
          <a:p>
            <a:pPr indent="0" marL="0">
              <a:buNone/>
            </a:pPr>
            <a:r>
              <a:rPr lang="en-US" sz="1400" b="1" dirty="0">
                <a:solidFill>
                  <a:srgbClr val="123B4F"/>
                </a:solidFill>
                <a:latin typeface="Cambria" pitchFamily="34" charset="0"/>
                <a:ea typeface="Cambria" pitchFamily="34" charset="-122"/>
                <a:cs typeface="Cambria" pitchFamily="34" charset="-120"/>
              </a:rPr>
              <a:t>We publish our outcomes by insurer</a:t>
            </a:r>
            <a:endParaRPr lang="en-US" sz="1400" dirty="0"/>
          </a:p>
        </p:txBody>
      </p:sp>
      <p:sp>
        <p:nvSpPr>
          <p:cNvPr id="15" name="Text 13"/>
          <p:cNvSpPr/>
          <p:nvPr/>
        </p:nvSpPr>
        <p:spPr>
          <a:xfrm>
            <a:off x="6464808" y="4599432"/>
            <a:ext cx="4800600" cy="1188720"/>
          </a:xfrm>
          <a:prstGeom prst="rect">
            <a:avLst/>
          </a:prstGeom>
          <a:noFill/>
          <a:ln/>
        </p:spPr>
        <p:txBody>
          <a:bodyPr wrap="square" lIns="0" tIns="0" rIns="0" bIns="0" rtlCol="0" anchor="ctr"/>
          <a:lstStyle/>
          <a:p>
            <a:pPr indent="0" marL="0">
              <a:buNone/>
            </a:pPr>
            <a:r>
              <a:rPr lang="en-US" sz="1150" dirty="0">
                <a:solidFill>
                  <a:srgbClr val="1B2A32"/>
                </a:solidFill>
                <a:latin typeface="Calibri" pitchFamily="34" charset="0"/>
                <a:ea typeface="Calibri" pitchFamily="34" charset="-122"/>
                <a:cs typeface="Calibri" pitchFamily="34" charset="-120"/>
              </a:rPr>
              <a:t>Aggregate and anonymised, quarterly. An institution that will not show its numbers cannot ask a policyholder to trust it.</a:t>
            </a:r>
            <a:endParaRPr lang="en-US" sz="1150" dirty="0"/>
          </a:p>
        </p:txBody>
      </p:sp>
      <p:sp>
        <p:nvSpPr>
          <p:cNvPr id="16" name="Text 14"/>
          <p:cNvSpPr/>
          <p:nvPr/>
        </p:nvSpPr>
        <p:spPr>
          <a:xfrm>
            <a:off x="548640" y="5852160"/>
            <a:ext cx="11064240" cy="548640"/>
          </a:xfrm>
          <a:prstGeom prst="rect">
            <a:avLst/>
          </a:prstGeom>
          <a:noFill/>
          <a:ln/>
        </p:spPr>
        <p:txBody>
          <a:bodyPr wrap="square" lIns="0" tIns="0" rIns="0" bIns="0" rtlCol="0" anchor="ctr"/>
          <a:lstStyle/>
          <a:p>
            <a:pPr indent="0" marL="0">
              <a:buNone/>
            </a:pPr>
            <a:r>
              <a:rPr lang="en-US" sz="1200" b="1" i="1" dirty="0">
                <a:solidFill>
                  <a:srgbClr val="1E7A8C"/>
                </a:solidFill>
                <a:latin typeface="Calibri" pitchFamily="34" charset="0"/>
                <a:ea typeface="Calibri" pitchFamily="34" charset="-122"/>
                <a:cs typeface="Calibri" pitchFamily="34" charset="-120"/>
              </a:rPr>
              <a:t>Three institutional rules are enforced as database CHECK constraints, not as policy: no arbitration on a retail policy · no waiver of a non-waivable statutory right · no closure without signposting and owned clocks.</a:t>
            </a:r>
            <a:endParaRPr lang="en-US" sz="1200" dirty="0"/>
          </a:p>
        </p:txBody>
      </p:sp>
      <p:sp>
        <p:nvSpPr>
          <p:cNvPr id="17" name="Text 15"/>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556168"/>
                </a:solidFill>
                <a:latin typeface="Calibri" pitchFamily="34" charset="0"/>
                <a:ea typeface="Calibri" pitchFamily="34" charset="-122"/>
                <a:cs typeface="Calibri" pitchFamily="34" charset="-120"/>
              </a:rPr>
              <a:t>Equator Resolution  ·  Confidential  ·  An Infrabyx Group venture</a:t>
            </a:r>
            <a:endParaRPr lang="en-US" sz="800" dirty="0"/>
          </a:p>
        </p:txBody>
      </p:sp>
      <p:sp>
        <p:nvSpPr>
          <p:cNvPr id="18" name="Text 16"/>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800" dirty="0">
                <a:solidFill>
                  <a:srgbClr val="556168"/>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8"/>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2800" b="1" dirty="0">
                <a:solidFill>
                  <a:srgbClr val="123B4F"/>
                </a:solidFill>
                <a:latin typeface="Cambria" pitchFamily="34" charset="0"/>
                <a:ea typeface="Cambria" pitchFamily="34" charset="-122"/>
                <a:cs typeface="Cambria" pitchFamily="34" charset="-120"/>
              </a:rPr>
              <a:t>Business model</a:t>
            </a:r>
            <a:endParaRPr lang="en-US" sz="2800" dirty="0"/>
          </a:p>
        </p:txBody>
      </p:sp>
      <p:sp>
        <p:nvSpPr>
          <p:cNvPr id="3" name="Text 1"/>
          <p:cNvSpPr/>
          <p:nvPr/>
        </p:nvSpPr>
        <p:spPr>
          <a:xfrm>
            <a:off x="566928" y="1024128"/>
            <a:ext cx="10972800" cy="365760"/>
          </a:xfrm>
          <a:prstGeom prst="rect">
            <a:avLst/>
          </a:prstGeom>
          <a:noFill/>
          <a:ln/>
        </p:spPr>
        <p:txBody>
          <a:bodyPr wrap="square" lIns="0" tIns="0" rIns="0" bIns="0" rtlCol="0" anchor="ctr"/>
          <a:lstStyle/>
          <a:p>
            <a:pPr indent="0" marL="0">
              <a:buNone/>
            </a:pPr>
            <a:r>
              <a:rPr lang="en-US" sz="1300" i="1" dirty="0">
                <a:solidFill>
                  <a:srgbClr val="1E7A8C"/>
                </a:solidFill>
                <a:latin typeface="Calibri" pitchFamily="34" charset="0"/>
                <a:ea typeface="Calibri" pitchFamily="34" charset="-122"/>
                <a:cs typeface="Calibri" pitchFamily="34" charset="-120"/>
              </a:rPr>
              <a:t>Low fees on a very large retail base; insurer subscriptions carry the economics</a:t>
            </a:r>
            <a:endParaRPr lang="en-US" sz="1300" dirty="0"/>
          </a:p>
        </p:txBody>
      </p:sp>
      <p:sp>
        <p:nvSpPr>
          <p:cNvPr id="4" name="Shape 2"/>
          <p:cNvSpPr/>
          <p:nvPr/>
        </p:nvSpPr>
        <p:spPr>
          <a:xfrm>
            <a:off x="548640" y="1737360"/>
            <a:ext cx="2606040" cy="1828800"/>
          </a:xfrm>
          <a:prstGeom prst="roundRect">
            <a:avLst>
              <a:gd name="adj" fmla="val 4500"/>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5" name="Text 3"/>
          <p:cNvSpPr/>
          <p:nvPr/>
        </p:nvSpPr>
        <p:spPr>
          <a:xfrm>
            <a:off x="685800" y="1920240"/>
            <a:ext cx="2331720" cy="548640"/>
          </a:xfrm>
          <a:prstGeom prst="rect">
            <a:avLst/>
          </a:prstGeom>
          <a:noFill/>
          <a:ln/>
        </p:spPr>
        <p:txBody>
          <a:bodyPr wrap="square" lIns="0" tIns="0" rIns="0" bIns="0" rtlCol="0" anchor="ctr"/>
          <a:lstStyle/>
          <a:p>
            <a:pPr algn="ctr" indent="0" marL="0">
              <a:buNone/>
            </a:pPr>
            <a:r>
              <a:rPr lang="en-US" sz="1400" b="1" dirty="0">
                <a:solidFill>
                  <a:srgbClr val="1E7A8C"/>
                </a:solidFill>
                <a:latin typeface="Cambria" pitchFamily="34" charset="0"/>
                <a:ea typeface="Cambria" pitchFamily="34" charset="-122"/>
                <a:cs typeface="Cambria" pitchFamily="34" charset="-120"/>
              </a:rPr>
              <a:t>Retail filing fee</a:t>
            </a:r>
            <a:endParaRPr lang="en-US" sz="1400" dirty="0"/>
          </a:p>
        </p:txBody>
      </p:sp>
      <p:sp>
        <p:nvSpPr>
          <p:cNvPr id="6" name="Text 4"/>
          <p:cNvSpPr/>
          <p:nvPr/>
        </p:nvSpPr>
        <p:spPr>
          <a:xfrm>
            <a:off x="731520" y="2514600"/>
            <a:ext cx="2240280" cy="914400"/>
          </a:xfrm>
          <a:prstGeom prst="rect">
            <a:avLst/>
          </a:prstGeom>
          <a:noFill/>
          <a:ln/>
        </p:spPr>
        <p:txBody>
          <a:bodyPr wrap="square" lIns="0" tIns="0" rIns="0" bIns="0" rtlCol="0" anchor="ctr"/>
          <a:lstStyle/>
          <a:p>
            <a:pPr algn="ctr" indent="0" marL="0">
              <a:buNone/>
            </a:pPr>
            <a:r>
              <a:rPr lang="en-US" sz="1150" dirty="0">
                <a:solidFill>
                  <a:srgbClr val="1B2A32"/>
                </a:solidFill>
                <a:latin typeface="Calibri" pitchFamily="34" charset="0"/>
                <a:ea typeface="Calibri" pitchFamily="34" charset="-122"/>
                <a:cs typeface="Calibri" pitchFamily="34" charset="-120"/>
              </a:rPr>
              <a:t>Low, with waivers — loss-leading by design</a:t>
            </a:r>
            <a:endParaRPr lang="en-US" sz="1150" dirty="0"/>
          </a:p>
        </p:txBody>
      </p:sp>
      <p:sp>
        <p:nvSpPr>
          <p:cNvPr id="7" name="Shape 5"/>
          <p:cNvSpPr/>
          <p:nvPr/>
        </p:nvSpPr>
        <p:spPr>
          <a:xfrm>
            <a:off x="3337560" y="1737360"/>
            <a:ext cx="2606040" cy="1828800"/>
          </a:xfrm>
          <a:prstGeom prst="roundRect">
            <a:avLst>
              <a:gd name="adj" fmla="val 4500"/>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8" name="Text 6"/>
          <p:cNvSpPr/>
          <p:nvPr/>
        </p:nvSpPr>
        <p:spPr>
          <a:xfrm>
            <a:off x="3474720" y="1920240"/>
            <a:ext cx="2331720" cy="548640"/>
          </a:xfrm>
          <a:prstGeom prst="rect">
            <a:avLst/>
          </a:prstGeom>
          <a:noFill/>
          <a:ln/>
        </p:spPr>
        <p:txBody>
          <a:bodyPr wrap="square" lIns="0" tIns="0" rIns="0" bIns="0" rtlCol="0" anchor="ctr"/>
          <a:lstStyle/>
          <a:p>
            <a:pPr algn="ctr" indent="0" marL="0">
              <a:buNone/>
            </a:pPr>
            <a:r>
              <a:rPr lang="en-US" sz="1400" b="1" dirty="0">
                <a:solidFill>
                  <a:srgbClr val="1E7A8C"/>
                </a:solidFill>
                <a:latin typeface="Cambria" pitchFamily="34" charset="0"/>
                <a:ea typeface="Cambria" pitchFamily="34" charset="-122"/>
                <a:cs typeface="Cambria" pitchFamily="34" charset="-120"/>
              </a:rPr>
              <a:t>Insurer per-case fee</a:t>
            </a:r>
            <a:endParaRPr lang="en-US" sz="1400" dirty="0"/>
          </a:p>
        </p:txBody>
      </p:sp>
      <p:sp>
        <p:nvSpPr>
          <p:cNvPr id="9" name="Text 7"/>
          <p:cNvSpPr/>
          <p:nvPr/>
        </p:nvSpPr>
        <p:spPr>
          <a:xfrm>
            <a:off x="3520440" y="2514600"/>
            <a:ext cx="2240280" cy="914400"/>
          </a:xfrm>
          <a:prstGeom prst="rect">
            <a:avLst/>
          </a:prstGeom>
          <a:noFill/>
          <a:ln/>
        </p:spPr>
        <p:txBody>
          <a:bodyPr wrap="square" lIns="0" tIns="0" rIns="0" bIns="0" rtlCol="0" anchor="ctr"/>
          <a:lstStyle/>
          <a:p>
            <a:pPr algn="ctr" indent="0" marL="0">
              <a:buNone/>
            </a:pPr>
            <a:r>
              <a:rPr lang="en-US" sz="1150" dirty="0">
                <a:solidFill>
                  <a:srgbClr val="1B2A32"/>
                </a:solidFill>
                <a:latin typeface="Calibri" pitchFamily="34" charset="0"/>
                <a:ea typeface="Calibri" pitchFamily="34" charset="-122"/>
                <a:cs typeface="Calibri" pitchFamily="34" charset="-120"/>
              </a:rPr>
              <a:t>Under a standing protocol; the core recurring line</a:t>
            </a:r>
            <a:endParaRPr lang="en-US" sz="1150" dirty="0"/>
          </a:p>
        </p:txBody>
      </p:sp>
      <p:sp>
        <p:nvSpPr>
          <p:cNvPr id="10" name="Shape 8"/>
          <p:cNvSpPr/>
          <p:nvPr/>
        </p:nvSpPr>
        <p:spPr>
          <a:xfrm>
            <a:off x="6126480" y="1737360"/>
            <a:ext cx="2606040" cy="1828800"/>
          </a:xfrm>
          <a:prstGeom prst="roundRect">
            <a:avLst>
              <a:gd name="adj" fmla="val 4500"/>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1" name="Text 9"/>
          <p:cNvSpPr/>
          <p:nvPr/>
        </p:nvSpPr>
        <p:spPr>
          <a:xfrm>
            <a:off x="6263640" y="1920240"/>
            <a:ext cx="2331720" cy="548640"/>
          </a:xfrm>
          <a:prstGeom prst="rect">
            <a:avLst/>
          </a:prstGeom>
          <a:noFill/>
          <a:ln/>
        </p:spPr>
        <p:txBody>
          <a:bodyPr wrap="square" lIns="0" tIns="0" rIns="0" bIns="0" rtlCol="0" anchor="ctr"/>
          <a:lstStyle/>
          <a:p>
            <a:pPr algn="ctr" indent="0" marL="0">
              <a:buNone/>
            </a:pPr>
            <a:r>
              <a:rPr lang="en-US" sz="1400" b="1" dirty="0">
                <a:solidFill>
                  <a:srgbClr val="1E7A8C"/>
                </a:solidFill>
                <a:latin typeface="Cambria" pitchFamily="34" charset="0"/>
                <a:ea typeface="Cambria" pitchFamily="34" charset="-122"/>
                <a:cs typeface="Cambria" pitchFamily="34" charset="-120"/>
              </a:rPr>
              <a:t>Insurer subscription</a:t>
            </a:r>
            <a:endParaRPr lang="en-US" sz="1400" dirty="0"/>
          </a:p>
        </p:txBody>
      </p:sp>
      <p:sp>
        <p:nvSpPr>
          <p:cNvPr id="12" name="Text 10"/>
          <p:cNvSpPr/>
          <p:nvPr/>
        </p:nvSpPr>
        <p:spPr>
          <a:xfrm>
            <a:off x="6309360" y="2514600"/>
            <a:ext cx="2240280" cy="914400"/>
          </a:xfrm>
          <a:prstGeom prst="rect">
            <a:avLst/>
          </a:prstGeom>
          <a:noFill/>
          <a:ln/>
        </p:spPr>
        <p:txBody>
          <a:bodyPr wrap="square" lIns="0" tIns="0" rIns="0" bIns="0" rtlCol="0" anchor="ctr"/>
          <a:lstStyle/>
          <a:p>
            <a:pPr algn="ctr" indent="0" marL="0">
              <a:buNone/>
            </a:pPr>
            <a:r>
              <a:rPr lang="en-US" sz="1150" dirty="0">
                <a:solidFill>
                  <a:srgbClr val="1B2A32"/>
                </a:solidFill>
                <a:latin typeface="Calibri" pitchFamily="34" charset="0"/>
                <a:ea typeface="Calibri" pitchFamily="34" charset="-122"/>
                <a:cs typeface="Calibri" pitchFamily="34" charset="-120"/>
              </a:rPr>
              <a:t>Annual, tiered by grievance volume</a:t>
            </a:r>
            <a:endParaRPr lang="en-US" sz="1150" dirty="0"/>
          </a:p>
        </p:txBody>
      </p:sp>
      <p:sp>
        <p:nvSpPr>
          <p:cNvPr id="13" name="Shape 11"/>
          <p:cNvSpPr/>
          <p:nvPr/>
        </p:nvSpPr>
        <p:spPr>
          <a:xfrm>
            <a:off x="8915400" y="1737360"/>
            <a:ext cx="2606040" cy="1828800"/>
          </a:xfrm>
          <a:prstGeom prst="roundRect">
            <a:avLst>
              <a:gd name="adj" fmla="val 4500"/>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4" name="Text 12"/>
          <p:cNvSpPr/>
          <p:nvPr/>
        </p:nvSpPr>
        <p:spPr>
          <a:xfrm>
            <a:off x="9052560" y="1920240"/>
            <a:ext cx="2331720" cy="548640"/>
          </a:xfrm>
          <a:prstGeom prst="rect">
            <a:avLst/>
          </a:prstGeom>
          <a:noFill/>
          <a:ln/>
        </p:spPr>
        <p:txBody>
          <a:bodyPr wrap="square" lIns="0" tIns="0" rIns="0" bIns="0" rtlCol="0" anchor="ctr"/>
          <a:lstStyle/>
          <a:p>
            <a:pPr algn="ctr" indent="0" marL="0">
              <a:buNone/>
            </a:pPr>
            <a:r>
              <a:rPr lang="en-US" sz="1400" b="1" dirty="0">
                <a:solidFill>
                  <a:srgbClr val="1E7A8C"/>
                </a:solidFill>
                <a:latin typeface="Cambria" pitchFamily="34" charset="0"/>
                <a:ea typeface="Cambria" pitchFamily="34" charset="-122"/>
                <a:cs typeface="Cambria" pitchFamily="34" charset="-120"/>
              </a:rPr>
              <a:t>Batched settlement day</a:t>
            </a:r>
            <a:endParaRPr lang="en-US" sz="1400" dirty="0"/>
          </a:p>
        </p:txBody>
      </p:sp>
      <p:sp>
        <p:nvSpPr>
          <p:cNvPr id="15" name="Text 13"/>
          <p:cNvSpPr/>
          <p:nvPr/>
        </p:nvSpPr>
        <p:spPr>
          <a:xfrm>
            <a:off x="9098280" y="2514600"/>
            <a:ext cx="2240280" cy="914400"/>
          </a:xfrm>
          <a:prstGeom prst="rect">
            <a:avLst/>
          </a:prstGeom>
          <a:noFill/>
          <a:ln/>
        </p:spPr>
        <p:txBody>
          <a:bodyPr wrap="square" lIns="0" tIns="0" rIns="0" bIns="0" rtlCol="0" anchor="ctr"/>
          <a:lstStyle/>
          <a:p>
            <a:pPr algn="ctr" indent="0" marL="0">
              <a:buNone/>
            </a:pPr>
            <a:r>
              <a:rPr lang="en-US" sz="1150" dirty="0">
                <a:solidFill>
                  <a:srgbClr val="1B2A32"/>
                </a:solidFill>
                <a:latin typeface="Calibri" pitchFamily="34" charset="0"/>
                <a:ea typeface="Calibri" pitchFamily="34" charset="-122"/>
                <a:cs typeface="Calibri" pitchFamily="34" charset="-120"/>
              </a:rPr>
              <a:t>Day rate plus per case — the highest-margin product</a:t>
            </a:r>
            <a:endParaRPr lang="en-US" sz="1150" dirty="0"/>
          </a:p>
        </p:txBody>
      </p:sp>
      <p:sp>
        <p:nvSpPr>
          <p:cNvPr id="16" name="Shape 14"/>
          <p:cNvSpPr/>
          <p:nvPr/>
        </p:nvSpPr>
        <p:spPr>
          <a:xfrm>
            <a:off x="548640" y="3840480"/>
            <a:ext cx="11064240" cy="1828800"/>
          </a:xfrm>
          <a:prstGeom prst="roundRect">
            <a:avLst>
              <a:gd name="adj" fmla="val 4500"/>
            </a:avLst>
          </a:prstGeom>
          <a:solidFill>
            <a:srgbClr val="F5ECD6"/>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7" name="Text 15"/>
          <p:cNvSpPr/>
          <p:nvPr/>
        </p:nvSpPr>
        <p:spPr>
          <a:xfrm>
            <a:off x="822960" y="3977640"/>
            <a:ext cx="10515600" cy="411480"/>
          </a:xfrm>
          <a:prstGeom prst="rect">
            <a:avLst/>
          </a:prstGeom>
          <a:noFill/>
          <a:ln/>
        </p:spPr>
        <p:txBody>
          <a:bodyPr wrap="square" lIns="0" tIns="0" rIns="0" bIns="0" rtlCol="0" anchor="ctr"/>
          <a:lstStyle/>
          <a:p>
            <a:pPr indent="0" marL="0">
              <a:buNone/>
            </a:pPr>
            <a:r>
              <a:rPr lang="en-US" sz="1600" b="1" dirty="0">
                <a:solidFill>
                  <a:srgbClr val="123B4F"/>
                </a:solidFill>
                <a:latin typeface="Cambria" pitchFamily="34" charset="0"/>
                <a:ea typeface="Cambria" pitchFamily="34" charset="-122"/>
                <a:cs typeface="Cambria" pitchFamily="34" charset="-120"/>
              </a:rPr>
              <a:t>The batched settlement day is the commercial insight</a:t>
            </a:r>
            <a:endParaRPr lang="en-US" sz="1600" dirty="0"/>
          </a:p>
        </p:txBody>
      </p:sp>
      <p:sp>
        <p:nvSpPr>
          <p:cNvPr id="18" name="Text 16"/>
          <p:cNvSpPr/>
          <p:nvPr/>
        </p:nvSpPr>
        <p:spPr>
          <a:xfrm>
            <a:off x="822960" y="4434840"/>
            <a:ext cx="10332720" cy="1143000"/>
          </a:xfrm>
          <a:prstGeom prst="rect">
            <a:avLst/>
          </a:prstGeom>
          <a:noFill/>
          <a:ln/>
        </p:spPr>
        <p:txBody>
          <a:bodyPr wrap="square" lIns="0" tIns="0" rIns="0" bIns="0" rtlCol="0" anchor="ctr"/>
          <a:lstStyle/>
          <a:p>
            <a:pPr indent="0" marL="0">
              <a:buNone/>
            </a:pPr>
            <a:r>
              <a:rPr lang="en-US" sz="1250" dirty="0">
                <a:solidFill>
                  <a:srgbClr val="1B2A32"/>
                </a:solidFill>
                <a:latin typeface="Calibri" pitchFamily="34" charset="0"/>
                <a:ea typeface="Calibri" pitchFamily="34" charset="-122"/>
                <a:cs typeface="Calibri" pitchFamily="34" charset="-120"/>
              </a:rPr>
              <a:t>An insurer with 400 small contested health claims cannot economically litigate them and does not want 400 Ombudsman complaints. One neutral, one day, thirty files, a settlement grid agreed in advance, and thirty decree-grade settlements at the end of it. Nothing in the statutory system offers this. Commercial matters are priced on an ad valorem tariff, benchmarked against arbitration rather than against the Ombudsman.</a:t>
            </a:r>
            <a:endParaRPr lang="en-US" sz="1250" dirty="0"/>
          </a:p>
        </p:txBody>
      </p:sp>
      <p:sp>
        <p:nvSpPr>
          <p:cNvPr id="19" name="Text 17"/>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556168"/>
                </a:solidFill>
                <a:latin typeface="Calibri" pitchFamily="34" charset="0"/>
                <a:ea typeface="Calibri" pitchFamily="34" charset="-122"/>
                <a:cs typeface="Calibri" pitchFamily="34" charset="-120"/>
              </a:rPr>
              <a:t>Equator Resolution  ·  Confidential  ·  An Infrabyx Group venture</a:t>
            </a:r>
            <a:endParaRPr lang="en-US" sz="800" dirty="0"/>
          </a:p>
        </p:txBody>
      </p:sp>
      <p:sp>
        <p:nvSpPr>
          <p:cNvPr id="20" name="Text 18"/>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800" dirty="0">
                <a:solidFill>
                  <a:srgbClr val="556168"/>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8"/>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lIns="0" tIns="0" rIns="0" bIns="0" rtlCol="0" anchor="ctr"/>
          <a:lstStyle/>
          <a:p>
            <a:pPr indent="0" marL="0">
              <a:buNone/>
            </a:pPr>
            <a:r>
              <a:rPr lang="en-US" sz="2800" b="1" dirty="0">
                <a:solidFill>
                  <a:srgbClr val="123B4F"/>
                </a:solidFill>
                <a:latin typeface="Cambria" pitchFamily="34" charset="0"/>
                <a:ea typeface="Cambria" pitchFamily="34" charset="-122"/>
                <a:cs typeface="Cambria" pitchFamily="34" charset="-120"/>
              </a:rPr>
              <a:t>Roadmap to launch &amp; scale</a:t>
            </a:r>
            <a:endParaRPr lang="en-US" sz="2800" dirty="0"/>
          </a:p>
        </p:txBody>
      </p:sp>
      <p:sp>
        <p:nvSpPr>
          <p:cNvPr id="3" name="Shape 1"/>
          <p:cNvSpPr/>
          <p:nvPr/>
        </p:nvSpPr>
        <p:spPr>
          <a:xfrm>
            <a:off x="548640" y="1737360"/>
            <a:ext cx="2606040" cy="3840480"/>
          </a:xfrm>
          <a:prstGeom prst="roundRect">
            <a:avLst>
              <a:gd name="adj" fmla="val 3158"/>
            </a:avLst>
          </a:prstGeom>
          <a:solidFill>
            <a:srgbClr val="DCEAE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4" name="Shape 2"/>
          <p:cNvSpPr/>
          <p:nvPr/>
        </p:nvSpPr>
        <p:spPr>
          <a:xfrm>
            <a:off x="1508760" y="1965960"/>
            <a:ext cx="685800" cy="685800"/>
          </a:xfrm>
          <a:prstGeom prst="ellipse">
            <a:avLst/>
          </a:prstGeom>
          <a:solidFill>
            <a:srgbClr val="123B4F"/>
          </a:solidFill>
          <a:ln/>
        </p:spPr>
      </p:sp>
      <p:sp>
        <p:nvSpPr>
          <p:cNvPr id="5" name="Text 3"/>
          <p:cNvSpPr/>
          <p:nvPr/>
        </p:nvSpPr>
        <p:spPr>
          <a:xfrm>
            <a:off x="1508760" y="196596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685800" y="2788920"/>
            <a:ext cx="2331720" cy="411480"/>
          </a:xfrm>
          <a:prstGeom prst="rect">
            <a:avLst/>
          </a:prstGeom>
          <a:noFill/>
          <a:ln/>
        </p:spPr>
        <p:txBody>
          <a:bodyPr wrap="square" lIns="0" tIns="0" rIns="0" bIns="0" rtlCol="0" anchor="ctr"/>
          <a:lstStyle/>
          <a:p>
            <a:pPr algn="ctr" indent="0" marL="0">
              <a:buNone/>
            </a:pPr>
            <a:r>
              <a:rPr lang="en-US" sz="1600" b="1" dirty="0">
                <a:solidFill>
                  <a:srgbClr val="123B4F"/>
                </a:solidFill>
                <a:latin typeface="Cambria" pitchFamily="34" charset="0"/>
                <a:ea typeface="Cambria" pitchFamily="34" charset="-122"/>
                <a:cs typeface="Cambria" pitchFamily="34" charset="-120"/>
              </a:rPr>
              <a:t>Phase 1</a:t>
            </a:r>
            <a:endParaRPr lang="en-US" sz="1600" dirty="0"/>
          </a:p>
        </p:txBody>
      </p:sp>
      <p:sp>
        <p:nvSpPr>
          <p:cNvPr id="7" name="Text 5"/>
          <p:cNvSpPr/>
          <p:nvPr/>
        </p:nvSpPr>
        <p:spPr>
          <a:xfrm>
            <a:off x="685800" y="3200400"/>
            <a:ext cx="2331720" cy="365760"/>
          </a:xfrm>
          <a:prstGeom prst="rect">
            <a:avLst/>
          </a:prstGeom>
          <a:noFill/>
          <a:ln/>
        </p:spPr>
        <p:txBody>
          <a:bodyPr wrap="square" lIns="0" tIns="0" rIns="0" bIns="0" rtlCol="0" anchor="ctr"/>
          <a:lstStyle/>
          <a:p>
            <a:pPr algn="ctr" indent="0" marL="0">
              <a:buNone/>
            </a:pPr>
            <a:r>
              <a:rPr lang="en-US" sz="1200" b="1" dirty="0">
                <a:solidFill>
                  <a:srgbClr val="C6A15B"/>
                </a:solidFill>
                <a:latin typeface="Calibri" pitchFamily="34" charset="0"/>
                <a:ea typeface="Calibri" pitchFamily="34" charset="-122"/>
                <a:cs typeface="Calibri" pitchFamily="34" charset="-120"/>
              </a:rPr>
              <a:t>M 1–3</a:t>
            </a:r>
            <a:endParaRPr lang="en-US" sz="1200" dirty="0"/>
          </a:p>
        </p:txBody>
      </p:sp>
      <p:sp>
        <p:nvSpPr>
          <p:cNvPr id="8" name="Text 6"/>
          <p:cNvSpPr/>
          <p:nvPr/>
        </p:nvSpPr>
        <p:spPr>
          <a:xfrm>
            <a:off x="731520" y="3611880"/>
            <a:ext cx="2240280" cy="1737360"/>
          </a:xfrm>
          <a:prstGeom prst="rect">
            <a:avLst/>
          </a:prstGeom>
          <a:noFill/>
          <a:ln/>
        </p:spPr>
        <p:txBody>
          <a:bodyPr wrap="square" lIns="0" tIns="0" rIns="0" bIns="0" rtlCol="0" anchor="ctr"/>
          <a:lstStyle/>
          <a:p>
            <a:pPr algn="ctr" indent="0" marL="0">
              <a:buNone/>
            </a:pPr>
            <a:r>
              <a:rPr lang="en-US" sz="1100" dirty="0">
                <a:solidFill>
                  <a:srgbClr val="1B2A32"/>
                </a:solidFill>
                <a:latin typeface="Calibri" pitchFamily="34" charset="0"/>
                <a:ea typeface="Calibri" pitchFamily="34" charset="-122"/>
                <a:cs typeface="Calibri" pitchFamily="34" charset="-120"/>
              </a:rPr>
              <a:t>Rules &amp; tariff, panel (ECIN), intake, forms F-I01–F-I20, KYC, clock engine, calculators</a:t>
            </a:r>
            <a:endParaRPr lang="en-US" sz="1100" dirty="0"/>
          </a:p>
        </p:txBody>
      </p:sp>
      <p:sp>
        <p:nvSpPr>
          <p:cNvPr id="9" name="Shape 7"/>
          <p:cNvSpPr/>
          <p:nvPr/>
        </p:nvSpPr>
        <p:spPr>
          <a:xfrm>
            <a:off x="3337560" y="1737360"/>
            <a:ext cx="2606040" cy="3840480"/>
          </a:xfrm>
          <a:prstGeom prst="roundRect">
            <a:avLst>
              <a:gd name="adj" fmla="val 3158"/>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0" name="Shape 8"/>
          <p:cNvSpPr/>
          <p:nvPr/>
        </p:nvSpPr>
        <p:spPr>
          <a:xfrm>
            <a:off x="4297680" y="1965960"/>
            <a:ext cx="685800" cy="685800"/>
          </a:xfrm>
          <a:prstGeom prst="ellipse">
            <a:avLst/>
          </a:prstGeom>
          <a:solidFill>
            <a:srgbClr val="123B4F"/>
          </a:solidFill>
          <a:ln/>
        </p:spPr>
      </p:sp>
      <p:sp>
        <p:nvSpPr>
          <p:cNvPr id="11" name="Text 9"/>
          <p:cNvSpPr/>
          <p:nvPr/>
        </p:nvSpPr>
        <p:spPr>
          <a:xfrm>
            <a:off x="4297680" y="196596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3474720" y="2788920"/>
            <a:ext cx="2331720" cy="411480"/>
          </a:xfrm>
          <a:prstGeom prst="rect">
            <a:avLst/>
          </a:prstGeom>
          <a:noFill/>
          <a:ln/>
        </p:spPr>
        <p:txBody>
          <a:bodyPr wrap="square" lIns="0" tIns="0" rIns="0" bIns="0" rtlCol="0" anchor="ctr"/>
          <a:lstStyle/>
          <a:p>
            <a:pPr algn="ctr" indent="0" marL="0">
              <a:buNone/>
            </a:pPr>
            <a:r>
              <a:rPr lang="en-US" sz="1600" b="1" dirty="0">
                <a:solidFill>
                  <a:srgbClr val="123B4F"/>
                </a:solidFill>
                <a:latin typeface="Cambria" pitchFamily="34" charset="0"/>
                <a:ea typeface="Cambria" pitchFamily="34" charset="-122"/>
                <a:cs typeface="Cambria" pitchFamily="34" charset="-120"/>
              </a:rPr>
              <a:t>Phase 2</a:t>
            </a:r>
            <a:endParaRPr lang="en-US" sz="1600" dirty="0"/>
          </a:p>
        </p:txBody>
      </p:sp>
      <p:sp>
        <p:nvSpPr>
          <p:cNvPr id="13" name="Text 11"/>
          <p:cNvSpPr/>
          <p:nvPr/>
        </p:nvSpPr>
        <p:spPr>
          <a:xfrm>
            <a:off x="3474720" y="3200400"/>
            <a:ext cx="2331720" cy="365760"/>
          </a:xfrm>
          <a:prstGeom prst="rect">
            <a:avLst/>
          </a:prstGeom>
          <a:noFill/>
          <a:ln/>
        </p:spPr>
        <p:txBody>
          <a:bodyPr wrap="square" lIns="0" tIns="0" rIns="0" bIns="0" rtlCol="0" anchor="ctr"/>
          <a:lstStyle/>
          <a:p>
            <a:pPr algn="ctr" indent="0" marL="0">
              <a:buNone/>
            </a:pPr>
            <a:r>
              <a:rPr lang="en-US" sz="1200" b="1" dirty="0">
                <a:solidFill>
                  <a:srgbClr val="C6A15B"/>
                </a:solidFill>
                <a:latin typeface="Calibri" pitchFamily="34" charset="0"/>
                <a:ea typeface="Calibri" pitchFamily="34" charset="-122"/>
                <a:cs typeface="Calibri" pitchFamily="34" charset="-120"/>
              </a:rPr>
              <a:t>M 3–5</a:t>
            </a:r>
            <a:endParaRPr lang="en-US" sz="1200" dirty="0"/>
          </a:p>
        </p:txBody>
      </p:sp>
      <p:sp>
        <p:nvSpPr>
          <p:cNvPr id="14" name="Text 12"/>
          <p:cNvSpPr/>
          <p:nvPr/>
        </p:nvSpPr>
        <p:spPr>
          <a:xfrm>
            <a:off x="3520440" y="3611880"/>
            <a:ext cx="2240280" cy="1737360"/>
          </a:xfrm>
          <a:prstGeom prst="rect">
            <a:avLst/>
          </a:prstGeom>
          <a:noFill/>
          <a:ln/>
        </p:spPr>
        <p:txBody>
          <a:bodyPr wrap="square" lIns="0" tIns="0" rIns="0" bIns="0" rtlCol="0" anchor="ctr"/>
          <a:lstStyle/>
          <a:p>
            <a:pPr algn="ctr" indent="0" marL="0">
              <a:buNone/>
            </a:pPr>
            <a:r>
              <a:rPr lang="en-US" sz="1100" dirty="0">
                <a:solidFill>
                  <a:srgbClr val="1B2A32"/>
                </a:solidFill>
                <a:latin typeface="Calibri" pitchFamily="34" charset="0"/>
                <a:ea typeface="Calibri" pitchFamily="34" charset="-122"/>
                <a:cs typeface="Calibri" pitchFamily="34" charset="-120"/>
              </a:rPr>
              <a:t>Health-data store and DPIA, claim-file protocol, escrow, e-Sign/e-Stamp, first insurer pilot</a:t>
            </a:r>
            <a:endParaRPr lang="en-US" sz="1100" dirty="0"/>
          </a:p>
        </p:txBody>
      </p:sp>
      <p:sp>
        <p:nvSpPr>
          <p:cNvPr id="15" name="Shape 13"/>
          <p:cNvSpPr/>
          <p:nvPr/>
        </p:nvSpPr>
        <p:spPr>
          <a:xfrm>
            <a:off x="6126480" y="1737360"/>
            <a:ext cx="2606040" cy="3840480"/>
          </a:xfrm>
          <a:prstGeom prst="roundRect">
            <a:avLst>
              <a:gd name="adj" fmla="val 3158"/>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16" name="Shape 14"/>
          <p:cNvSpPr/>
          <p:nvPr/>
        </p:nvSpPr>
        <p:spPr>
          <a:xfrm>
            <a:off x="7086600" y="1965960"/>
            <a:ext cx="685800" cy="685800"/>
          </a:xfrm>
          <a:prstGeom prst="ellipse">
            <a:avLst/>
          </a:prstGeom>
          <a:solidFill>
            <a:srgbClr val="123B4F"/>
          </a:solidFill>
          <a:ln/>
        </p:spPr>
      </p:sp>
      <p:sp>
        <p:nvSpPr>
          <p:cNvPr id="17" name="Text 15"/>
          <p:cNvSpPr/>
          <p:nvPr/>
        </p:nvSpPr>
        <p:spPr>
          <a:xfrm>
            <a:off x="7086600" y="196596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6263640" y="2788920"/>
            <a:ext cx="2331720" cy="411480"/>
          </a:xfrm>
          <a:prstGeom prst="rect">
            <a:avLst/>
          </a:prstGeom>
          <a:noFill/>
          <a:ln/>
        </p:spPr>
        <p:txBody>
          <a:bodyPr wrap="square" lIns="0" tIns="0" rIns="0" bIns="0" rtlCol="0" anchor="ctr"/>
          <a:lstStyle/>
          <a:p>
            <a:pPr algn="ctr" indent="0" marL="0">
              <a:buNone/>
            </a:pPr>
            <a:r>
              <a:rPr lang="en-US" sz="1600" b="1" dirty="0">
                <a:solidFill>
                  <a:srgbClr val="123B4F"/>
                </a:solidFill>
                <a:latin typeface="Cambria" pitchFamily="34" charset="0"/>
                <a:ea typeface="Cambria" pitchFamily="34" charset="-122"/>
                <a:cs typeface="Cambria" pitchFamily="34" charset="-120"/>
              </a:rPr>
              <a:t>Phase 3</a:t>
            </a:r>
            <a:endParaRPr lang="en-US" sz="1600" dirty="0"/>
          </a:p>
        </p:txBody>
      </p:sp>
      <p:sp>
        <p:nvSpPr>
          <p:cNvPr id="19" name="Text 17"/>
          <p:cNvSpPr/>
          <p:nvPr/>
        </p:nvSpPr>
        <p:spPr>
          <a:xfrm>
            <a:off x="6263640" y="3200400"/>
            <a:ext cx="2331720" cy="365760"/>
          </a:xfrm>
          <a:prstGeom prst="rect">
            <a:avLst/>
          </a:prstGeom>
          <a:noFill/>
          <a:ln/>
        </p:spPr>
        <p:txBody>
          <a:bodyPr wrap="square" lIns="0" tIns="0" rIns="0" bIns="0" rtlCol="0" anchor="ctr"/>
          <a:lstStyle/>
          <a:p>
            <a:pPr algn="ctr" indent="0" marL="0">
              <a:buNone/>
            </a:pPr>
            <a:r>
              <a:rPr lang="en-US" sz="1200" b="1" dirty="0">
                <a:solidFill>
                  <a:srgbClr val="C6A15B"/>
                </a:solidFill>
                <a:latin typeface="Calibri" pitchFamily="34" charset="0"/>
                <a:ea typeface="Calibri" pitchFamily="34" charset="-122"/>
                <a:cs typeface="Calibri" pitchFamily="34" charset="-120"/>
              </a:rPr>
              <a:t>M 5–8</a:t>
            </a:r>
            <a:endParaRPr lang="en-US" sz="1200" dirty="0"/>
          </a:p>
        </p:txBody>
      </p:sp>
      <p:sp>
        <p:nvSpPr>
          <p:cNvPr id="20" name="Text 18"/>
          <p:cNvSpPr/>
          <p:nvPr/>
        </p:nvSpPr>
        <p:spPr>
          <a:xfrm>
            <a:off x="6309360" y="3611880"/>
            <a:ext cx="2240280" cy="1737360"/>
          </a:xfrm>
          <a:prstGeom prst="rect">
            <a:avLst/>
          </a:prstGeom>
          <a:noFill/>
          <a:ln/>
        </p:spPr>
        <p:txBody>
          <a:bodyPr wrap="square" lIns="0" tIns="0" rIns="0" bIns="0" rtlCol="0" anchor="ctr"/>
          <a:lstStyle/>
          <a:p>
            <a:pPr algn="ctr" indent="0" marL="0">
              <a:buNone/>
            </a:pPr>
            <a:r>
              <a:rPr lang="en-US" sz="1100" dirty="0">
                <a:solidFill>
                  <a:srgbClr val="1B2A32"/>
                </a:solidFill>
                <a:latin typeface="Calibri" pitchFamily="34" charset="0"/>
                <a:ea typeface="Calibri" pitchFamily="34" charset="-122"/>
                <a:cs typeface="Calibri" pitchFamily="34" charset="-120"/>
              </a:rPr>
              <a:t>Insurer subscriptions and batched settlement days; Bima Sugam / claims-system integration</a:t>
            </a:r>
            <a:endParaRPr lang="en-US" sz="1100" dirty="0"/>
          </a:p>
        </p:txBody>
      </p:sp>
      <p:sp>
        <p:nvSpPr>
          <p:cNvPr id="21" name="Shape 19"/>
          <p:cNvSpPr/>
          <p:nvPr/>
        </p:nvSpPr>
        <p:spPr>
          <a:xfrm>
            <a:off x="8915400" y="1737360"/>
            <a:ext cx="2606040" cy="3840480"/>
          </a:xfrm>
          <a:prstGeom prst="roundRect">
            <a:avLst>
              <a:gd name="adj" fmla="val 3158"/>
            </a:avLst>
          </a:prstGeom>
          <a:solidFill>
            <a:srgbClr val="FFFFFF"/>
          </a:solidFill>
          <a:ln w="9525">
            <a:solidFill>
              <a:srgbClr val="E2E8EB"/>
            </a:solidFill>
            <a:prstDash val="solid"/>
          </a:ln>
          <a:effectLst>
            <a:outerShdw sx="100000" sy="100000" kx="0" ky="0" algn="bl" rotWithShape="0" blurRad="76200" dist="25400" dir="5400000">
              <a:srgbClr val="9AA7AE">
                <a:alpha val="35000"/>
              </a:srgbClr>
            </a:outerShdw>
          </a:effectLst>
        </p:spPr>
      </p:sp>
      <p:sp>
        <p:nvSpPr>
          <p:cNvPr id="22" name="Shape 20"/>
          <p:cNvSpPr/>
          <p:nvPr/>
        </p:nvSpPr>
        <p:spPr>
          <a:xfrm>
            <a:off x="9875520" y="1965960"/>
            <a:ext cx="685800" cy="685800"/>
          </a:xfrm>
          <a:prstGeom prst="ellipse">
            <a:avLst/>
          </a:prstGeom>
          <a:solidFill>
            <a:srgbClr val="123B4F"/>
          </a:solidFill>
          <a:ln/>
        </p:spPr>
      </p:sp>
      <p:sp>
        <p:nvSpPr>
          <p:cNvPr id="23" name="Text 21"/>
          <p:cNvSpPr/>
          <p:nvPr/>
        </p:nvSpPr>
        <p:spPr>
          <a:xfrm>
            <a:off x="9875520" y="196596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p:nvPr/>
        </p:nvSpPr>
        <p:spPr>
          <a:xfrm>
            <a:off x="9052560" y="2788920"/>
            <a:ext cx="2331720" cy="411480"/>
          </a:xfrm>
          <a:prstGeom prst="rect">
            <a:avLst/>
          </a:prstGeom>
          <a:noFill/>
          <a:ln/>
        </p:spPr>
        <p:txBody>
          <a:bodyPr wrap="square" lIns="0" tIns="0" rIns="0" bIns="0" rtlCol="0" anchor="ctr"/>
          <a:lstStyle/>
          <a:p>
            <a:pPr algn="ctr" indent="0" marL="0">
              <a:buNone/>
            </a:pPr>
            <a:r>
              <a:rPr lang="en-US" sz="1600" b="1" dirty="0">
                <a:solidFill>
                  <a:srgbClr val="123B4F"/>
                </a:solidFill>
                <a:latin typeface="Cambria" pitchFamily="34" charset="0"/>
                <a:ea typeface="Cambria" pitchFamily="34" charset="-122"/>
                <a:cs typeface="Cambria" pitchFamily="34" charset="-120"/>
              </a:rPr>
              <a:t>Phase 4</a:t>
            </a:r>
            <a:endParaRPr lang="en-US" sz="1600" dirty="0"/>
          </a:p>
        </p:txBody>
      </p:sp>
      <p:sp>
        <p:nvSpPr>
          <p:cNvPr id="25" name="Text 23"/>
          <p:cNvSpPr/>
          <p:nvPr/>
        </p:nvSpPr>
        <p:spPr>
          <a:xfrm>
            <a:off x="9052560" y="3200400"/>
            <a:ext cx="2331720" cy="365760"/>
          </a:xfrm>
          <a:prstGeom prst="rect">
            <a:avLst/>
          </a:prstGeom>
          <a:noFill/>
          <a:ln/>
        </p:spPr>
        <p:txBody>
          <a:bodyPr wrap="square" lIns="0" tIns="0" rIns="0" bIns="0" rtlCol="0" anchor="ctr"/>
          <a:lstStyle/>
          <a:p>
            <a:pPr algn="ctr" indent="0" marL="0">
              <a:buNone/>
            </a:pPr>
            <a:r>
              <a:rPr lang="en-US" sz="1200" b="1" dirty="0">
                <a:solidFill>
                  <a:srgbClr val="C6A15B"/>
                </a:solidFill>
                <a:latin typeface="Calibri" pitchFamily="34" charset="0"/>
                <a:ea typeface="Calibri" pitchFamily="34" charset="-122"/>
                <a:cs typeface="Calibri" pitchFamily="34" charset="-120"/>
              </a:rPr>
              <a:t>M 8–12</a:t>
            </a:r>
            <a:endParaRPr lang="en-US" sz="1200" dirty="0"/>
          </a:p>
        </p:txBody>
      </p:sp>
      <p:sp>
        <p:nvSpPr>
          <p:cNvPr id="26" name="Text 24"/>
          <p:cNvSpPr/>
          <p:nvPr/>
        </p:nvSpPr>
        <p:spPr>
          <a:xfrm>
            <a:off x="9098280" y="3611880"/>
            <a:ext cx="2240280" cy="1737360"/>
          </a:xfrm>
          <a:prstGeom prst="rect">
            <a:avLst/>
          </a:prstGeom>
          <a:noFill/>
          <a:ln/>
        </p:spPr>
        <p:txBody>
          <a:bodyPr wrap="square" lIns="0" tIns="0" rIns="0" bIns="0" rtlCol="0" anchor="ctr"/>
          <a:lstStyle/>
          <a:p>
            <a:pPr algn="ctr" indent="0" marL="0">
              <a:buNone/>
            </a:pPr>
            <a:r>
              <a:rPr lang="en-US" sz="1100" dirty="0">
                <a:solidFill>
                  <a:srgbClr val="1B2A32"/>
                </a:solidFill>
                <a:latin typeface="Calibri" pitchFamily="34" charset="0"/>
                <a:ea typeface="Calibri" pitchFamily="34" charset="-122"/>
                <a:cs typeface="Calibri" pitchFamily="34" charset="-120"/>
              </a:rPr>
              <a:t>Scale; commercial-lines arbitration; publish outcomes by insurer; multi-language</a:t>
            </a:r>
            <a:endParaRPr lang="en-US" sz="1100" dirty="0"/>
          </a:p>
        </p:txBody>
      </p:sp>
      <p:sp>
        <p:nvSpPr>
          <p:cNvPr id="27" name="Text 25"/>
          <p:cNvSpPr/>
          <p:nvPr/>
        </p:nvSpPr>
        <p:spPr>
          <a:xfrm>
            <a:off x="548640" y="6446520"/>
            <a:ext cx="8229600" cy="274320"/>
          </a:xfrm>
          <a:prstGeom prst="rect">
            <a:avLst/>
          </a:prstGeom>
          <a:noFill/>
          <a:ln/>
        </p:spPr>
        <p:txBody>
          <a:bodyPr wrap="square" lIns="0" tIns="0" rIns="0" bIns="0" rtlCol="0" anchor="ctr"/>
          <a:lstStyle/>
          <a:p>
            <a:pPr indent="0" marL="0">
              <a:buNone/>
            </a:pPr>
            <a:r>
              <a:rPr lang="en-US" sz="800" dirty="0">
                <a:solidFill>
                  <a:srgbClr val="556168"/>
                </a:solidFill>
                <a:latin typeface="Calibri" pitchFamily="34" charset="0"/>
                <a:ea typeface="Calibri" pitchFamily="34" charset="-122"/>
                <a:cs typeface="Calibri" pitchFamily="34" charset="-120"/>
              </a:rPr>
              <a:t>Equator Resolution  ·  Confidential  ·  An Infrabyx Group venture</a:t>
            </a:r>
            <a:endParaRPr lang="en-US" sz="800" dirty="0"/>
          </a:p>
        </p:txBody>
      </p:sp>
      <p:sp>
        <p:nvSpPr>
          <p:cNvPr id="28" name="Text 26"/>
          <p:cNvSpPr/>
          <p:nvPr/>
        </p:nvSpPr>
        <p:spPr>
          <a:xfrm>
            <a:off x="11338560" y="6446520"/>
            <a:ext cx="365760" cy="274320"/>
          </a:xfrm>
          <a:prstGeom prst="rect">
            <a:avLst/>
          </a:prstGeom>
          <a:noFill/>
          <a:ln/>
        </p:spPr>
        <p:txBody>
          <a:bodyPr wrap="square" lIns="0" tIns="0" rIns="0" bIns="0" rtlCol="0" anchor="ctr"/>
          <a:lstStyle/>
          <a:p>
            <a:pPr algn="r" indent="0" marL="0">
              <a:buNone/>
            </a:pPr>
            <a:r>
              <a:rPr lang="en-US" sz="800" dirty="0">
                <a:solidFill>
                  <a:srgbClr val="556168"/>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3B4F"/>
        </a:solidFill>
      </p:bgPr>
    </p:bg>
    <p:spTree>
      <p:nvGrpSpPr>
        <p:cNvPr id="1" name=""/>
        <p:cNvGrpSpPr/>
        <p:nvPr/>
      </p:nvGrpSpPr>
      <p:grpSpPr>
        <a:xfrm>
          <a:off x="0" y="0"/>
          <a:ext cx="0" cy="0"/>
          <a:chOff x="0" y="0"/>
          <a:chExt cx="0" cy="0"/>
        </a:xfrm>
      </p:grpSpPr>
      <p:sp>
        <p:nvSpPr>
          <p:cNvPr id="2" name="Shape 0"/>
          <p:cNvSpPr/>
          <p:nvPr/>
        </p:nvSpPr>
        <p:spPr>
          <a:xfrm>
            <a:off x="-1280160" y="4572000"/>
            <a:ext cx="3840480" cy="3840480"/>
          </a:xfrm>
          <a:prstGeom prst="ellipse">
            <a:avLst/>
          </a:prstGeom>
          <a:solidFill>
            <a:srgbClr val="17485E"/>
          </a:solidFill>
          <a:ln/>
        </p:spPr>
      </p:sp>
      <p:sp>
        <p:nvSpPr>
          <p:cNvPr id="3" name="Text 1"/>
          <p:cNvSpPr/>
          <p:nvPr/>
        </p:nvSpPr>
        <p:spPr>
          <a:xfrm>
            <a:off x="731520" y="1920240"/>
            <a:ext cx="10607040"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Most rejected insurance complaints fail on process, not on merits.</a:t>
            </a:r>
            <a:endParaRPr lang="en-US" sz="3000" dirty="0"/>
          </a:p>
        </p:txBody>
      </p:sp>
      <p:sp>
        <p:nvSpPr>
          <p:cNvPr id="4" name="Text 2"/>
          <p:cNvSpPr/>
          <p:nvPr/>
        </p:nvSpPr>
        <p:spPr>
          <a:xfrm>
            <a:off x="749808" y="2971800"/>
            <a:ext cx="10424160" cy="822960"/>
          </a:xfrm>
          <a:prstGeom prst="rect">
            <a:avLst/>
          </a:prstGeom>
          <a:noFill/>
          <a:ln/>
        </p:spPr>
        <p:txBody>
          <a:bodyPr wrap="square" lIns="0" tIns="0" rIns="0" bIns="0" rtlCol="0" anchor="ctr"/>
          <a:lstStyle/>
          <a:p>
            <a:pPr indent="0" marL="0">
              <a:buNone/>
            </a:pPr>
            <a:r>
              <a:rPr lang="en-US" sz="1600" dirty="0">
                <a:solidFill>
                  <a:srgbClr val="CADCEA"/>
                </a:solidFill>
                <a:latin typeface="Calibri" pitchFamily="34" charset="0"/>
                <a:ea typeface="Calibri" pitchFamily="34" charset="-122"/>
                <a:cs typeface="Calibri" pitchFamily="34" charset="-120"/>
              </a:rPr>
              <a:t>We fix the process, get the file, break the decision down, and settle it — in weeks, enforceable as a decree, with the free statutory forum named at every step.</a:t>
            </a:r>
            <a:endParaRPr lang="en-US" sz="1600" dirty="0"/>
          </a:p>
        </p:txBody>
      </p:sp>
      <p:sp>
        <p:nvSpPr>
          <p:cNvPr id="5" name="Text 3"/>
          <p:cNvSpPr/>
          <p:nvPr/>
        </p:nvSpPr>
        <p:spPr>
          <a:xfrm>
            <a:off x="749808" y="4206240"/>
            <a:ext cx="10424160" cy="457200"/>
          </a:xfrm>
          <a:prstGeom prst="rect">
            <a:avLst/>
          </a:prstGeom>
          <a:noFill/>
          <a:ln/>
        </p:spPr>
        <p:txBody>
          <a:bodyPr wrap="square" lIns="0" tIns="0" rIns="0" bIns="0" rtlCol="0" anchor="ctr"/>
          <a:lstStyle/>
          <a:p>
            <a:pPr indent="0" marL="0">
              <a:buNone/>
            </a:pPr>
            <a:r>
              <a:rPr lang="en-US" sz="1400" b="1" dirty="0">
                <a:solidFill>
                  <a:srgbClr val="C6A15B"/>
                </a:solidFill>
                <a:latin typeface="Calibri" pitchFamily="34" charset="0"/>
                <a:ea typeface="Calibri" pitchFamily="34" charset="-122"/>
                <a:cs typeface="Calibri" pitchFamily="34" charset="-120"/>
              </a:rPr>
              <a:t>The ask:  insurer protocol partners · founding insurance neutrals (ECIN) · hospital, broker and TPA channels.</a:t>
            </a:r>
            <a:endParaRPr lang="en-US" sz="1400" dirty="0"/>
          </a:p>
        </p:txBody>
      </p:sp>
      <p:sp>
        <p:nvSpPr>
          <p:cNvPr id="6" name="Text 4"/>
          <p:cNvSpPr/>
          <p:nvPr/>
        </p:nvSpPr>
        <p:spPr>
          <a:xfrm>
            <a:off x="749808" y="4937760"/>
            <a:ext cx="1042416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www.equatorresolution.com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D5D88ED318E546B0BAD9611B3061C9" ma:contentTypeVersion="9" ma:contentTypeDescription="Create a new document." ma:contentTypeScope="" ma:versionID="d50db782a5ec69b02a0131a0f200a05c">
  <xsd:schema xmlns:xsd="http://www.w3.org/2001/XMLSchema" xmlns:xs="http://www.w3.org/2001/XMLSchema" xmlns:p="http://schemas.microsoft.com/office/2006/metadata/properties" xmlns:ns2="30dddea4-ca15-4972-99ca-320a89f10386" targetNamespace="http://schemas.microsoft.com/office/2006/metadata/properties" ma:root="true" ma:fieldsID="2e09d9990d161d2f2733b865e15bb167" ns2:_="">
    <xsd:import namespace="30dddea4-ca15-4972-99ca-320a89f103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dddea4-ca15-4972-99ca-320a89f103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fieldId="{5cf76f15-5ced-4ddc-b409-7134ff3c332f}" ma:taxonomyMulti="true" ma:sspId="00000000-0000-0000-0000-000000000000" ma:termSetId="00000000-0000-0000-0000-000000000000" ma:anchorId="00000000-0000-0000-0000-000000000000" ma:open="fals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dddea4-ca15-4972-99ca-320a89f1038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2792806-FB46-4EFA-9216-179D3041F6AB}"/>
</file>

<file path=customXml/itemProps2.xml><?xml version="1.0" encoding="utf-8"?>
<ds:datastoreItem xmlns:ds="http://schemas.openxmlformats.org/officeDocument/2006/customXml" ds:itemID="{2D9EF304-FC59-4476-9FF5-E883B24E6F44}"/>
</file>

<file path=customXml/itemProps3.xml><?xml version="1.0" encoding="utf-8"?>
<ds:datastoreItem xmlns:ds="http://schemas.openxmlformats.org/officeDocument/2006/customXml" ds:itemID="{CD8FF6F1-2CD5-433D-927D-B15EAC7B5AD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2026-07-21T16:00:07Z</dcterms:created>
  <dcterms:modified xsi:type="dcterms:W3CDTF">2026-07-21T16:00:07Z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0x01010053D5D88ED318E546B0BAD9611B3061C9</vt:lpwstr>
  </property>
</Properties>
</file>