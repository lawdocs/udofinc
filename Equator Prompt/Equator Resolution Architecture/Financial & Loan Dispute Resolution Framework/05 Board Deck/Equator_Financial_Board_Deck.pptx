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7485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EQUATOR RESOLUTION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&amp; Loan Dispute Resolution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33832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mediation, conciliation and settlement for borrower–lender disputes — loan default, one-time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settlement, cheque bounce, digital-lending grievances and recovery. Fair, fast, and fully online.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&amp; Investor Briefing   · 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loan disputes clog courts and crush borrowers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25603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8470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 lakh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cheque-bounce cases pending (Dec 2024)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1645920"/>
            <a:ext cx="25603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8470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9.3 lakh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520440" y="2651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Ombudsman complaints, FY24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645920"/>
            <a:ext cx="25603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8470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Harassment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309360" y="2651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recovery &amp; app-based lending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15400" y="1645920"/>
            <a:ext cx="25603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15400" y="18470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scarred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098280" y="2651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follows borrowers for years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Borrowers and lenders both need a faster, fairer forum — and India's regulators now compel one.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regulatory tailwinds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now pushes financial disputes toward ADR &amp; settlement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48256"/>
            <a:ext cx="640080" cy="64008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482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9751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RBI Integrated Ombudsman 2021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00200" y="2468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free redress window for bank, NBFC &amp; PSO complaints; 30-day escalation from the lender.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2048256"/>
            <a:ext cx="640080" cy="64008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0482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19751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RBI Digital Lending Directions 2025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2468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officers, cooling-off, KFS &amp; conduct rules — a surge of resolvable grievances.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97096"/>
            <a:ext cx="640080" cy="64008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97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1239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 Act s.138 + s.147 · Damodar Prabhu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600200" y="4617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Cheque-bounce cases are compoundable; courts push early, graded settlement.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4197096"/>
            <a:ext cx="640080" cy="6400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4197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41239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Mediation Act 2023 + RBI OTS 2023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223760" y="4617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Mediated settlements are decrees (s.27); RBI's 2023 framework legitimises compromise settlements.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one institution, the right route every time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08760" y="1920240"/>
            <a:ext cx="685800" cy="68580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5" name="Text 3"/>
          <p:cNvSpPr/>
          <p:nvPr/>
        </p:nvSpPr>
        <p:spPr>
          <a:xfrm>
            <a:off x="150876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route each matter — Ombudsman, mediation/OTS, NI-138 settlement, Lok Adalat or DRT.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920240"/>
            <a:ext cx="685800" cy="68580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Appoint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3200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neutral, conflict-checked mediator/conciliator; borrower protected from coercion.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691640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86600" y="1920240"/>
            <a:ext cx="685800" cy="68580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15" name="Text 13"/>
          <p:cNvSpPr/>
          <p:nvPr/>
        </p:nvSpPr>
        <p:spPr>
          <a:xfrm>
            <a:off x="708660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6364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Resolve, fast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3200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sessions; an OTS estimator moves parties to a fair figure; escrow secures the money.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15400" y="1691640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875520" y="1920240"/>
            <a:ext cx="685800" cy="68580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20" name="Text 18"/>
          <p:cNvSpPr/>
          <p:nvPr/>
        </p:nvSpPr>
        <p:spPr>
          <a:xfrm>
            <a:off x="987552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5256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098280" y="3200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settlement, e-signed, e-stamped, enforceable as a decree — with a No-Dues/NOC and credit update.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Equator different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892808"/>
            <a:ext cx="640080" cy="64008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892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00200" y="18562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route, not just a case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35000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triage to the Ombudsman, DRT, mediation, NI-138 or Lok Adalat — wherever the law fits best.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28232" y="1892808"/>
            <a:ext cx="640080" cy="64008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1892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23760" y="18562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 to borrowers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23760" y="235000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process, no coercion; harassment escalated; credit record corrected on settlement.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" y="4041648"/>
            <a:ext cx="640080" cy="64008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4041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40050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secured by escrow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49884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 sums held by a regulated bank, released against a No-Dues/NOC.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374904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28232" y="4041648"/>
            <a:ext cx="640080" cy="6400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4041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23760" y="40050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online + AI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23760" y="449884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File, settle, e-sign, e-stamp — with an AI route recommender, OTS estimator &amp; drafting assistant.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disputes we resolve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309360" y="1554480"/>
            <a:ext cx="530352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Dispute types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default &amp; recovery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settlement (OTS) / waiver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Cheque bounce (NI-138)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/ excess charges &amp; mis-selling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Digital-lending &amp; app grievances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Recovery-agent harassment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Credit-bureau (CIBIL) disputes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/ co-borrower · secured debt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Lenders &amp; loan types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29400" y="2240280"/>
            <a:ext cx="4709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· NBFCs · fintech / LSPs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Microfinance · P2P · gold loans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· vehicle · home · education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/ MSME · credit card · BNPL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Guarantors &amp; co-borrowers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&amp; small borrowers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by design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 litigation cannot offer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 days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 grievance window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82880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21488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~45–60 days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520440" y="2926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mediated settlement / OTS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1488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sitting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09360" y="2926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 Adalat award = decree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82880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21488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payment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098280" y="2926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cheque case compounded (s.147)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297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escalation path to the RBI Ombudsman, and settlement recorded in Lok Adalat for a final, non-appealable decree.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that resolves — end to end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ODR, e-Sign, e-Stamp and forum integration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93976"/>
            <a:ext cx="640080" cy="64008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93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20208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Dispute Explorer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5146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the route, explains rights &amp; remedies, estimates the OTS, and drafts the grievance / request.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2093976"/>
            <a:ext cx="640080" cy="64008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093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20208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(ODR)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25146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File, meet (video + caucus) and settle online — no travel, no intimidation.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97096"/>
            <a:ext cx="640080" cy="64008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97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1239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e-Sign &amp; e-Stamp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4617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e-Sign + SHCIL e-stamp; the settlement is enforceable as a decree.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4197096"/>
            <a:ext cx="640080" cy="6400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4197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41239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Forum integration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4617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to the RBI CMS/Ombudsman, DRT and Lok Adalat; credit-bureau correction on closure.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global best practice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to Indian law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ECF2F4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UK Financial Ombudsman Service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120640" y="1783080"/>
            <a:ext cx="6309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independent redress for consumers; binding on firms up to a money award limit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697480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AFCA (Australia)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0" y="2697480"/>
            <a:ext cx="6309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One-stop external dispute resolution scheme across banking, credit &amp; insurance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ECF2F4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611880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 CFPB &amp; fair-collection norms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3611880"/>
            <a:ext cx="6309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protection; curbs on abusive debt collection (FDCPA analogue)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526280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Mediation + escrow settlement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4526280"/>
            <a:ext cx="6309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settlement of debt, secured by escrow, with credit-record cure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Low, volume-friendly fees on a very large base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20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 &amp; admin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filing + administration fee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920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Settlement / success fee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20440" y="2468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% of the settled / recovered sum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920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Escrow handling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2468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secured OTS sums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173736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1920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Lender panels &amp; SLAs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98280" y="2468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case-flow from banks, NBFCs &amp; fintechs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11064240" cy="1737360"/>
          </a:xfrm>
          <a:prstGeom prst="roundRect">
            <a:avLst>
              <a:gd name="adj" fmla="val 4737"/>
            </a:avLst>
          </a:prstGeom>
          <a:solidFill>
            <a:srgbClr val="F5ECD6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886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Highest-volume ADR category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2976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and cheque-bounce disputes are the highest-volume dispute category in India. Lender panels, the RBI grievance clock and digital-lending conduct rules create a large, self-replenishing pipeline. An OTS estimator gives both sides an instant, transparent figure.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to launch &amp; scale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DCEAE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08760" y="1965960"/>
            <a:ext cx="685800" cy="68580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5" name="Text 3"/>
          <p:cNvSpPr/>
          <p:nvPr/>
        </p:nvSpPr>
        <p:spPr>
          <a:xfrm>
            <a:off x="150876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1–3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panel, intake, forms, KYC/KYB, case management, OTS estimator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73736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965960"/>
            <a:ext cx="685800" cy="68580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3–5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36118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Escrow, NI-138 settlement track, digital-lending grievance flow, e-Sign/e-Stamp, pilot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73736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86600" y="1965960"/>
            <a:ext cx="685800" cy="68580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5–8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36118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Ombudsman / DRT / Lok Adalat interfaces; credit-bureau correction; lender panels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15400" y="173736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875520" y="1965960"/>
            <a:ext cx="685800" cy="68580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23" name="Text 21"/>
          <p:cNvSpPr/>
          <p:nvPr/>
        </p:nvSpPr>
        <p:spPr>
          <a:xfrm>
            <a:off x="987552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52560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5256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8–12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98280" y="36118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lender partnerships; consumer outreach; publish outcomes &amp; settlement data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572000"/>
            <a:ext cx="3840480" cy="3840480"/>
          </a:xfrm>
          <a:prstGeom prst="ellipse">
            <a:avLst/>
          </a:prstGeom>
          <a:solidFill>
            <a:srgbClr val="1748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disputes, settled — fairly, and in weeks.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2926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mediation &amp; settlement for borrowers and lenders — enforceable, and fully online.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40233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 lender &amp; NBFC panel partners · escrow-bank integration · founding mediators &amp; conciliators.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4846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www.equatorresolution.com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D5D88ED318E546B0BAD9611B3061C9" ma:contentTypeVersion="9" ma:contentTypeDescription="Create a new document." ma:contentTypeScope="" ma:versionID="d50db782a5ec69b02a0131a0f200a05c">
  <xsd:schema xmlns:xsd="http://www.w3.org/2001/XMLSchema" xmlns:xs="http://www.w3.org/2001/XMLSchema" xmlns:p="http://schemas.microsoft.com/office/2006/metadata/properties" xmlns:ns2="30dddea4-ca15-4972-99ca-320a89f10386" targetNamespace="http://schemas.microsoft.com/office/2006/metadata/properties" ma:root="true" ma:fieldsID="2e09d9990d161d2f2733b865e15bb167" ns2:_="">
    <xsd:import namespace="30dddea4-ca15-4972-99ca-320a89f103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dddea4-ca15-4972-99ca-320a89f103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fieldId="{5cf76f15-5ced-4ddc-b409-7134ff3c332f}" ma:taxonomyMulti="true" ma:sspId="00000000-0000-0000-0000-000000000000" ma:termSetId="00000000-0000-0000-0000-00000000000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dddea4-ca15-4972-99ca-320a89f1038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F8AC78E-750A-47A2-B592-A1034239FA10}"/>
</file>

<file path=customXml/itemProps2.xml><?xml version="1.0" encoding="utf-8"?>
<ds:datastoreItem xmlns:ds="http://schemas.openxmlformats.org/officeDocument/2006/customXml" ds:itemID="{93852BF5-AB0C-4842-A79F-351FDEB79EF6}"/>
</file>

<file path=customXml/itemProps3.xml><?xml version="1.0" encoding="utf-8"?>
<ds:datastoreItem xmlns:ds="http://schemas.openxmlformats.org/officeDocument/2006/customXml" ds:itemID="{BDE0944C-9AD8-47CC-A1C7-9B1CE976A1C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2026-07-21T00:57:45Z</dcterms:created>
  <dcterms:modified xsi:type="dcterms:W3CDTF">2026-07-21T00:57:45Z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0x01010053D5D88ED318E546B0BAD9611B3061C9</vt:lpwstr>
  </property>
</Properties>
</file>