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Legal ODR (USD bn, midpoint)</c:v>
                </c:pt>
              </c:strCache>
            </c:strRef>
          </c:tx>
          <c:spPr>
            <a:solidFill>
              <a:srgbClr val="0E7C7B"/>
            </a:solidFill>
            <a:ln w="38100" cap="flat">
              <a:solidFill>
                <a:srgbClr val="0E7C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2028</c:v>
                  </c:pt>
                  <c:pt idx="2">
                    <c:v>2030</c:v>
                  </c:pt>
                  <c:pt idx="3">
                    <c:v>2032</c:v>
                  </c:pt>
                  <c:pt idx="4">
                    <c:v>2035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</c:v>
                </c:pt>
                <c:pt idx="1">
                  <c:v>0.62</c:v>
                </c:pt>
                <c:pt idx="2">
                  <c:v>0.95</c:v>
                </c:pt>
                <c:pt idx="3">
                  <c:v>1.35</c:v>
                </c:pt>
                <c:pt idx="4">
                  <c:v>1.66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12365A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3291840"/>
            <a:ext cx="4206240" cy="4206240"/>
          </a:xfrm>
          <a:prstGeom prst="ellipse">
            <a:avLst/>
          </a:prstGeom>
          <a:solidFill>
            <a:srgbClr val="0E2F50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371600"/>
            <a:ext cx="1005840" cy="10058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592885"/>
            <a:ext cx="563270" cy="5632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06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EQUATOR RESOLUTION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Disputes Find Their Balance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40690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multi-segment Online Dispute Resolution platform &amp; institution — mediation, arbitration, conciliation and grievance redressal, on one compliant, India-first, global-ready core.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&amp; Stakeholder Briefing</a:t>
            </a:r>
            <a:pPr indent="0" marL="0">
              <a:buNone/>
            </a:pPr>
            <a:r>
              <a:rPr lang="en-US" sz="1300" dirty="0">
                <a:solidFill>
                  <a:srgbClr val="8F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v1.0  ·  June 2026  ·  Confidential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Justice is slow, costly, and out of reach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70048" cy="3840480"/>
          </a:xfrm>
          <a:prstGeom prst="roundRect">
            <a:avLst>
              <a:gd name="adj" fmla="val 3425"/>
            </a:avLst>
          </a:prstGeom>
          <a:solidFill>
            <a:srgbClr val="F5F8FB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684" y="1999244"/>
            <a:ext cx="317480" cy="317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0604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Courts are overwhelmed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77240" y="342900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millions of cases pend in India's courts; resolution takes years and drains cost.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83280" y="1600200"/>
            <a:ext cx="2670048" cy="3840480"/>
          </a:xfrm>
          <a:prstGeom prst="roundRect">
            <a:avLst>
              <a:gd name="adj" fmla="val 3425"/>
            </a:avLst>
          </a:prstGeom>
          <a:solidFill>
            <a:srgbClr val="F5F8FB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0" y="1874520"/>
            <a:ext cx="566928" cy="566928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324" y="1999244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260604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Lending disputes don't scale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3611880" y="342900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NBFCs face high volumes of borrower disputes with no efficient, compliant path to resolve them.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217920" y="1600200"/>
            <a:ext cx="2670048" cy="3840480"/>
          </a:xfrm>
          <a:prstGeom prst="roundRect">
            <a:avLst>
              <a:gd name="adj" fmla="val 3425"/>
            </a:avLst>
          </a:prstGeom>
          <a:solidFill>
            <a:srgbClr val="F5F8FB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92240" y="1874520"/>
            <a:ext cx="566928" cy="566928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964" y="1999244"/>
            <a:ext cx="317480" cy="317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260604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Sensitive disputes lack safe venues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6446520" y="342900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conflicts and workplace (POSH) grievances need private, neutral, structured resolution.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052560" y="1600200"/>
            <a:ext cx="2670048" cy="3840480"/>
          </a:xfrm>
          <a:prstGeom prst="roundRect">
            <a:avLst>
              <a:gd name="adj" fmla="val 3425"/>
            </a:avLst>
          </a:prstGeom>
          <a:solidFill>
            <a:srgbClr val="F5F8FB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26880" y="1874520"/>
            <a:ext cx="566928" cy="566928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1604" y="1999244"/>
            <a:ext cx="317480" cy="317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81160" y="260604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ODR is fragmented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9281160" y="342900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specialise narrowly — no one spans the segments, supply and infrastructure together.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 works — the question is who assembles the most complete, compliant, multi-segment platform.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Equator: one platform, four dispute pillars + the infrastructure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90378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46888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/ Marital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77240" y="288036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Mediation-first; parenting plans; private &amp; humane.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83280" y="155448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0" y="17830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301" y="190378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246888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NBFC ↔ Borrower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611880" y="288036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Conciliation→mediation/arbitration; bulk, clause-driven, RBI-aligned.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0" y="155448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92240" y="17830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941" y="190378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246888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/ Commercial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446520" y="288036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 &amp; arbitration via contract / MoU / T&amp;C clauses.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052560" y="155448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26880" y="17830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7581" y="190378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81160" y="246888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Grievance &amp; POSH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9281160" y="288036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redressal + neutral escalation to Equator (EDRS).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8640" y="406908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DDF0EE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777240" y="42062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THE INFRASTRUCTURE THAT COMPOUNDS LIQUIDITY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68680" y="4617720"/>
            <a:ext cx="502920" cy="50292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" y="4728362"/>
            <a:ext cx="281635" cy="28163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508760" y="4572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Neutrals &amp; Empanelment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1508760" y="4892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Onboard, vet, empanel arbitrators/mediators.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4480560" y="4617720"/>
            <a:ext cx="502920" cy="50292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1202" y="4728362"/>
            <a:ext cx="281635" cy="28163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120640" y="4572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Court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5120640" y="4892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Neutrals run self-managed caseloads on our rails.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8092440" y="4617720"/>
            <a:ext cx="502920" cy="50292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3082" y="4728362"/>
            <a:ext cx="281635" cy="28163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732520" y="4572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Academy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8732520" y="4892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certify neutrals and case managers.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base, growing fast — with strong policy tailwinds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194560" cy="1737360"/>
          </a:xfrm>
          <a:prstGeom prst="roundRect">
            <a:avLst>
              <a:gd name="adj" fmla="val 5263"/>
            </a:avLst>
          </a:prstGeom>
          <a:solidFill>
            <a:srgbClr val="0B2A4A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~10–18%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ODR CAGR (to early/mid 2030s)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1600200"/>
            <a:ext cx="2194560" cy="1737360"/>
          </a:xfrm>
          <a:prstGeom prst="roundRect">
            <a:avLst>
              <a:gd name="adj" fmla="val 5263"/>
            </a:avLst>
          </a:prstGeom>
          <a:solidFill>
            <a:srgbClr val="0B2A4A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L+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017520" y="2606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resolved by a single Indian ODR player (proof of scale)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1600200"/>
            <a:ext cx="2194560" cy="1737360"/>
          </a:xfrm>
          <a:prstGeom prst="roundRect">
            <a:avLst>
              <a:gd name="adj" fmla="val 5263"/>
            </a:avLst>
          </a:prstGeom>
          <a:solidFill>
            <a:srgbClr val="0B2A4A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349240" y="2606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recognised category of ODR startups since 2018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096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Legal ODR market trajectory (USD, illustrative ranges)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498080" y="1874520"/>
          <a:ext cx="420624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48640" y="361188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F5F8FB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7240" y="37490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REGULATORY TAILWINDS (INDIA)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68680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 Act 2023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68680" y="4663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+ institutional mediation; settlement = decree.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566160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Digital Lending 2025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566160" y="4663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redressal duties; 30-day SLA; escalation.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63640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SMART ODR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263640" y="4663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conciliation→arbitration ladder for finance.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961120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POSH / SHe-Box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961120" y="4663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workplace redressal; single-window routing.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figures are analyst/vendor estimates and vary by definition; treated as directional.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Capable players — but fragmented by specialisation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8580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691640"/>
                <a:gridCol w="16916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Typical market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Equator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Online mediation / arbitration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Common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A4A"/>
                          </a:solidFill>
                        </a:rPr>
                        <a:t>Core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NBFC bulk intake + lender APIs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Some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A4A"/>
                          </a:solidFill>
                        </a:rPr>
                        <a:t>Core, at scale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Marital / family mediation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Rare (India)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A4A"/>
                          </a:solidFill>
                        </a:rPr>
                        <a:t>Differentiator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Enterprise grievance + POSH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Rare integrated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A4A"/>
                          </a:solidFill>
                        </a:rPr>
                        <a:t>Differentiator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Neutral “Private Court”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Rare (Jupitice)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A4A"/>
                          </a:solidFill>
                        </a:rPr>
                        <a:t>Core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Academy / certification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Some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A4A"/>
                          </a:solidFill>
                        </a:rPr>
                        <a:t>Core supply funnel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Multi-jurisdiction (global)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Rare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A4A"/>
                          </a:solidFill>
                        </a:rPr>
                        <a:t>Architected-in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1600200"/>
            <a:ext cx="3959352" cy="4114800"/>
          </a:xfrm>
          <a:prstGeom prst="roundRect">
            <a:avLst>
              <a:gd name="adj" fmla="val 2309"/>
            </a:avLst>
          </a:prstGeom>
          <a:solidFill>
            <a:srgbClr val="F5F8FB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09560" y="17556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WHO (INDIA)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09560" y="219456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Presolv360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commercial/MSME/fintech; ~1M disputes; funded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276148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civil/banking; 35L+ cases; 3,000+ neutrals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09560" y="332841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sector-specific; WhatsApp/SMS access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09560" y="389534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Webnyay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B2B/B2C; GIFT City authorised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09560" y="446227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commercial/consumer; NSE/NCDEX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909560" y="502920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Jupitice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AI/blockchain; “private digital court”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incumbent convincingly spans all four pillars + infrastructure + academy + multi-jurisdiction.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resolution ladder — proven, staged, compliant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139696" cy="2743200"/>
          </a:xfrm>
          <a:prstGeom prst="roundRect">
            <a:avLst>
              <a:gd name="adj" fmla="val 4274"/>
            </a:avLst>
          </a:prstGeom>
          <a:solidFill>
            <a:srgbClr val="F5F8FB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25880" y="2011680"/>
            <a:ext cx="585216" cy="585216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029968"/>
            <a:ext cx="585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33375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Self, clause, bulk or API. Jurisdiction &amp; arbitrability checks.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692908" y="3200400"/>
            <a:ext cx="91440" cy="0"/>
          </a:xfrm>
          <a:prstGeom prst="line">
            <a:avLst/>
          </a:prstGeom>
          <a:noFill/>
          <a:ln w="31750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88920" y="1828800"/>
            <a:ext cx="2139696" cy="274320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66160" y="2011680"/>
            <a:ext cx="585216" cy="585216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029968"/>
            <a:ext cx="585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26080" y="274320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&amp; Allocation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53512" y="33375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manager / nodal officer; round-robin neutral allocation; conflict checks.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33188" y="3200400"/>
            <a:ext cx="91440" cy="0"/>
          </a:xfrm>
          <a:prstGeom prst="line">
            <a:avLst/>
          </a:prstGeom>
          <a:noFill/>
          <a:ln w="31750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29200" y="1828800"/>
            <a:ext cx="2139696" cy="2743200"/>
          </a:xfrm>
          <a:prstGeom prst="roundRect">
            <a:avLst>
              <a:gd name="adj" fmla="val 4274"/>
            </a:avLst>
          </a:prstGeom>
          <a:solidFill>
            <a:srgbClr val="F5F8FB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06440" y="2011680"/>
            <a:ext cx="585216" cy="585216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2029968"/>
            <a:ext cx="585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66360" y="274320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93792" y="33375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Conciliation → mediation / arbitration. Video hearings, evidence, AI assist (advisory).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173468" y="3200400"/>
            <a:ext cx="91440" cy="0"/>
          </a:xfrm>
          <a:prstGeom prst="line">
            <a:avLst/>
          </a:prstGeom>
          <a:noFill/>
          <a:ln w="31750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69480" y="1828800"/>
            <a:ext cx="2139696" cy="274320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0" y="2011680"/>
            <a:ext cx="585216" cy="585216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0" y="2029968"/>
            <a:ext cx="585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06640" y="274320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Settlement / Award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34072" y="33375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 or reasoned award. Certified e-sign + e-stamp.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413748" y="3200400"/>
            <a:ext cx="91440" cy="0"/>
          </a:xfrm>
          <a:prstGeom prst="line">
            <a:avLst/>
          </a:prstGeom>
          <a:noFill/>
          <a:ln w="31750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509760" y="1828800"/>
            <a:ext cx="2139696" cy="2743200"/>
          </a:xfrm>
          <a:prstGeom prst="roundRect">
            <a:avLst>
              <a:gd name="adj" fmla="val 4274"/>
            </a:avLst>
          </a:prstGeom>
          <a:solidFill>
            <a:srgbClr val="F5F8FB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287000" y="2011680"/>
            <a:ext cx="585216" cy="585216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10287000" y="2029968"/>
            <a:ext cx="585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646920" y="274320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/ Escalate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674352" y="33375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Enforceable as decree; or escalate to next stage / EDRS.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on SEBI SMART ODR — the staged ladder is proven at millions of cases in Indian finance.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Cloud-native, API-first, configurable by jurisdiction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AF2F8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556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1737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portal · Neutral workspace · Case manager · Enterprise admin · Academy · Mobile · API/embed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DDF0EE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834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SERVICES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81635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· Case core · Allocation · Hearings · Documents · Mediation · Arbitration · Grievance · Billing · Notify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03904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AF2F8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9136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SERVICES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3895344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· Event bus · Search · Cache · Secrets/KMS · Object storage/CDN · Audit (immutable)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82896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DEBD6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99262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+ DATA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4974336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Rulesets · Templates · Fee schedules · Jurisdictions  ·  PostgreSQL · Object store · Warehouse · WORM audit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over code: timelines, panels, fees, templates and pathways are data — so new regulations and new countries are configuration, not re-builds.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reinforcing moats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5F8FB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984248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125066"/>
            <a:ext cx="358445" cy="3584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947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Two-sided + infrastructure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45920" y="240487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institution (EDRS) AND neutral-facing Private Court on shared rails — liquidity compounds.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169164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5F8FB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1984248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338" y="2125066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1947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Breadth where it counts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269480" y="240487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volume (NBFC, commercial) and trust (marital, POSH) — hard to copy from one end.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6576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5F8FB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3950208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4091026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39136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as a feature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45920" y="437083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rulesets mapped to A&amp;C Act, Mediation Act, RBI, POSH — regulation becomes a selling point.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172200" y="36576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5F8FB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46520" y="3950208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338" y="4091026"/>
            <a:ext cx="358445" cy="35844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9480" y="39136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Academy as supply moat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269480" y="437083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certify neutrals → empanel them → they default to our rails.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revenue lines on one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65960"/>
            <a:ext cx="548640" cy="54864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0866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EDRS case fees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2606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Filing, success &amp; panel admin fees on Equator-administered cases.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51960" y="16916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07992" y="1965960"/>
            <a:ext cx="548640" cy="54864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693" y="20866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Court SaaS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07992" y="2606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+ per-case + add-ons for self-managed neutrals/institutions.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955280" y="16916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11312" y="1965960"/>
            <a:ext cx="548640" cy="54864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013" y="208666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1540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dispute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211312" y="2606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+ per-case for clause-embedded B2B disputes.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36576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04672" y="3931920"/>
            <a:ext cx="548640" cy="54864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3" y="405262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08760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Grievance &amp; POSH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04672" y="4572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 / per-entity SaaS + escalation fees.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251960" y="36576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07992" y="3931920"/>
            <a:ext cx="548640" cy="54864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8693" y="4052621"/>
            <a:ext cx="307238" cy="30723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12080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Academy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4507992" y="4572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Course, certification &amp; corporate L&amp;D fees.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7955280" y="36576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211312" y="3931920"/>
            <a:ext cx="548640" cy="54864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2013" y="4052621"/>
            <a:ext cx="307238" cy="30723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15400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&amp; white-label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8211312" y="4572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Platform/usage fees for embedded lender &amp; marketplace ODR.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pragmatic path: wedge, deepen, scale, globalise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DDF0EE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01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9019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mo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677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— one volume vertical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27614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Intake→award end-to-end for NBFC or commercial with a design partner.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173736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DDF0EE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901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9019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mo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22677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Mediation + Family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480560" y="27614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 workspace, MSA, sensitive family flows.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DDF0EE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83880" y="1901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19019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8–11 mo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83880" y="22677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NBFC at scale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183880" y="27614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intake, lender APIs, round-robin, recovery.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3913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39136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11–14 mo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279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Grievance &amp; POSH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77240" y="47731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portal, IC workspace, EDRS escalation.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51960" y="37490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80560" y="3913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39136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14–18 mo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0560" y="4279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Court + Academy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480560" y="47731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Self-managed tenants, LMS, empanelment funnel.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955280" y="37490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183880" y="3913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0" y="39136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mo+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83880" y="4279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global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8183880" y="47731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advanced AI, new-jurisdiction rulesets, white-label.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most sensitive data there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F5F8FB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11680"/>
            <a:ext cx="621792" cy="621792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754" y="2148474"/>
            <a:ext cx="348204" cy="3482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9933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Confidentiality tiers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45920" y="245059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/ High / POSH drive encryption, access and redaction.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173736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F5F8FB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011680"/>
            <a:ext cx="621792" cy="621792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314" y="2148474"/>
            <a:ext cx="348204" cy="3482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19933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Enforceable outcomes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269480" y="245059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e-sign + e-stamp; MSAs &amp; awards enforceable as decrees.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65760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F5F8FB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3931920"/>
            <a:ext cx="621792" cy="621792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754" y="4068714"/>
            <a:ext cx="348204" cy="3482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39136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audit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45920" y="437083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Hash-chained, tamper-evident log of every action; optional ledger anchoring.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172200" y="365760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F5F8FB"/>
          </a:solidFill>
          <a:ln w="12700">
            <a:solidFill>
              <a:srgbClr val="E2EA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2A4A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46520" y="3931920"/>
            <a:ext cx="621792" cy="621792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314" y="4068714"/>
            <a:ext cx="348204" cy="3482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9480" y="39136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residency &amp; DPDP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269480" y="437083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stays in India; consent artefacts; per-jurisdiction zones.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certifications: ISO 27001 · SOC 2 Type II — with a living controls register mapped to every obligation.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2926080"/>
            <a:ext cx="5486400" cy="5486400"/>
          </a:xfrm>
          <a:prstGeom prst="ellipse">
            <a:avLst/>
          </a:prstGeom>
          <a:solidFill>
            <a:srgbClr val="0E2F5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2011680"/>
            <a:ext cx="5669280" cy="5669280"/>
          </a:xfrm>
          <a:prstGeom prst="ellipse">
            <a:avLst/>
          </a:prstGeom>
          <a:solidFill>
            <a:srgbClr val="1236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22960"/>
            <a:ext cx="914400" cy="9144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02412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28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26060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category-defining, multi-segment ODR platform for India — and a ruleset away from the world.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3749040"/>
            <a:ext cx="3383280" cy="1874520"/>
          </a:xfrm>
          <a:prstGeom prst="roundRect">
            <a:avLst>
              <a:gd name="adj" fmla="val 4878"/>
            </a:avLst>
          </a:prstGeom>
          <a:solidFill>
            <a:srgbClr val="12365A"/>
          </a:solidFill>
          <a:ln w="12700">
            <a:solidFill>
              <a:srgbClr val="24507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78992" y="4005072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634" y="4115714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demand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78992" y="4617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cases already resolved by Indian ODR; regulators mandate the path.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480560" y="3749040"/>
            <a:ext cx="3383280" cy="1874520"/>
          </a:xfrm>
          <a:prstGeom prst="roundRect">
            <a:avLst>
              <a:gd name="adj" fmla="val 4878"/>
            </a:avLst>
          </a:prstGeom>
          <a:solidFill>
            <a:srgbClr val="12365A"/>
          </a:solidFill>
          <a:ln w="12700">
            <a:solidFill>
              <a:srgbClr val="24507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36592" y="4005072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234" y="4115714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4924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Defensible model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736592" y="4617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+ infrastructure + academy + compliance — hard to replicate.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138160" y="3749040"/>
            <a:ext cx="3383280" cy="1874520"/>
          </a:xfrm>
          <a:prstGeom prst="roundRect">
            <a:avLst>
              <a:gd name="adj" fmla="val 4878"/>
            </a:avLst>
          </a:prstGeom>
          <a:solidFill>
            <a:srgbClr val="12365A"/>
          </a:solidFill>
          <a:ln w="12700">
            <a:solidFill>
              <a:srgbClr val="24507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394192" y="4005072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34" y="4115714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0684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sequence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394192" y="4617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 on one volume vertical, then deepen and globalise.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822960" y="5989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— Where Disputes Find Their Balance.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Equator Resolution — Investor &amp; Stakeholder Deck</dc:title>
  <dc:subject>PptxGenJS Presentation</dc:subject>
  <dc:creator>Equator Resolution</dc:creator>
  <cp:lastModifiedBy>Equator Resolution</cp:lastModifiedBy>
  <cp:revision>1</cp:revision>
  <dcterms:created xsi:type="dcterms:W3CDTF">2026-06-25T06:01:26Z</dcterms:created>
  <dcterms:modified xsi:type="dcterms:W3CDTF">2026-06-25T06:01:26Z</dcterms:modified>
</cp:coreProperties>
</file>