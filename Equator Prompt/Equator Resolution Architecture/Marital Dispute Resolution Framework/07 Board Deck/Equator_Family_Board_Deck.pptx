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B4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23B4F"/>
                </a:solidFill>
                <a:latin typeface="Cambria"/>
              </a:rPr>
              <a:t>Revenue (₹ 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E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48.9</c:v>
                </c:pt>
                <c:pt idx="1">
                  <c:v>122.3</c:v>
                </c:pt>
                <c:pt idx="2">
                  <c:v>244.5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926080" cy="29260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&amp; Family Dispute Resolution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mediation-first path to resolve separation, maintenance, custody, property 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criminal matters — privately, with dignity, and within a statutory 180 days.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Briefing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families are trapped in a broken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cr+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pending in Indian courts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55448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yrs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contested matrimonial matter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forums per marital breakdown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55448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9828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adversarial, and ruinously expensive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separation typically spawns divorce, maintenance, domestic-violence and Section 85 BNS (498A) proceedings at once — each on its own timeline. The human cost falls hardest on women and children; the systemic cost feeds the national backlog.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unlock: the Mediation Act, 2023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mediated settlement is now enforceable as a decree of a court (s.27).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statutory clock: complete within 120 days, +60 by consent (max 180).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Council of India recognises &amp; grades Mediation Service Providers.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courts already must attempt settlement — natural referral partners.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Equator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a private, confidential settlement carries the force of a court order. Equator is purpose-built as an institutional Mediation Service Provider — first-mover, MCI-ready, digital-first.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4754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“Settlements become binding decrees.”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institutional family mediation, online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87452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spouse initiates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 or wife files online; the other is formally invited to respond.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87452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neutral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pick or are matched to an empanelled, conflict-checked mediator.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87452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Resolve, fast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&amp; private sessions, online or hybrid, within the statutory clock.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15400" y="16459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87452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&amp; enforce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98280" y="3246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MSA — enforceable as a decree — closes the whole dispute.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institution — not a law firm, not a single arbitrator: panel, rules, case-management platform, escrow and records under one roof.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Equator different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a generalist ODR platform does not offer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Escrow-secured settlements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held by a regulated bank and released against milestones — neither spouse must trust a promise.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892808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Criminal-case closure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withdrawal, compounding &amp; quashing (s.528 BNSS) of cross-FIRs, sequenced to the settlement.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4164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personal-law regime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Hindu, Special Marriage, Muslim, Christian, Parsi, inter-caste, NRI, live-in — one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04164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Time-bound &amp; confidential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statutory 180-day envelope, off the public record, with dignity and control for the parties.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the whole dispute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3035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Marriage regimes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/ Buddhist / Jain / Sikh (HMA 1955)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Inter-faith &amp; civil (Special Marriage Act 1954)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— talaq, khula, mubarat, mahr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(Divorce Act 1869) · Parsi (1936 Act)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Inter-caste · NRI / overseas · live-in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we resolve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 — mutual consent &amp; contested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alimony · child custody &amp; parenting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Property, streedhan &amp; mahr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violence (safety-screened)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Dowry &amp; cruelty · FIR withdrawal / quashing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mediation beats litigation for families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Litigation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mediation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years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2011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180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980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7980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cumulative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7980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Fraction, 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5844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5844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35844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37083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43708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imposes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43708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decide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57216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1572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51572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51572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= decree (s.27)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time-bound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120 + 60-day clock, with Equator's front-end service levels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0–17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KYC, notice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48840" y="1965960"/>
            <a:ext cx="640080" cy="274320"/>
          </a:xfrm>
          <a:prstGeom prst="rightArrow">
            <a:avLst/>
          </a:prstGeom>
          <a:solidFill>
            <a:srgbClr val="C6A15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783080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71800" y="260604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17–38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3200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mediator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640080" cy="274320"/>
          </a:xfrm>
          <a:prstGeom prst="rightArrow">
            <a:avLst/>
          </a:prstGeom>
          <a:solidFill>
            <a:srgbClr val="C6A15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783080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57800" y="260604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200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starts (first session)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1965960"/>
            <a:ext cx="640080" cy="274320"/>
          </a:xfrm>
          <a:prstGeom prst="rightArrow">
            <a:avLst/>
          </a:prstGeom>
          <a:solidFill>
            <a:srgbClr val="C6A15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783080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3800" y="260604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165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3200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settlement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06840" y="1965960"/>
            <a:ext cx="640080" cy="274320"/>
          </a:xfrm>
          <a:prstGeom prst="rightArrow">
            <a:avLst/>
          </a:prstGeom>
          <a:solidFill>
            <a:srgbClr val="C6A15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600" y="178308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29800" y="260604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180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21240" y="32004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registered = decree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release and FIR quashing are sequenced inside this window, so money and criminal cases close together.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under-served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ADR market CAGR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79392" y="16459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79392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Under-served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462272" y="2697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category vs commercial ODR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10144" y="16459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10144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channels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93024" y="2697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court referral, clause-embed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is three-track: individuals in active disputes, court and Family-Court referrals, and — over time — clause insertion so agreements name Equator as the family-mediation venue. The clause programme creates a self-replenishing pipeline.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Equator earns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lines per case; the mediator's own fee is pass-through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per party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session, per party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Mediator share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mediator fee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amount secured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(illustrative)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₹16,300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₹15,800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61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case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093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~720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525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cases (Yr-1 costs)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Three-year trajectory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with case volume; the path to break-even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411480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→ 750 → 1,500 cases over three years.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contribution margin per case.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~720 cases; volume-led profitability.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float &amp; clause pipeline add upside.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18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Illustrative; see the financial model for editable levers.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launch &amp;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intake, forms, first mediator cohort, DPDP 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integration, criminal-closure engine, supervised pilot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Family-court referrals; MCI recognition readiness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panel &amp; languages; NRI video-mediation; outcomes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Defensibility &amp; responsible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First-mover, MCI-ready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the standard the Mediation Council will grade.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9280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criminal-closure are hard to replicate and create switching costs.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04164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ethics first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screening, child-welfare focus, mediator Code of Conduct.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4041648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DPDP-compliant by design; sensitive matrimonial data handled to the highest bar.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resolves —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ODR, e-Sign, e-Stamp and court integration in one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Dispute Explorer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on process, remedies and admissibility; drafts the Statement of Claim/Defence — with a lawyer-review guardrail.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Dispute Resolution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mediate (video + private caucus) and settle fully online — ideal for NRIs and safety-sensitive matters.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e-Sign &amp; e-Stamp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e-Sign (IT Act) and SHCIL e-stamping on-platform; then registered and enforceable as a decree.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integration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with family courts: referral in (s.89 CPC), and back a consent decree or certificate of attempt.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global best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Indian law under the Mediation Act, 2023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AFCC/ABA Model Standards of Practice; MASIC domestic-abuse screening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974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England &amp; Wales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697480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 before court; £500 mediation voucher; child-inclusive at 10+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118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611880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Genuine-effort FDR; Section 60I certificate; free Family Relationship Centres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Union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4526280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Directive 2008/52/EC; cross-border enforceability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adopts: a structured information &amp; suitability session, MASIC-informed ongoing safety screening, child-inclusive practice, accredited &amp; graded neutrals, a fee-waiver/voucher track, and a court-usable certificate of attempted mediation.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is hard. Court makes it harder.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mediates family matters with confidentiality, dignity and care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within a statutory 180 days.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partner on pilot cases · escrow-bank integration · empanel founding mediators.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www.equatorresolution.com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EBE7ED-2107-4782-95CF-B478253F372E}"/>
</file>

<file path=customXml/itemProps2.xml><?xml version="1.0" encoding="utf-8"?>
<ds:datastoreItem xmlns:ds="http://schemas.openxmlformats.org/officeDocument/2006/customXml" ds:itemID="{EFD1638A-60E0-49BF-89B3-8C27A7E7D726}"/>
</file>

<file path=customXml/itemProps3.xml><?xml version="1.0" encoding="utf-8"?>
<ds:datastoreItem xmlns:ds="http://schemas.openxmlformats.org/officeDocument/2006/customXml" ds:itemID="{929C364D-D5BE-44F9-BC96-35A4479F84D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2026-07-19T14:21:14Z</dcterms:created>
  <dcterms:modified xsi:type="dcterms:W3CDTF">2026-07-19T14:21:14Z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