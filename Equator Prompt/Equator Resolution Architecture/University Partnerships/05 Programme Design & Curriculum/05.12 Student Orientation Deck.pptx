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9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5" Type="http://schemas.openxmlformats.org/officeDocument/2006/relationships/theme" Target="theme/theme1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minutes maximum. Then move. Do not spend the first hour on administration.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third one directly and mean it. It changes the volunteering dynamic for the whole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 and do not apologise for it. Students respect being told the truth, and several will have been told otherwise elsewhere.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873C"/>
                </a:solidFill>
                <a:latin typeface="Calibri"/>
              </a:rPr>
              <a:t>EQUATOR ADR INSTITUTE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200" b="1" i="0">
                <a:solidFill>
                  <a:srgbClr val="FFFFFF"/>
                </a:solidFill>
                <a:latin typeface="Cambria"/>
              </a:rPr>
              <a:t>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8778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D6DE"/>
                </a:solidFill>
                <a:latin typeface="Calibri"/>
              </a:rPr>
              <a:t>Certificate Course in Mediation  ·  40 hours  ·  [●]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C9D6DE"/>
                </a:solidFill>
                <a:latin typeface="Calibri"/>
              </a:rPr>
              <a:t>[●]  ·  An Infrabyx Group venture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Five days, and about 70% of it is you doing rather than listening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148840"/>
          <a:ext cx="10637213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317"/>
                <a:gridCol w="4931799"/>
                <a:gridCol w="4835097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You will</a:t>
                      </a:r>
                    </a:p>
                  </a:txBody>
                  <a:tcPr marL="109728" marR="73152" marT="45720" marB="45720" anchor="ctr">
                    <a:solidFill>
                      <a:srgbClr val="1037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0375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Foundations, framework and the mediator's role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Deliver your first mediator's opening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0375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Communication, information and interests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Run a full information-gathering phase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0375C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Process management, caucus and negotiation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Run a caucus and a negotiation phase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0375C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Difficulty, impasse, ethics and sectoral practice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Handle a mediation designed to go wrong</a:t>
                      </a:r>
                    </a:p>
                  </a:txBody>
                  <a:tcPr marL="109728" marR="73152" marT="36576" marB="36576" anchor="ctr">
                    <a:solidFill>
                      <a:srgbClr val="EAF1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0375C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Drafting, assessment and closure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1F1F"/>
                          </a:solidFill>
                          <a:latin typeface="Calibri"/>
                        </a:rPr>
                        <a:t>Be assessed on a full 90-minute mediation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You will mediate five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And you will be told what you got wrong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3350666" cy="272491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You will be uncomfortable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840480"/>
            <a:ext cx="276545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That is the method, not a failure of it.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Nobody in this room is good at this on Monday.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0514" y="2194560"/>
            <a:ext cx="3350666" cy="272491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3122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3122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You will be observed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3122" y="3840480"/>
            <a:ext cx="276545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Every simulation is watched and scored against specific criteria.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The debrief is where the learning happens.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2194560"/>
            <a:ext cx="3350666" cy="2724912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6396" y="2505456"/>
            <a:ext cx="475488" cy="47548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6396" y="3182112"/>
            <a:ext cx="27654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10375C"/>
                </a:solidFill>
                <a:latin typeface="Cambria"/>
              </a:rPr>
              <a:t>Volunteer early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3840480"/>
            <a:ext cx="276545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The people who improve most are the ones who mediate on day 1 with no idea what they are doing.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Agreed, not announced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05740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0665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What is said here stays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2" y="204825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Including anything personal that comes up in a simulation, and anything about how a colleague performed.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8892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92608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93522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Simulation materials do not leave the room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91693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No photographs, no circulation, no sharing with next year's cohort.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79475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380390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You may decline any exercise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3785615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At any time, without giving a reason and without any consequence.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52628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66344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4672583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Phones away during simulations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465429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Not on the table, not face down. Away.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9496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553212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554126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Attendance is 90%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5522976"/>
            <a:ext cx="617494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It is a condition of assessment and there is no discretion. Tell us now if you have a conflict.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If you are exposed to a real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The rule is permanent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86000"/>
            <a:ext cx="9875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Mediation proceedings are confidential by statute. Recording is prohibited by law. The obligation does not end when this course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20440"/>
            <a:ext cx="5135727" cy="2816351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962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You will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453128"/>
            <a:ext cx="4404207" cy="1536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Disclose the identity of any party or anything about a dispute.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Discuss it with family, friends or classmates.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Post about it, or allude to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Use it in academic work, an article or a competition.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3520440"/>
            <a:ext cx="5135727" cy="2816351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4487" y="384962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You will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453128"/>
            <a:ext cx="4404207" cy="1536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Record, photograph or screenshot anything.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Remove any note or document from the room.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Retain any note — they are surrendered at the end of a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How you are assessed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And what a pass actually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33018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0E7C7B"/>
                </a:solidFill>
                <a:latin typeface="Cambria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10128"/>
            <a:ext cx="33018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0375C"/>
                </a:solidFill>
                <a:latin typeface="Calibri"/>
              </a:rPr>
              <a:t>Written assessment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Multiple choice, short answer and one problem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4898" y="2286000"/>
            <a:ext cx="33018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0E7C7B"/>
                </a:solidFill>
                <a:latin typeface="Cambria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4898" y="3310128"/>
            <a:ext cx="33018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0375C"/>
                </a:solidFill>
                <a:latin typeface="Calibri"/>
              </a:rPr>
              <a:t>Assessed simulation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A 90-minute mediation on day 5, scored by a trained assessor against a published rubric.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2556" y="2286000"/>
            <a:ext cx="33018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5400" b="1" i="0">
                <a:solidFill>
                  <a:srgbClr val="0E7C7B"/>
                </a:solidFill>
                <a:latin typeface="Cambria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2556" y="3310128"/>
            <a:ext cx="330189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1" i="0">
                <a:solidFill>
                  <a:srgbClr val="10375C"/>
                </a:solidFill>
                <a:latin typeface="Calibri"/>
              </a:rPr>
              <a:t>Viva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Ten minutes on your reflective log and two ethical scenarios.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Pass: 50% aggregate AND not less than 50% in the assessed simulation. You can pass the written paper and fail the course — competence in the room is the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The reflective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Assessed, and the part people say they kept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0375C"/>
                </a:solidFill>
                <a:latin typeface="Cambria"/>
              </a:rPr>
              <a:t>Write about what you did, not what you learned in the abstract.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200400"/>
            <a:ext cx="5135727" cy="173736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529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Worth writing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133087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'I asked a closed question three times and got nothing. When I finally asked an open one, she told me the real problem.'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200400"/>
            <a:ext cx="5135727" cy="173736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44487" y="3529584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0375C"/>
                </a:solidFill>
                <a:latin typeface="Cambria"/>
              </a:rPr>
              <a:t>Not worth 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133087"/>
            <a:ext cx="44042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'I learned the importance of open questions.'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Five prompts at the end of each day. Ten minutes. Do it before you leave the room, not on Sunday night.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comes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For the people who want to go further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240279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224942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Supervised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6592" y="2231136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Co-mediation under a qualified neutral, logged and countersigned. This is the bridge to everything else.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06324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20040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320954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The advanced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191256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20 hours, after supervised practice. A reflective portfolio and an assessed live simulation. Deliberately harder — the pass rate is not 100%.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2336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416052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4169663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Internship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4151376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A structured placement with defined learning outcomes and a named supervisor. Apply through your institution.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983480"/>
            <a:ext cx="10637215" cy="15875"/>
          </a:xfrm>
          <a:prstGeom prst="rect">
            <a:avLst/>
          </a:prstGeom>
          <a:solidFill>
            <a:srgbClr val="C9D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5120640"/>
            <a:ext cx="420624" cy="420624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1297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375C"/>
                </a:solidFill>
                <a:latin typeface="Cambria"/>
              </a:rPr>
              <a:t>Empanelment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6592" y="5111496"/>
            <a:ext cx="6357823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A5A5A"/>
                </a:solidFill>
                <a:latin typeface="Calibri"/>
              </a:rPr>
              <a:t>Consideration for the panel of neutrals, after the advanced programme.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0375C"/>
                </a:solidFill>
                <a:latin typeface="Cambria"/>
              </a:rPr>
              <a:t>What this certificate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98448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A5A5A"/>
                </a:solidFill>
                <a:latin typeface="Calibri"/>
              </a:rPr>
              <a:t>Stated plainly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0607040" cy="1920240"/>
          </a:xfrm>
          <a:prstGeom prst="roundRect">
            <a:avLst>
              <a:gd name="adj" fmla="val 6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46888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 i="0">
                <a:solidFill>
                  <a:srgbClr val="10375C"/>
                </a:solidFill>
                <a:latin typeface="Calibri"/>
              </a:rPr>
              <a:t>It evidences completion of training and assessment conducted by Equator ADR Institute. It is not a degree or diploma and it is not a statutory qualification.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5A5A"/>
                </a:solidFill>
                <a:latin typeface="Calibri"/>
              </a:rPr>
              <a:t>The Mediation Council of India contemplated by the Mediation Act, 2023 is not yet constituted, and no body in India currently issues a statutorily recognised mediator certification.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0" i="1">
                <a:solidFill>
                  <a:srgbClr val="5A5A5A"/>
                </a:solidFill>
                <a:latin typeface="Calibri"/>
              </a:rPr>
              <a:t>This programme is designed in line with prevailing court-annexed training norms of 40 hours basic and 20 hours advanced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37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Before we start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331720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2350008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Sign the confidentiality undertaking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It is in your pack. We will collect them in ten minutes.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264408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3282696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Write your name on the card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Large enough to read from across the room.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4197096"/>
            <a:ext cx="475488" cy="475488"/>
          </a:xfrm>
          <a:prstGeom prst="ellipse">
            <a:avLst/>
          </a:prstGeom>
          <a:solidFill>
            <a:srgbClr val="C887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0A243D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4215383"/>
            <a:ext cx="9601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Tell us anything we should know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Accessibility, medical, language, or anything that would make this week harder. Privately, at any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350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9D6DE"/>
                </a:solidFill>
                <a:latin typeface="Calibri"/>
              </a:rPr>
              <a:t>Anything that makes you uncomfortable this week — tell the trainer, or contact [●]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D5D88ED318E546B0BAD9611B3061C9" ma:contentTypeVersion="9" ma:contentTypeDescription="Create a new document." ma:contentTypeScope="" ma:versionID="d50db782a5ec69b02a0131a0f200a05c">
  <xsd:schema xmlns:xsd="http://www.w3.org/2001/XMLSchema" xmlns:xs="http://www.w3.org/2001/XMLSchema" xmlns:p="http://schemas.microsoft.com/office/2006/metadata/properties" xmlns:ns2="30dddea4-ca15-4972-99ca-320a89f10386" targetNamespace="http://schemas.microsoft.com/office/2006/metadata/properties" ma:root="true" ma:fieldsID="2e09d9990d161d2f2733b865e15bb167" ns2:_="">
    <xsd:import namespace="30dddea4-ca15-4972-99ca-320a89f1038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ddea4-ca15-4972-99ca-320a89f103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dddea4-ca15-4972-99ca-320a89f1038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0654B1-1C72-4AC1-9E96-C2D87C800FCA}"/>
</file>

<file path=customXml/itemProps2.xml><?xml version="1.0" encoding="utf-8"?>
<ds:datastoreItem xmlns:ds="http://schemas.openxmlformats.org/officeDocument/2006/customXml" ds:itemID="{92948558-B52D-4C87-B914-BD73932CF4AA}"/>
</file>

<file path=customXml/itemProps3.xml><?xml version="1.0" encoding="utf-8"?>
<ds:datastoreItem xmlns:ds="http://schemas.openxmlformats.org/officeDocument/2006/customXml" ds:itemID="{8ADC287B-A39A-44B7-86B9-7C620A94BD76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0x01010053D5D88ED318E546B0BAD9611B3061C9</vt:lpwstr>
  </property>
</Properties>
</file>