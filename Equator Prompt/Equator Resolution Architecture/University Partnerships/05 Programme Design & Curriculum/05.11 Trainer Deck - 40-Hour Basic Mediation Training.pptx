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slides/slide2.xml" ContentType="application/vnd.openxmlformats-officedocument.presentationml.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10.xml" ContentType="application/vnd.openxmlformats-officedocument.presentationml.slide+xml"/>
  <Override PartName="/ppt/notesSlides/notesSlide9.xml" ContentType="application/vnd.openxmlformats-officedocument.presentationml.notesSlide+xml"/>
  <Override PartName="/ppt/slides/slide11.xml" ContentType="application/vnd.openxmlformats-officedocument.presentationml.slide+xml"/>
  <Override PartName="/ppt/notesSlides/notesSlide10.xml" ContentType="application/vnd.openxmlformats-officedocument.presentationml.notes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Slides/notesSlide11.xml" ContentType="application/vnd.openxmlformats-officedocument.presentationml.notesSlide+xml"/>
  <Override PartName="/ppt/slides/slide15.xml" ContentType="application/vnd.openxmlformats-officedocument.presentationml.slide+xml"/>
  <Override PartName="/ppt/notesSlides/notesSlide12.xml" ContentType="application/vnd.openxmlformats-officedocument.presentationml.notesSlide+xml"/>
  <Override PartName="/ppt/slides/slide16.xml" ContentType="application/vnd.openxmlformats-officedocument.presentationml.slide+xml"/>
  <Override PartName="/ppt/notesSlides/notesSlide13.xml" ContentType="application/vnd.openxmlformats-officedocument.presentationml.notesSlide+xml"/>
  <Override PartName="/ppt/slides/slide17.xml" ContentType="application/vnd.openxmlformats-officedocument.presentationml.slide+xml"/>
  <Override PartName="/ppt/notesSlides/notesSlide14.xml" ContentType="application/vnd.openxmlformats-officedocument.presentationml.notesSlide+xml"/>
  <Override PartName="/ppt/slides/slide18.xml" ContentType="application/vnd.openxmlformats-officedocument.presentationml.slide+xml"/>
  <Override PartName="/ppt/notesSlides/notesSlide15.xml" ContentType="application/vnd.openxmlformats-officedocument.presentationml.notes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Slides/notesSlide16.xml" ContentType="application/vnd.openxmlformats-officedocument.presentationml.notesSlide+xml"/>
  <Override PartName="/ppt/slides/slide23.xml" ContentType="application/vnd.openxmlformats-officedocument.presentationml.slide+xml"/>
  <Override PartName="/ppt/slides/slide24.xml" ContentType="application/vnd.openxmlformats-officedocument.presentationml.slide+xml"/>
  <Override PartName="/ppt/notesSlides/notesSlide17.xml" ContentType="application/vnd.openxmlformats-officedocument.presentationml.notesSlide+xml"/>
  <Override PartName="/ppt/slides/slide25.xml" ContentType="application/vnd.openxmlformats-officedocument.presentationml.slide+xml"/>
  <Override PartName="/ppt/notesSlides/notesSlide18.xml" ContentType="application/vnd.openxmlformats-officedocument.presentationml.notesSlide+xml"/>
  <Override PartName="/ppt/slides/slide26.xml" ContentType="application/vnd.openxmlformats-officedocument.presentationml.slide+xml"/>
  <Override PartName="/ppt/slides/slide27.xml" ContentType="application/vnd.openxmlformats-officedocument.presentationml.slide+xml"/>
  <Override PartName="/ppt/notesSlides/notesSlide19.xml" ContentType="application/vnd.openxmlformats-officedocument.presentationml.notes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Slides/notesSlide20.xml" ContentType="application/vnd.openxmlformats-officedocument.presentationml.notes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7" Type="http://schemas.openxmlformats.org/officeDocument/2006/relationships/slide" Target="slides/slide1.xml"/><Relationship Id="rId2" Type="http://schemas.openxmlformats.org/officeDocument/2006/relationships/printerSettings" Target="printerSettings/printerSettings1.bin"/><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slideMaster" Target="slideMasters/slideMaster1.xml"/><Relationship Id="rId6" Type="http://schemas.openxmlformats.org/officeDocument/2006/relationships/tableStyles" Target="tableStyles.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customXml" Target="../customXml/item2.xml"/><Relationship Id="rId5" Type="http://schemas.openxmlformats.org/officeDocument/2006/relationships/theme" Target="theme/theme1.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customXml" Target="../customXml/item1.xml"/><Relationship Id="rId4" Type="http://schemas.openxmlformats.org/officeDocument/2006/relationships/viewProps" Target="viewProps.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8" Type="http://schemas.openxmlformats.org/officeDocument/2006/relationships/notesMaster" Target="notesMasters/notesMaster1.xml"/><Relationship Id="rId3" Type="http://schemas.openxmlformats.org/officeDocument/2006/relationships/presProps" Target="presProps.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customXml" Target="../customXml/item3.xml"/><Relationship Id="rId20" Type="http://schemas.openxmlformats.org/officeDocument/2006/relationships/slide" Target="slides/slide1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BEFORE USE. These slides are a spine, not a script. The one-third rule governs: not more than a third of contact time is you talking. Every slide here should take 3-6 minutes, not 12. Where a slide has a drill or exercise, run it — do not describe it. Delete slides you do not need. Never add a slide that replaces practice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is the most input-heavy day of the week and it is still 40% practice. Get them mediating by 16:45.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think of a dispute you have watched escalate. At which stage did it stop being about the thing? Take two answers, no more.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column that matters is 'control of outcome'. Everything else follows from it. 4 minutes.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slide. Pick the enforceability point and the recording prohibition and explain what each means for how they will actually work. 8 minutes.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your client wants to sue on Wednesday for Rs 2.4 crore. What do you establish first? Take three answers. This is the moment most of the room realises the subject is not optional.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the exception, verbally: where you learn of a risk of serious harm, the obligation to protect prevails, and you say so at the outset. Give them the form of words from T-1.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DRILL, 6 minutes. In caucus a party says: I would take Rs 8 lakh but I have not told them. You return to joint session and the other side asks — have they moved? In pairs, say the actual words out loud. Then take three versions and critique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hardest version: a party is about to accept an offer you think is poor. Your job is to ensure they have understood their alternatives, then let them decide. Ask the room how that feels. It should feel uncomfortable.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party who feels unheard at stage 3 will drag you back from stage 7. Go with them. Then run the fishbowl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DRILL 8 minutes. In threes: speaker talks 90 seconds about a real minor frustration; listener may only paraphrase; observer counts how many times the listener offers a solution. Rotate. Debrief: almost everyone solves.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DRILL 10 minutes. Give each pair a one-line fact pattern. Listener may ask only open questions for three minutes. Then only closed. Compare what each produced.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DRILL. Three lines on the flip chart, participants write reframes individually, then read out. Critique the dismissive ones hard — 'so there was a misunderstanding' is the single most common failure.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give them the four questions. Write them on the flip chart and leave them up for the rest of the week.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them write these in the workbook now. Then Simulation 2 — full opening and information-gathering phase on S-02, observers scoring.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the worksheet in the workbook, T-2. Have them complete it for the simulation they are about to run, for BOTH parties, before they start.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practically useful slide in the week. Tell them to photograph it. Every simulation from here on, ask in the debrief: which currencies did you put on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distinction is who reaches the conclusion. A party who works it out will move. A party who is told will dig in. Have them convert three more directing statements in pairs.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commonest beginner error is reaching for a technique before diagnosing. Ask the room: in the simulation yesterday, what was actually blocking it? Most will say the number. It almost never is.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Groups of four, 20 minutes, one dilemma each, then report. Do not give answers first. The answers are in Module 11 of the workbook and should be read afterwards, not before.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7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965960"/>
            <a:ext cx="10332720" cy="365760"/>
          </a:xfrm>
          <a:prstGeom prst="rect">
            <a:avLst/>
          </a:prstGeom>
          <a:noFill/>
        </p:spPr>
        <p:txBody>
          <a:bodyPr wrap="square" lIns="0" rIns="0" tIns="0" bIns="0" anchor="t">
            <a:spAutoFit/>
          </a:bodyPr>
          <a:lstStyle/>
          <a:p>
            <a:pPr algn="l">
              <a:spcBef>
                <a:spcPts val="0"/>
              </a:spcBef>
              <a:spcAft>
                <a:spcPts val="0"/>
              </a:spcAft>
            </a:pPr>
            <a:r>
              <a:rPr sz="1200" b="1" i="0">
                <a:solidFill>
                  <a:srgbClr val="C8873C"/>
                </a:solidFill>
                <a:latin typeface="Calibri"/>
              </a:rPr>
              <a:t>EQUATOR ADR INSTITUTE  ·  TRAINER DECK</a:t>
            </a:r>
          </a:p>
        </p:txBody>
      </p:sp>
      <p:sp>
        <p:nvSpPr>
          <p:cNvPr id="4" name="TextBox 3"/>
          <p:cNvSpPr txBox="1"/>
          <p:nvPr/>
        </p:nvSpPr>
        <p:spPr>
          <a:xfrm>
            <a:off x="914400" y="2514600"/>
            <a:ext cx="10058400" cy="1828800"/>
          </a:xfrm>
          <a:prstGeom prst="rect">
            <a:avLst/>
          </a:prstGeom>
          <a:noFill/>
        </p:spPr>
        <p:txBody>
          <a:bodyPr wrap="square" lIns="0" rIns="0" tIns="0" bIns="0" anchor="t">
            <a:spAutoFit/>
          </a:bodyPr>
          <a:lstStyle/>
          <a:p>
            <a:pPr algn="l">
              <a:lnSpc>
                <a:spcPct val="100000"/>
              </a:lnSpc>
              <a:spcBef>
                <a:spcPts val="0"/>
              </a:spcBef>
              <a:spcAft>
                <a:spcPts val="1000"/>
              </a:spcAft>
            </a:pPr>
            <a:r>
              <a:rPr sz="4200" b="1" i="0">
                <a:solidFill>
                  <a:srgbClr val="FFFFFF"/>
                </a:solidFill>
                <a:latin typeface="Cambria"/>
              </a:rPr>
              <a:t>Basic Mediation Training
40 hours</a:t>
            </a:r>
          </a:p>
        </p:txBody>
      </p:sp>
      <p:sp>
        <p:nvSpPr>
          <p:cNvPr id="5" name="TextBox 4"/>
          <p:cNvSpPr txBox="1"/>
          <p:nvPr/>
        </p:nvSpPr>
        <p:spPr>
          <a:xfrm>
            <a:off x="914400" y="4343400"/>
            <a:ext cx="8778240" cy="914400"/>
          </a:xfrm>
          <a:prstGeom prst="rect">
            <a:avLst/>
          </a:prstGeom>
          <a:noFill/>
        </p:spPr>
        <p:txBody>
          <a:bodyPr wrap="square" lIns="0" rIns="0" tIns="0" bIns="0" anchor="t">
            <a:spAutoFit/>
          </a:bodyPr>
          <a:lstStyle/>
          <a:p>
            <a:pPr algn="l">
              <a:lnSpc>
                <a:spcPct val="125000"/>
              </a:lnSpc>
              <a:spcBef>
                <a:spcPts val="0"/>
              </a:spcBef>
              <a:spcAft>
                <a:spcPts val="600"/>
              </a:spcAft>
            </a:pPr>
            <a:r>
              <a:rPr sz="1600" b="0" i="0">
                <a:solidFill>
                  <a:srgbClr val="C9D6DE"/>
                </a:solidFill>
                <a:latin typeface="Calibri"/>
              </a:rPr>
              <a:t>Teaching slides for the five-day programme. Speaker notes carry the trainer instructions.</a:t>
            </a:r>
          </a:p>
        </p:txBody>
      </p:sp>
      <p:sp>
        <p:nvSpPr>
          <p:cNvPr id="6" name="TextBox 5"/>
          <p:cNvSpPr txBox="1"/>
          <p:nvPr/>
        </p:nvSpPr>
        <p:spPr>
          <a:xfrm>
            <a:off x="914400" y="5989320"/>
            <a:ext cx="10332720" cy="365760"/>
          </a:xfrm>
          <a:prstGeom prst="rect">
            <a:avLst/>
          </a:prstGeom>
          <a:noFill/>
        </p:spPr>
        <p:txBody>
          <a:bodyPr wrap="square" lIns="0" rIns="0" tIns="0" bIns="0" anchor="t">
            <a:spAutoFit/>
          </a:bodyPr>
          <a:lstStyle/>
          <a:p>
            <a:pPr algn="l">
              <a:spcBef>
                <a:spcPts val="0"/>
              </a:spcBef>
              <a:spcAft>
                <a:spcPts val="600"/>
              </a:spcAft>
            </a:pPr>
            <a:r>
              <a:rPr sz="1050" b="0" i="0">
                <a:solidFill>
                  <a:srgbClr val="C9D6DE"/>
                </a:solidFill>
                <a:latin typeface="Calibri"/>
              </a:rPr>
              <a:t>Certified trainers only  ·  Not for participant circulation  ·  EQ-UAP-115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How to use this deck</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Four rules</a:t>
            </a:r>
          </a:p>
        </p:txBody>
      </p:sp>
      <p:sp>
        <p:nvSpPr>
          <p:cNvPr id="5" name="Oval 4"/>
          <p:cNvSpPr/>
          <p:nvPr/>
        </p:nvSpPr>
        <p:spPr>
          <a:xfrm>
            <a:off x="777240" y="2148839"/>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Cambria"/>
              </a:rPr>
              <a:t>1</a:t>
            </a:r>
          </a:p>
        </p:txBody>
      </p:sp>
      <p:sp>
        <p:nvSpPr>
          <p:cNvPr id="6" name="TextBox 5"/>
          <p:cNvSpPr txBox="1"/>
          <p:nvPr/>
        </p:nvSpPr>
        <p:spPr>
          <a:xfrm>
            <a:off x="1399032" y="2157984"/>
            <a:ext cx="3017520" cy="457200"/>
          </a:xfrm>
          <a:prstGeom prst="rect">
            <a:avLst/>
          </a:prstGeom>
          <a:noFill/>
        </p:spPr>
        <p:txBody>
          <a:bodyPr wrap="square" lIns="0" rIns="0" tIns="0" bIns="0" anchor="t">
            <a:spAutoFit/>
          </a:bodyPr>
          <a:lstStyle/>
          <a:p>
            <a:pPr algn="l">
              <a:lnSpc>
                <a:spcPct val="105000"/>
              </a:lnSpc>
              <a:spcBef>
                <a:spcPts val="0"/>
              </a:spcBef>
              <a:spcAft>
                <a:spcPts val="600"/>
              </a:spcAft>
            </a:pPr>
            <a:r>
              <a:rPr sz="1400" b="1" i="0">
                <a:solidFill>
                  <a:srgbClr val="10375C"/>
                </a:solidFill>
                <a:latin typeface="Cambria"/>
              </a:rPr>
              <a:t>The one-third rule</a:t>
            </a:r>
          </a:p>
        </p:txBody>
      </p:sp>
      <p:sp>
        <p:nvSpPr>
          <p:cNvPr id="7" name="TextBox 6"/>
          <p:cNvSpPr txBox="1"/>
          <p:nvPr/>
        </p:nvSpPr>
        <p:spPr>
          <a:xfrm>
            <a:off x="4645152" y="2139696"/>
            <a:ext cx="6449263" cy="658368"/>
          </a:xfrm>
          <a:prstGeom prst="rect">
            <a:avLst/>
          </a:prstGeom>
          <a:noFill/>
        </p:spPr>
        <p:txBody>
          <a:bodyPr wrap="square" lIns="0" rIns="0" tIns="0" bIns="0" anchor="t">
            <a:spAutoFit/>
          </a:bodyPr>
          <a:lstStyle/>
          <a:p>
            <a:pPr algn="l">
              <a:lnSpc>
                <a:spcPct val="120000"/>
              </a:lnSpc>
              <a:spcBef>
                <a:spcPts val="0"/>
              </a:spcBef>
              <a:spcAft>
                <a:spcPts val="600"/>
              </a:spcAft>
            </a:pPr>
            <a:r>
              <a:rPr sz="1250" b="0" i="0">
                <a:solidFill>
                  <a:srgbClr val="5A5A5A"/>
                </a:solidFill>
                <a:latin typeface="Calibri"/>
              </a:rPr>
              <a:t>Not more than one third of contact time is input. If a session plan says 45 minutes, it means 45 — running to 70 is a failure of preparation, not thoroughness.</a:t>
            </a:r>
          </a:p>
        </p:txBody>
      </p:sp>
      <p:sp>
        <p:nvSpPr>
          <p:cNvPr id="8" name="Rectangle 7"/>
          <p:cNvSpPr/>
          <p:nvPr/>
        </p:nvSpPr>
        <p:spPr>
          <a:xfrm>
            <a:off x="777240" y="2971799"/>
            <a:ext cx="10637215" cy="15875"/>
          </a:xfrm>
          <a:prstGeom prst="rect">
            <a:avLst/>
          </a:prstGeom>
          <a:solidFill>
            <a:srgbClr val="C9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77240" y="3108959"/>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Cambria"/>
              </a:rPr>
              <a:t>2</a:t>
            </a:r>
          </a:p>
        </p:txBody>
      </p:sp>
      <p:sp>
        <p:nvSpPr>
          <p:cNvPr id="10" name="TextBox 9"/>
          <p:cNvSpPr txBox="1"/>
          <p:nvPr/>
        </p:nvSpPr>
        <p:spPr>
          <a:xfrm>
            <a:off x="1399032" y="3118103"/>
            <a:ext cx="3017520" cy="457200"/>
          </a:xfrm>
          <a:prstGeom prst="rect">
            <a:avLst/>
          </a:prstGeom>
          <a:noFill/>
        </p:spPr>
        <p:txBody>
          <a:bodyPr wrap="square" lIns="0" rIns="0" tIns="0" bIns="0" anchor="t">
            <a:spAutoFit/>
          </a:bodyPr>
          <a:lstStyle/>
          <a:p>
            <a:pPr algn="l">
              <a:lnSpc>
                <a:spcPct val="105000"/>
              </a:lnSpc>
              <a:spcBef>
                <a:spcPts val="0"/>
              </a:spcBef>
              <a:spcAft>
                <a:spcPts val="600"/>
              </a:spcAft>
            </a:pPr>
            <a:r>
              <a:rPr sz="1400" b="1" i="0">
                <a:solidFill>
                  <a:srgbClr val="10375C"/>
                </a:solidFill>
                <a:latin typeface="Cambria"/>
              </a:rPr>
              <a:t>Slides support, they do not lead</a:t>
            </a:r>
          </a:p>
        </p:txBody>
      </p:sp>
      <p:sp>
        <p:nvSpPr>
          <p:cNvPr id="11" name="TextBox 10"/>
          <p:cNvSpPr txBox="1"/>
          <p:nvPr/>
        </p:nvSpPr>
        <p:spPr>
          <a:xfrm>
            <a:off x="4645152" y="3099815"/>
            <a:ext cx="6449263" cy="658368"/>
          </a:xfrm>
          <a:prstGeom prst="rect">
            <a:avLst/>
          </a:prstGeom>
          <a:noFill/>
        </p:spPr>
        <p:txBody>
          <a:bodyPr wrap="square" lIns="0" rIns="0" tIns="0" bIns="0" anchor="t">
            <a:spAutoFit/>
          </a:bodyPr>
          <a:lstStyle/>
          <a:p>
            <a:pPr algn="l">
              <a:lnSpc>
                <a:spcPct val="120000"/>
              </a:lnSpc>
              <a:spcBef>
                <a:spcPts val="0"/>
              </a:spcBef>
              <a:spcAft>
                <a:spcPts val="600"/>
              </a:spcAft>
            </a:pPr>
            <a:r>
              <a:rPr sz="1250" b="0" i="0">
                <a:solidFill>
                  <a:srgbClr val="5A5A5A"/>
                </a:solidFill>
                <a:latin typeface="Calibri"/>
              </a:rPr>
              <a:t>If a slide is on screen for more than six minutes you have stopped teaching and started presenting.</a:t>
            </a:r>
          </a:p>
        </p:txBody>
      </p:sp>
      <p:sp>
        <p:nvSpPr>
          <p:cNvPr id="12" name="Rectangle 11"/>
          <p:cNvSpPr/>
          <p:nvPr/>
        </p:nvSpPr>
        <p:spPr>
          <a:xfrm>
            <a:off x="777240" y="3931920"/>
            <a:ext cx="10637215" cy="15875"/>
          </a:xfrm>
          <a:prstGeom prst="rect">
            <a:avLst/>
          </a:prstGeom>
          <a:solidFill>
            <a:srgbClr val="C9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77240" y="4069080"/>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Cambria"/>
              </a:rPr>
              <a:t>3</a:t>
            </a:r>
          </a:p>
        </p:txBody>
      </p:sp>
      <p:sp>
        <p:nvSpPr>
          <p:cNvPr id="14" name="TextBox 13"/>
          <p:cNvSpPr txBox="1"/>
          <p:nvPr/>
        </p:nvSpPr>
        <p:spPr>
          <a:xfrm>
            <a:off x="1399032" y="4078224"/>
            <a:ext cx="3017520" cy="457200"/>
          </a:xfrm>
          <a:prstGeom prst="rect">
            <a:avLst/>
          </a:prstGeom>
          <a:noFill/>
        </p:spPr>
        <p:txBody>
          <a:bodyPr wrap="square" lIns="0" rIns="0" tIns="0" bIns="0" anchor="t">
            <a:spAutoFit/>
          </a:bodyPr>
          <a:lstStyle/>
          <a:p>
            <a:pPr algn="l">
              <a:lnSpc>
                <a:spcPct val="105000"/>
              </a:lnSpc>
              <a:spcBef>
                <a:spcPts val="0"/>
              </a:spcBef>
              <a:spcAft>
                <a:spcPts val="600"/>
              </a:spcAft>
            </a:pPr>
            <a:r>
              <a:rPr sz="1400" b="1" i="0">
                <a:solidFill>
                  <a:srgbClr val="10375C"/>
                </a:solidFill>
                <a:latin typeface="Cambria"/>
              </a:rPr>
              <a:t>Run the drill</a:t>
            </a:r>
          </a:p>
        </p:txBody>
      </p:sp>
      <p:sp>
        <p:nvSpPr>
          <p:cNvPr id="15" name="TextBox 14"/>
          <p:cNvSpPr txBox="1"/>
          <p:nvPr/>
        </p:nvSpPr>
        <p:spPr>
          <a:xfrm>
            <a:off x="4645152" y="4059936"/>
            <a:ext cx="6449263" cy="658368"/>
          </a:xfrm>
          <a:prstGeom prst="rect">
            <a:avLst/>
          </a:prstGeom>
          <a:noFill/>
        </p:spPr>
        <p:txBody>
          <a:bodyPr wrap="square" lIns="0" rIns="0" tIns="0" bIns="0" anchor="t">
            <a:spAutoFit/>
          </a:bodyPr>
          <a:lstStyle/>
          <a:p>
            <a:pPr algn="l">
              <a:lnSpc>
                <a:spcPct val="120000"/>
              </a:lnSpc>
              <a:spcBef>
                <a:spcPts val="0"/>
              </a:spcBef>
              <a:spcAft>
                <a:spcPts val="600"/>
              </a:spcAft>
            </a:pPr>
            <a:r>
              <a:rPr sz="1250" b="0" i="0">
                <a:solidFill>
                  <a:srgbClr val="5A5A5A"/>
                </a:solidFill>
                <a:latin typeface="Calibri"/>
              </a:rPr>
              <a:t>Every slide marked DRILL has an exercise in the notes. Run it. Do not describe it and move on.</a:t>
            </a:r>
          </a:p>
        </p:txBody>
      </p:sp>
      <p:sp>
        <p:nvSpPr>
          <p:cNvPr id="16" name="Rectangle 15"/>
          <p:cNvSpPr/>
          <p:nvPr/>
        </p:nvSpPr>
        <p:spPr>
          <a:xfrm>
            <a:off x="777240" y="4892040"/>
            <a:ext cx="10637215" cy="15875"/>
          </a:xfrm>
          <a:prstGeom prst="rect">
            <a:avLst/>
          </a:prstGeom>
          <a:solidFill>
            <a:srgbClr val="C9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77240" y="5029200"/>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Cambria"/>
              </a:rPr>
              <a:t>4</a:t>
            </a:r>
          </a:p>
        </p:txBody>
      </p:sp>
      <p:sp>
        <p:nvSpPr>
          <p:cNvPr id="18" name="TextBox 17"/>
          <p:cNvSpPr txBox="1"/>
          <p:nvPr/>
        </p:nvSpPr>
        <p:spPr>
          <a:xfrm>
            <a:off x="1399032" y="5038344"/>
            <a:ext cx="3017520" cy="457200"/>
          </a:xfrm>
          <a:prstGeom prst="rect">
            <a:avLst/>
          </a:prstGeom>
          <a:noFill/>
        </p:spPr>
        <p:txBody>
          <a:bodyPr wrap="square" lIns="0" rIns="0" tIns="0" bIns="0" anchor="t">
            <a:spAutoFit/>
          </a:bodyPr>
          <a:lstStyle/>
          <a:p>
            <a:pPr algn="l">
              <a:lnSpc>
                <a:spcPct val="105000"/>
              </a:lnSpc>
              <a:spcBef>
                <a:spcPts val="0"/>
              </a:spcBef>
              <a:spcAft>
                <a:spcPts val="600"/>
              </a:spcAft>
            </a:pPr>
            <a:r>
              <a:rPr sz="1400" b="1" i="0">
                <a:solidFill>
                  <a:srgbClr val="10375C"/>
                </a:solidFill>
                <a:latin typeface="Cambria"/>
              </a:rPr>
              <a:t>The debrief is the teaching</a:t>
            </a:r>
          </a:p>
        </p:txBody>
      </p:sp>
      <p:sp>
        <p:nvSpPr>
          <p:cNvPr id="19" name="TextBox 18"/>
          <p:cNvSpPr txBox="1"/>
          <p:nvPr/>
        </p:nvSpPr>
        <p:spPr>
          <a:xfrm>
            <a:off x="4645152" y="5020056"/>
            <a:ext cx="6449263" cy="658368"/>
          </a:xfrm>
          <a:prstGeom prst="rect">
            <a:avLst/>
          </a:prstGeom>
          <a:noFill/>
        </p:spPr>
        <p:txBody>
          <a:bodyPr wrap="square" lIns="0" rIns="0" tIns="0" bIns="0" anchor="t">
            <a:spAutoFit/>
          </a:bodyPr>
          <a:lstStyle/>
          <a:p>
            <a:pPr algn="l">
              <a:lnSpc>
                <a:spcPct val="120000"/>
              </a:lnSpc>
              <a:spcBef>
                <a:spcPts val="0"/>
              </a:spcBef>
              <a:spcAft>
                <a:spcPts val="600"/>
              </a:spcAft>
            </a:pPr>
            <a:r>
              <a:rPr sz="1250" b="0" i="0">
                <a:solidFill>
                  <a:srgbClr val="5A5A5A"/>
                </a:solidFill>
                <a:latin typeface="Calibri"/>
              </a:rPr>
              <a:t>A 90-minute simulation needs a 45-minute debrief. Protect it. Better to run one simulation properly than two badly.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2331720"/>
            <a:ext cx="868680" cy="868680"/>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600" b="1">
                <a:solidFill>
                  <a:srgbClr val="FFFFFF"/>
                </a:solidFill>
                <a:latin typeface="Cambria"/>
              </a:rPr>
              <a:t>1</a:t>
            </a:r>
          </a:p>
        </p:txBody>
      </p:sp>
      <p:sp>
        <p:nvSpPr>
          <p:cNvPr id="4" name="TextBox 3"/>
          <p:cNvSpPr txBox="1"/>
          <p:nvPr/>
        </p:nvSpPr>
        <p:spPr>
          <a:xfrm>
            <a:off x="2148840" y="2395728"/>
            <a:ext cx="8961120" cy="1280160"/>
          </a:xfrm>
          <a:prstGeom prst="rect">
            <a:avLst/>
          </a:prstGeom>
          <a:noFill/>
        </p:spPr>
        <p:txBody>
          <a:bodyPr wrap="square" lIns="0" rIns="0" tIns="0" bIns="0" anchor="t">
            <a:spAutoFit/>
          </a:bodyPr>
          <a:lstStyle/>
          <a:p>
            <a:pPr algn="l">
              <a:lnSpc>
                <a:spcPct val="100000"/>
              </a:lnSpc>
              <a:spcBef>
                <a:spcPts val="0"/>
              </a:spcBef>
              <a:spcAft>
                <a:spcPts val="800"/>
              </a:spcAft>
            </a:pPr>
            <a:r>
              <a:rPr sz="3400" b="1" i="0">
                <a:solidFill>
                  <a:srgbClr val="FFFFFF"/>
                </a:solidFill>
                <a:latin typeface="Cambria"/>
              </a:rPr>
              <a:t>Foundations, framework and the mediator's role</a:t>
            </a:r>
          </a:p>
          <a:p>
            <a:pPr algn="l">
              <a:lnSpc>
                <a:spcPct val="125000"/>
              </a:lnSpc>
              <a:spcBef>
                <a:spcPts val="0"/>
              </a:spcBef>
              <a:spcAft>
                <a:spcPts val="600"/>
              </a:spcAft>
            </a:pPr>
            <a:r>
              <a:rPr sz="1500" b="0" i="0">
                <a:solidFill>
                  <a:srgbClr val="C9D6DE"/>
                </a:solidFill>
                <a:latin typeface="Calibri"/>
              </a:rPr>
              <a:t>Day 1  ·  8 hours  ·  60% input, 40% practice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Why disputes escalate</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Rarely because of the facts — because of what people conclude from them</a:t>
            </a:r>
          </a:p>
        </p:txBody>
      </p:sp>
      <p:sp>
        <p:nvSpPr>
          <p:cNvPr id="5" name="Oval 4"/>
          <p:cNvSpPr/>
          <p:nvPr/>
        </p:nvSpPr>
        <p:spPr>
          <a:xfrm>
            <a:off x="777240" y="2011679"/>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Cambria"/>
              </a:rPr>
              <a:t>1</a:t>
            </a:r>
          </a:p>
        </p:txBody>
      </p:sp>
      <p:sp>
        <p:nvSpPr>
          <p:cNvPr id="6" name="TextBox 5"/>
          <p:cNvSpPr txBox="1"/>
          <p:nvPr/>
        </p:nvSpPr>
        <p:spPr>
          <a:xfrm>
            <a:off x="1399032" y="2020824"/>
            <a:ext cx="2377440" cy="457200"/>
          </a:xfrm>
          <a:prstGeom prst="rect">
            <a:avLst/>
          </a:prstGeom>
          <a:noFill/>
        </p:spPr>
        <p:txBody>
          <a:bodyPr wrap="square" lIns="0" rIns="0" tIns="0" bIns="0" anchor="t">
            <a:spAutoFit/>
          </a:bodyPr>
          <a:lstStyle/>
          <a:p>
            <a:pPr algn="l">
              <a:lnSpc>
                <a:spcPct val="105000"/>
              </a:lnSpc>
              <a:spcBef>
                <a:spcPts val="0"/>
              </a:spcBef>
              <a:spcAft>
                <a:spcPts val="600"/>
              </a:spcAft>
            </a:pPr>
            <a:r>
              <a:rPr sz="1400" b="1" i="0">
                <a:solidFill>
                  <a:srgbClr val="10375C"/>
                </a:solidFill>
                <a:latin typeface="Cambria"/>
              </a:rPr>
              <a:t>Disagreement</a:t>
            </a:r>
          </a:p>
        </p:txBody>
      </p:sp>
      <p:sp>
        <p:nvSpPr>
          <p:cNvPr id="7" name="TextBox 6"/>
          <p:cNvSpPr txBox="1"/>
          <p:nvPr/>
        </p:nvSpPr>
        <p:spPr>
          <a:xfrm>
            <a:off x="4005072" y="2002536"/>
            <a:ext cx="7089343" cy="658368"/>
          </a:xfrm>
          <a:prstGeom prst="rect">
            <a:avLst/>
          </a:prstGeom>
          <a:noFill/>
        </p:spPr>
        <p:txBody>
          <a:bodyPr wrap="square" lIns="0" rIns="0" tIns="0" bIns="0" anchor="t">
            <a:spAutoFit/>
          </a:bodyPr>
          <a:lstStyle/>
          <a:p>
            <a:pPr algn="l">
              <a:lnSpc>
                <a:spcPct val="120000"/>
              </a:lnSpc>
              <a:spcBef>
                <a:spcPts val="0"/>
              </a:spcBef>
              <a:spcAft>
                <a:spcPts val="600"/>
              </a:spcAft>
            </a:pPr>
            <a:r>
              <a:rPr sz="1250" b="0" i="0">
                <a:solidFill>
                  <a:srgbClr val="5A5A5A"/>
                </a:solidFill>
                <a:latin typeface="Calibri"/>
              </a:rPr>
              <a:t>A difference emerges. The parties are still talking about the issue.</a:t>
            </a:r>
          </a:p>
        </p:txBody>
      </p:sp>
      <p:sp>
        <p:nvSpPr>
          <p:cNvPr id="8" name="Rectangle 7"/>
          <p:cNvSpPr/>
          <p:nvPr/>
        </p:nvSpPr>
        <p:spPr>
          <a:xfrm>
            <a:off x="777240" y="2660903"/>
            <a:ext cx="10637215" cy="15875"/>
          </a:xfrm>
          <a:prstGeom prst="rect">
            <a:avLst/>
          </a:prstGeom>
          <a:solidFill>
            <a:srgbClr val="C9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77240" y="2798063"/>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Cambria"/>
              </a:rPr>
              <a:t>2</a:t>
            </a:r>
          </a:p>
        </p:txBody>
      </p:sp>
      <p:sp>
        <p:nvSpPr>
          <p:cNvPr id="10" name="TextBox 9"/>
          <p:cNvSpPr txBox="1"/>
          <p:nvPr/>
        </p:nvSpPr>
        <p:spPr>
          <a:xfrm>
            <a:off x="1399032" y="2807208"/>
            <a:ext cx="2377440" cy="457200"/>
          </a:xfrm>
          <a:prstGeom prst="rect">
            <a:avLst/>
          </a:prstGeom>
          <a:noFill/>
        </p:spPr>
        <p:txBody>
          <a:bodyPr wrap="square" lIns="0" rIns="0" tIns="0" bIns="0" anchor="t">
            <a:spAutoFit/>
          </a:bodyPr>
          <a:lstStyle/>
          <a:p>
            <a:pPr algn="l">
              <a:lnSpc>
                <a:spcPct val="105000"/>
              </a:lnSpc>
              <a:spcBef>
                <a:spcPts val="0"/>
              </a:spcBef>
              <a:spcAft>
                <a:spcPts val="600"/>
              </a:spcAft>
            </a:pPr>
            <a:r>
              <a:rPr sz="1400" b="1" i="0">
                <a:solidFill>
                  <a:srgbClr val="10375C"/>
                </a:solidFill>
                <a:latin typeface="Cambria"/>
              </a:rPr>
              <a:t>Positioning</a:t>
            </a:r>
          </a:p>
        </p:txBody>
      </p:sp>
      <p:sp>
        <p:nvSpPr>
          <p:cNvPr id="11" name="TextBox 10"/>
          <p:cNvSpPr txBox="1"/>
          <p:nvPr/>
        </p:nvSpPr>
        <p:spPr>
          <a:xfrm>
            <a:off x="4005072" y="2788920"/>
            <a:ext cx="7089343" cy="658368"/>
          </a:xfrm>
          <a:prstGeom prst="rect">
            <a:avLst/>
          </a:prstGeom>
          <a:noFill/>
        </p:spPr>
        <p:txBody>
          <a:bodyPr wrap="square" lIns="0" rIns="0" tIns="0" bIns="0" anchor="t">
            <a:spAutoFit/>
          </a:bodyPr>
          <a:lstStyle/>
          <a:p>
            <a:pPr algn="l">
              <a:lnSpc>
                <a:spcPct val="120000"/>
              </a:lnSpc>
              <a:spcBef>
                <a:spcPts val="0"/>
              </a:spcBef>
              <a:spcAft>
                <a:spcPts val="600"/>
              </a:spcAft>
            </a:pPr>
            <a:r>
              <a:rPr sz="1250" b="0" i="0">
                <a:solidFill>
                  <a:srgbClr val="5A5A5A"/>
                </a:solidFill>
                <a:latin typeface="Calibri"/>
              </a:rPr>
              <a:t>Each states a demand. They are now talking about their solution, not the problem.</a:t>
            </a:r>
          </a:p>
        </p:txBody>
      </p:sp>
      <p:sp>
        <p:nvSpPr>
          <p:cNvPr id="12" name="Rectangle 11"/>
          <p:cNvSpPr/>
          <p:nvPr/>
        </p:nvSpPr>
        <p:spPr>
          <a:xfrm>
            <a:off x="777240" y="3447287"/>
            <a:ext cx="10637215" cy="15875"/>
          </a:xfrm>
          <a:prstGeom prst="rect">
            <a:avLst/>
          </a:prstGeom>
          <a:solidFill>
            <a:srgbClr val="C9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77240" y="3584448"/>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Cambria"/>
              </a:rPr>
              <a:t>3</a:t>
            </a:r>
          </a:p>
        </p:txBody>
      </p:sp>
      <p:sp>
        <p:nvSpPr>
          <p:cNvPr id="14" name="TextBox 13"/>
          <p:cNvSpPr txBox="1"/>
          <p:nvPr/>
        </p:nvSpPr>
        <p:spPr>
          <a:xfrm>
            <a:off x="1399032" y="3593592"/>
            <a:ext cx="2377440" cy="457200"/>
          </a:xfrm>
          <a:prstGeom prst="rect">
            <a:avLst/>
          </a:prstGeom>
          <a:noFill/>
        </p:spPr>
        <p:txBody>
          <a:bodyPr wrap="square" lIns="0" rIns="0" tIns="0" bIns="0" anchor="t">
            <a:spAutoFit/>
          </a:bodyPr>
          <a:lstStyle/>
          <a:p>
            <a:pPr algn="l">
              <a:lnSpc>
                <a:spcPct val="105000"/>
              </a:lnSpc>
              <a:spcBef>
                <a:spcPts val="0"/>
              </a:spcBef>
              <a:spcAft>
                <a:spcPts val="600"/>
              </a:spcAft>
            </a:pPr>
            <a:r>
              <a:rPr sz="1400" b="1" i="0">
                <a:solidFill>
                  <a:srgbClr val="10375C"/>
                </a:solidFill>
                <a:latin typeface="Cambria"/>
              </a:rPr>
              <a:t>Attribution</a:t>
            </a:r>
          </a:p>
        </p:txBody>
      </p:sp>
      <p:sp>
        <p:nvSpPr>
          <p:cNvPr id="15" name="TextBox 14"/>
          <p:cNvSpPr txBox="1"/>
          <p:nvPr/>
        </p:nvSpPr>
        <p:spPr>
          <a:xfrm>
            <a:off x="4005072" y="3575304"/>
            <a:ext cx="7089343" cy="658368"/>
          </a:xfrm>
          <a:prstGeom prst="rect">
            <a:avLst/>
          </a:prstGeom>
          <a:noFill/>
        </p:spPr>
        <p:txBody>
          <a:bodyPr wrap="square" lIns="0" rIns="0" tIns="0" bIns="0" anchor="t">
            <a:spAutoFit/>
          </a:bodyPr>
          <a:lstStyle/>
          <a:p>
            <a:pPr algn="l">
              <a:lnSpc>
                <a:spcPct val="120000"/>
              </a:lnSpc>
              <a:spcBef>
                <a:spcPts val="0"/>
              </a:spcBef>
              <a:spcAft>
                <a:spcPts val="600"/>
              </a:spcAft>
            </a:pPr>
            <a:r>
              <a:rPr sz="1250" b="0" i="0">
                <a:solidFill>
                  <a:srgbClr val="5A5A5A"/>
                </a:solidFill>
                <a:latin typeface="Calibri"/>
              </a:rPr>
              <a:t>Each explains the other's behaviour by character. 'He is dishonest', not 'he made an error'.</a:t>
            </a:r>
          </a:p>
        </p:txBody>
      </p:sp>
      <p:sp>
        <p:nvSpPr>
          <p:cNvPr id="16" name="Rectangle 15"/>
          <p:cNvSpPr/>
          <p:nvPr/>
        </p:nvSpPr>
        <p:spPr>
          <a:xfrm>
            <a:off x="777240" y="4233672"/>
            <a:ext cx="10637215" cy="15875"/>
          </a:xfrm>
          <a:prstGeom prst="rect">
            <a:avLst/>
          </a:prstGeom>
          <a:solidFill>
            <a:srgbClr val="C9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77240" y="4370832"/>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Cambria"/>
              </a:rPr>
              <a:t>4</a:t>
            </a:r>
          </a:p>
        </p:txBody>
      </p:sp>
      <p:sp>
        <p:nvSpPr>
          <p:cNvPr id="18" name="TextBox 17"/>
          <p:cNvSpPr txBox="1"/>
          <p:nvPr/>
        </p:nvSpPr>
        <p:spPr>
          <a:xfrm>
            <a:off x="1399032" y="4379976"/>
            <a:ext cx="2377440" cy="457200"/>
          </a:xfrm>
          <a:prstGeom prst="rect">
            <a:avLst/>
          </a:prstGeom>
          <a:noFill/>
        </p:spPr>
        <p:txBody>
          <a:bodyPr wrap="square" lIns="0" rIns="0" tIns="0" bIns="0" anchor="t">
            <a:spAutoFit/>
          </a:bodyPr>
          <a:lstStyle/>
          <a:p>
            <a:pPr algn="l">
              <a:lnSpc>
                <a:spcPct val="105000"/>
              </a:lnSpc>
              <a:spcBef>
                <a:spcPts val="0"/>
              </a:spcBef>
              <a:spcAft>
                <a:spcPts val="600"/>
              </a:spcAft>
            </a:pPr>
            <a:r>
              <a:rPr sz="1400" b="1" i="0">
                <a:solidFill>
                  <a:srgbClr val="10375C"/>
                </a:solidFill>
                <a:latin typeface="Cambria"/>
              </a:rPr>
              <a:t>Escalation</a:t>
            </a:r>
          </a:p>
        </p:txBody>
      </p:sp>
      <p:sp>
        <p:nvSpPr>
          <p:cNvPr id="19" name="TextBox 18"/>
          <p:cNvSpPr txBox="1"/>
          <p:nvPr/>
        </p:nvSpPr>
        <p:spPr>
          <a:xfrm>
            <a:off x="4005072" y="4361688"/>
            <a:ext cx="7089343" cy="658368"/>
          </a:xfrm>
          <a:prstGeom prst="rect">
            <a:avLst/>
          </a:prstGeom>
          <a:noFill/>
        </p:spPr>
        <p:txBody>
          <a:bodyPr wrap="square" lIns="0" rIns="0" tIns="0" bIns="0" anchor="t">
            <a:spAutoFit/>
          </a:bodyPr>
          <a:lstStyle/>
          <a:p>
            <a:pPr algn="l">
              <a:lnSpc>
                <a:spcPct val="120000"/>
              </a:lnSpc>
              <a:spcBef>
                <a:spcPts val="0"/>
              </a:spcBef>
              <a:spcAft>
                <a:spcPts val="600"/>
              </a:spcAft>
            </a:pPr>
            <a:r>
              <a:rPr sz="1250" b="0" i="0">
                <a:solidFill>
                  <a:srgbClr val="5A5A5A"/>
                </a:solidFill>
                <a:latin typeface="Calibri"/>
              </a:rPr>
              <a:t>The dispute recruits others — lawyers, family, colleagues.</a:t>
            </a:r>
          </a:p>
        </p:txBody>
      </p:sp>
      <p:sp>
        <p:nvSpPr>
          <p:cNvPr id="20" name="Rectangle 19"/>
          <p:cNvSpPr/>
          <p:nvPr/>
        </p:nvSpPr>
        <p:spPr>
          <a:xfrm>
            <a:off x="777240" y="5020056"/>
            <a:ext cx="10637215" cy="15875"/>
          </a:xfrm>
          <a:prstGeom prst="rect">
            <a:avLst/>
          </a:prstGeom>
          <a:solidFill>
            <a:srgbClr val="C9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77240" y="5157216"/>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Cambria"/>
              </a:rPr>
              <a:t>5</a:t>
            </a:r>
          </a:p>
        </p:txBody>
      </p:sp>
      <p:sp>
        <p:nvSpPr>
          <p:cNvPr id="22" name="TextBox 21"/>
          <p:cNvSpPr txBox="1"/>
          <p:nvPr/>
        </p:nvSpPr>
        <p:spPr>
          <a:xfrm>
            <a:off x="1399032" y="5166359"/>
            <a:ext cx="2377440" cy="457200"/>
          </a:xfrm>
          <a:prstGeom prst="rect">
            <a:avLst/>
          </a:prstGeom>
          <a:noFill/>
        </p:spPr>
        <p:txBody>
          <a:bodyPr wrap="square" lIns="0" rIns="0" tIns="0" bIns="0" anchor="t">
            <a:spAutoFit/>
          </a:bodyPr>
          <a:lstStyle/>
          <a:p>
            <a:pPr algn="l">
              <a:lnSpc>
                <a:spcPct val="105000"/>
              </a:lnSpc>
              <a:spcBef>
                <a:spcPts val="0"/>
              </a:spcBef>
              <a:spcAft>
                <a:spcPts val="600"/>
              </a:spcAft>
            </a:pPr>
            <a:r>
              <a:rPr sz="1400" b="1" i="0">
                <a:solidFill>
                  <a:srgbClr val="10375C"/>
                </a:solidFill>
                <a:latin typeface="Cambria"/>
              </a:rPr>
              <a:t>Entrenchment</a:t>
            </a:r>
          </a:p>
        </p:txBody>
      </p:sp>
      <p:sp>
        <p:nvSpPr>
          <p:cNvPr id="23" name="TextBox 22"/>
          <p:cNvSpPr txBox="1"/>
          <p:nvPr/>
        </p:nvSpPr>
        <p:spPr>
          <a:xfrm>
            <a:off x="4005072" y="5148072"/>
            <a:ext cx="7089343" cy="658368"/>
          </a:xfrm>
          <a:prstGeom prst="rect">
            <a:avLst/>
          </a:prstGeom>
          <a:noFill/>
        </p:spPr>
        <p:txBody>
          <a:bodyPr wrap="square" lIns="0" rIns="0" tIns="0" bIns="0" anchor="t">
            <a:spAutoFit/>
          </a:bodyPr>
          <a:lstStyle/>
          <a:p>
            <a:pPr algn="l">
              <a:lnSpc>
                <a:spcPct val="120000"/>
              </a:lnSpc>
              <a:spcBef>
                <a:spcPts val="0"/>
              </a:spcBef>
              <a:spcAft>
                <a:spcPts val="600"/>
              </a:spcAft>
            </a:pPr>
            <a:r>
              <a:rPr sz="1250" b="0" i="0">
                <a:solidFill>
                  <a:srgbClr val="5A5A5A"/>
                </a:solidFill>
                <a:latin typeface="Calibri"/>
              </a:rPr>
              <a:t>Withdrawal becomes costly. Face and sunk cost now matter more than the original issue.</a:t>
            </a:r>
          </a:p>
        </p:txBody>
      </p:sp>
      <p:sp>
        <p:nvSpPr>
          <p:cNvPr id="24" name="TextBox 23"/>
          <p:cNvSpPr txBox="1"/>
          <p:nvPr/>
        </p:nvSpPr>
        <p:spPr>
          <a:xfrm>
            <a:off x="777240" y="6327648"/>
            <a:ext cx="10607040" cy="320040"/>
          </a:xfrm>
          <a:prstGeom prst="rect">
            <a:avLst/>
          </a:prstGeom>
          <a:noFill/>
        </p:spPr>
        <p:txBody>
          <a:bodyPr wrap="square" lIns="0" rIns="0" tIns="0" bIns="0" anchor="t">
            <a:spAutoFit/>
          </a:bodyPr>
          <a:lstStyle/>
          <a:p>
            <a:pPr algn="l">
              <a:spcBef>
                <a:spcPts val="0"/>
              </a:spcBef>
              <a:spcAft>
                <a:spcPts val="600"/>
              </a:spcAft>
            </a:pPr>
            <a:r>
              <a:rPr sz="950" b="0" i="1">
                <a:solidFill>
                  <a:srgbClr val="5A5A5A"/>
                </a:solidFill>
                <a:latin typeface="Calibri"/>
              </a:rPr>
              <a:t>By the time a dispute reaches mediation, the original issue is often the smallest thing in the room.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The spectrum</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Where mediation sits, and what the parties give up at each step</a:t>
            </a:r>
          </a:p>
        </p:txBody>
      </p:sp>
      <p:graphicFrame>
        <p:nvGraphicFramePr>
          <p:cNvPr id="5" name="Table 4"/>
          <p:cNvGraphicFramePr>
            <a:graphicFrameLocks noGrp="1"/>
          </p:cNvGraphicFramePr>
          <p:nvPr/>
        </p:nvGraphicFramePr>
        <p:xfrm>
          <a:off x="777240" y="2011680"/>
          <a:ext cx="10637213" cy="2688336"/>
        </p:xfrm>
        <a:graphic>
          <a:graphicData uri="http://schemas.openxmlformats.org/drawingml/2006/table">
            <a:tbl>
              <a:tblPr firstRow="1" bandRow="1">
                <a:tableStyleId>{5C22544A-7EE6-4342-B048-85BDC9FD1C3A}</a:tableStyleId>
              </a:tblPr>
              <a:tblGrid>
                <a:gridCol w="2363825"/>
                <a:gridCol w="2068347"/>
                <a:gridCol w="2068347"/>
                <a:gridCol w="2068347"/>
                <a:gridCol w="2068347"/>
              </a:tblGrid>
              <a:tr h="384048">
                <a:tc>
                  <a:txBody>
                    <a:bodyPr/>
                    <a:lstStyle/>
                    <a:p>
                      <a:r>
                        <a:rPr sz="1100" b="1">
                          <a:solidFill>
                            <a:srgbClr val="FFFFFF"/>
                          </a:solidFill>
                          <a:latin typeface="Calibri"/>
                        </a:rPr>
                        <a:t/>
                      </a:r>
                    </a:p>
                  </a:txBody>
                  <a:tcPr marL="109728" marR="73152" marT="45720" marB="45720" anchor="ctr">
                    <a:solidFill>
                      <a:srgbClr val="10375C"/>
                    </a:solidFill>
                  </a:tcPr>
                </a:tc>
                <a:tc>
                  <a:txBody>
                    <a:bodyPr/>
                    <a:lstStyle/>
                    <a:p>
                      <a:r>
                        <a:rPr sz="1100" b="1">
                          <a:solidFill>
                            <a:srgbClr val="FFFFFF"/>
                          </a:solidFill>
                          <a:latin typeface="Calibri"/>
                        </a:rPr>
                        <a:t>Negotiation</a:t>
                      </a:r>
                    </a:p>
                  </a:txBody>
                  <a:tcPr marL="109728" marR="73152" marT="45720" marB="45720" anchor="ctr">
                    <a:solidFill>
                      <a:srgbClr val="10375C"/>
                    </a:solidFill>
                  </a:tcPr>
                </a:tc>
                <a:tc>
                  <a:txBody>
                    <a:bodyPr/>
                    <a:lstStyle/>
                    <a:p>
                      <a:r>
                        <a:rPr sz="1100" b="1">
                          <a:solidFill>
                            <a:srgbClr val="FFFFFF"/>
                          </a:solidFill>
                          <a:latin typeface="Calibri"/>
                        </a:rPr>
                        <a:t>Mediation</a:t>
                      </a:r>
                    </a:p>
                  </a:txBody>
                  <a:tcPr marL="109728" marR="73152" marT="45720" marB="45720" anchor="ctr">
                    <a:solidFill>
                      <a:srgbClr val="10375C"/>
                    </a:solidFill>
                  </a:tcPr>
                </a:tc>
                <a:tc>
                  <a:txBody>
                    <a:bodyPr/>
                    <a:lstStyle/>
                    <a:p>
                      <a:r>
                        <a:rPr sz="1100" b="1">
                          <a:solidFill>
                            <a:srgbClr val="FFFFFF"/>
                          </a:solidFill>
                          <a:latin typeface="Calibri"/>
                        </a:rPr>
                        <a:t>Arbitration</a:t>
                      </a:r>
                    </a:p>
                  </a:txBody>
                  <a:tcPr marL="109728" marR="73152" marT="45720" marB="45720" anchor="ctr">
                    <a:solidFill>
                      <a:srgbClr val="10375C"/>
                    </a:solidFill>
                  </a:tcPr>
                </a:tc>
                <a:tc>
                  <a:txBody>
                    <a:bodyPr/>
                    <a:lstStyle/>
                    <a:p>
                      <a:r>
                        <a:rPr sz="1100" b="1">
                          <a:solidFill>
                            <a:srgbClr val="FFFFFF"/>
                          </a:solidFill>
                          <a:latin typeface="Calibri"/>
                        </a:rPr>
                        <a:t>Litigation</a:t>
                      </a:r>
                    </a:p>
                  </a:txBody>
                  <a:tcPr marL="109728" marR="73152" marT="45720" marB="45720" anchor="ctr">
                    <a:solidFill>
                      <a:srgbClr val="10375C"/>
                    </a:solidFill>
                  </a:tcPr>
                </a:tc>
              </a:tr>
              <a:tr h="384048">
                <a:tc>
                  <a:txBody>
                    <a:bodyPr/>
                    <a:lstStyle/>
                    <a:p>
                      <a:r>
                        <a:rPr sz="1200" b="1">
                          <a:solidFill>
                            <a:srgbClr val="10375C"/>
                          </a:solidFill>
                          <a:latin typeface="Calibri"/>
                        </a:rPr>
                        <a:t>Who decides</a:t>
                      </a:r>
                    </a:p>
                  </a:txBody>
                  <a:tcPr marL="109728" marR="73152" marT="36576" marB="36576" anchor="ctr">
                    <a:solidFill>
                      <a:srgbClr val="FFFFFF"/>
                    </a:solidFill>
                  </a:tcPr>
                </a:tc>
                <a:tc>
                  <a:txBody>
                    <a:bodyPr/>
                    <a:lstStyle/>
                    <a:p>
                      <a:r>
                        <a:rPr sz="1200" b="0">
                          <a:solidFill>
                            <a:srgbClr val="1F1F1F"/>
                          </a:solidFill>
                          <a:latin typeface="Calibri"/>
                        </a:rPr>
                        <a:t>The parties</a:t>
                      </a:r>
                    </a:p>
                  </a:txBody>
                  <a:tcPr marL="109728" marR="73152" marT="36576" marB="36576" anchor="ctr">
                    <a:solidFill>
                      <a:srgbClr val="FFFFFF"/>
                    </a:solidFill>
                  </a:tcPr>
                </a:tc>
                <a:tc>
                  <a:txBody>
                    <a:bodyPr/>
                    <a:lstStyle/>
                    <a:p>
                      <a:r>
                        <a:rPr sz="1200" b="0">
                          <a:solidFill>
                            <a:srgbClr val="1F1F1F"/>
                          </a:solidFill>
                          <a:latin typeface="Calibri"/>
                        </a:rPr>
                        <a:t>The parties</a:t>
                      </a:r>
                    </a:p>
                  </a:txBody>
                  <a:tcPr marL="109728" marR="73152" marT="36576" marB="36576" anchor="ctr">
                    <a:solidFill>
                      <a:srgbClr val="FFFFFF"/>
                    </a:solidFill>
                  </a:tcPr>
                </a:tc>
                <a:tc>
                  <a:txBody>
                    <a:bodyPr/>
                    <a:lstStyle/>
                    <a:p>
                      <a:r>
                        <a:rPr sz="1200" b="0">
                          <a:solidFill>
                            <a:srgbClr val="1F1F1F"/>
                          </a:solidFill>
                          <a:latin typeface="Calibri"/>
                        </a:rPr>
                        <a:t>The arbitrator</a:t>
                      </a:r>
                    </a:p>
                  </a:txBody>
                  <a:tcPr marL="109728" marR="73152" marT="36576" marB="36576" anchor="ctr">
                    <a:solidFill>
                      <a:srgbClr val="FFFFFF"/>
                    </a:solidFill>
                  </a:tcPr>
                </a:tc>
                <a:tc>
                  <a:txBody>
                    <a:bodyPr/>
                    <a:lstStyle/>
                    <a:p>
                      <a:r>
                        <a:rPr sz="1200" b="0">
                          <a:solidFill>
                            <a:srgbClr val="1F1F1F"/>
                          </a:solidFill>
                          <a:latin typeface="Calibri"/>
                        </a:rPr>
                        <a:t>The court</a:t>
                      </a:r>
                    </a:p>
                  </a:txBody>
                  <a:tcPr marL="109728" marR="73152" marT="36576" marB="36576" anchor="ctr">
                    <a:solidFill>
                      <a:srgbClr val="FFFFFF"/>
                    </a:solidFill>
                  </a:tcPr>
                </a:tc>
              </a:tr>
              <a:tr h="384048">
                <a:tc>
                  <a:txBody>
                    <a:bodyPr/>
                    <a:lstStyle/>
                    <a:p>
                      <a:r>
                        <a:rPr sz="1200" b="1">
                          <a:solidFill>
                            <a:srgbClr val="10375C"/>
                          </a:solidFill>
                          <a:latin typeface="Calibri"/>
                        </a:rPr>
                        <a:t>Third party's role</a:t>
                      </a:r>
                    </a:p>
                  </a:txBody>
                  <a:tcPr marL="109728" marR="73152" marT="36576" marB="36576" anchor="ctr">
                    <a:solidFill>
                      <a:srgbClr val="EAF1F4"/>
                    </a:solidFill>
                  </a:tcPr>
                </a:tc>
                <a:tc>
                  <a:txBody>
                    <a:bodyPr/>
                    <a:lstStyle/>
                    <a:p>
                      <a:r>
                        <a:rPr sz="1200" b="0">
                          <a:solidFill>
                            <a:srgbClr val="1F1F1F"/>
                          </a:solidFill>
                          <a:latin typeface="Calibri"/>
                        </a:rPr>
                        <a:t>None</a:t>
                      </a:r>
                    </a:p>
                  </a:txBody>
                  <a:tcPr marL="109728" marR="73152" marT="36576" marB="36576" anchor="ctr">
                    <a:solidFill>
                      <a:srgbClr val="EAF1F4"/>
                    </a:solidFill>
                  </a:tcPr>
                </a:tc>
                <a:tc>
                  <a:txBody>
                    <a:bodyPr/>
                    <a:lstStyle/>
                    <a:p>
                      <a:r>
                        <a:rPr sz="1200" b="0">
                          <a:solidFill>
                            <a:srgbClr val="1F1F1F"/>
                          </a:solidFill>
                          <a:latin typeface="Calibri"/>
                        </a:rPr>
                        <a:t>Facilitates</a:t>
                      </a:r>
                    </a:p>
                  </a:txBody>
                  <a:tcPr marL="109728" marR="73152" marT="36576" marB="36576" anchor="ctr">
                    <a:solidFill>
                      <a:srgbClr val="EAF1F4"/>
                    </a:solidFill>
                  </a:tcPr>
                </a:tc>
                <a:tc>
                  <a:txBody>
                    <a:bodyPr/>
                    <a:lstStyle/>
                    <a:p>
                      <a:r>
                        <a:rPr sz="1200" b="0">
                          <a:solidFill>
                            <a:srgbClr val="1F1F1F"/>
                          </a:solidFill>
                          <a:latin typeface="Calibri"/>
                        </a:rPr>
                        <a:t>Determines</a:t>
                      </a:r>
                    </a:p>
                  </a:txBody>
                  <a:tcPr marL="109728" marR="73152" marT="36576" marB="36576" anchor="ctr">
                    <a:solidFill>
                      <a:srgbClr val="EAF1F4"/>
                    </a:solidFill>
                  </a:tcPr>
                </a:tc>
                <a:tc>
                  <a:txBody>
                    <a:bodyPr/>
                    <a:lstStyle/>
                    <a:p>
                      <a:r>
                        <a:rPr sz="1200" b="0">
                          <a:solidFill>
                            <a:srgbClr val="1F1F1F"/>
                          </a:solidFill>
                          <a:latin typeface="Calibri"/>
                        </a:rPr>
                        <a:t>Determines</a:t>
                      </a:r>
                    </a:p>
                  </a:txBody>
                  <a:tcPr marL="109728" marR="73152" marT="36576" marB="36576" anchor="ctr">
                    <a:solidFill>
                      <a:srgbClr val="EAF1F4"/>
                    </a:solidFill>
                  </a:tcPr>
                </a:tc>
              </a:tr>
              <a:tr h="384048">
                <a:tc>
                  <a:txBody>
                    <a:bodyPr/>
                    <a:lstStyle/>
                    <a:p>
                      <a:r>
                        <a:rPr sz="1200" b="1">
                          <a:solidFill>
                            <a:srgbClr val="10375C"/>
                          </a:solidFill>
                          <a:latin typeface="Calibri"/>
                        </a:rPr>
                        <a:t>Control of outcome</a:t>
                      </a:r>
                    </a:p>
                  </a:txBody>
                  <a:tcPr marL="109728" marR="73152" marT="36576" marB="36576" anchor="ctr">
                    <a:solidFill>
                      <a:srgbClr val="FFFFFF"/>
                    </a:solidFill>
                  </a:tcPr>
                </a:tc>
                <a:tc>
                  <a:txBody>
                    <a:bodyPr/>
                    <a:lstStyle/>
                    <a:p>
                      <a:r>
                        <a:rPr sz="1200" b="0">
                          <a:solidFill>
                            <a:srgbClr val="1F1F1F"/>
                          </a:solidFill>
                          <a:latin typeface="Calibri"/>
                        </a:rPr>
                        <a:t>Full</a:t>
                      </a:r>
                    </a:p>
                  </a:txBody>
                  <a:tcPr marL="109728" marR="73152" marT="36576" marB="36576" anchor="ctr">
                    <a:solidFill>
                      <a:srgbClr val="FFFFFF"/>
                    </a:solidFill>
                  </a:tcPr>
                </a:tc>
                <a:tc>
                  <a:txBody>
                    <a:bodyPr/>
                    <a:lstStyle/>
                    <a:p>
                      <a:r>
                        <a:rPr sz="1200" b="0">
                          <a:solidFill>
                            <a:srgbClr val="1F1F1F"/>
                          </a:solidFill>
                          <a:latin typeface="Calibri"/>
                        </a:rPr>
                        <a:t>Full</a:t>
                      </a:r>
                    </a:p>
                  </a:txBody>
                  <a:tcPr marL="109728" marR="73152" marT="36576" marB="36576" anchor="ctr">
                    <a:solidFill>
                      <a:srgbClr val="FFFFFF"/>
                    </a:solidFill>
                  </a:tcPr>
                </a:tc>
                <a:tc>
                  <a:txBody>
                    <a:bodyPr/>
                    <a:lstStyle/>
                    <a:p>
                      <a:r>
                        <a:rPr sz="1200" b="0">
                          <a:solidFill>
                            <a:srgbClr val="1F1F1F"/>
                          </a:solidFill>
                          <a:latin typeface="Calibri"/>
                        </a:rPr>
                        <a:t>None</a:t>
                      </a:r>
                    </a:p>
                  </a:txBody>
                  <a:tcPr marL="109728" marR="73152" marT="36576" marB="36576" anchor="ctr">
                    <a:solidFill>
                      <a:srgbClr val="FFFFFF"/>
                    </a:solidFill>
                  </a:tcPr>
                </a:tc>
                <a:tc>
                  <a:txBody>
                    <a:bodyPr/>
                    <a:lstStyle/>
                    <a:p>
                      <a:r>
                        <a:rPr sz="1200" b="0">
                          <a:solidFill>
                            <a:srgbClr val="1F1F1F"/>
                          </a:solidFill>
                          <a:latin typeface="Calibri"/>
                        </a:rPr>
                        <a:t>None</a:t>
                      </a:r>
                    </a:p>
                  </a:txBody>
                  <a:tcPr marL="109728" marR="73152" marT="36576" marB="36576" anchor="ctr">
                    <a:solidFill>
                      <a:srgbClr val="FFFFFF"/>
                    </a:solidFill>
                  </a:tcPr>
                </a:tc>
              </a:tr>
              <a:tr h="384048">
                <a:tc>
                  <a:txBody>
                    <a:bodyPr/>
                    <a:lstStyle/>
                    <a:p>
                      <a:r>
                        <a:rPr sz="1200" b="1">
                          <a:solidFill>
                            <a:srgbClr val="10375C"/>
                          </a:solidFill>
                          <a:latin typeface="Calibri"/>
                        </a:rPr>
                        <a:t>Confidentiality</a:t>
                      </a:r>
                    </a:p>
                  </a:txBody>
                  <a:tcPr marL="109728" marR="73152" marT="36576" marB="36576" anchor="ctr">
                    <a:solidFill>
                      <a:srgbClr val="EAF1F4"/>
                    </a:solidFill>
                  </a:tcPr>
                </a:tc>
                <a:tc>
                  <a:txBody>
                    <a:bodyPr/>
                    <a:lstStyle/>
                    <a:p>
                      <a:r>
                        <a:rPr sz="1200" b="0">
                          <a:solidFill>
                            <a:srgbClr val="1F1F1F"/>
                          </a:solidFill>
                          <a:latin typeface="Calibri"/>
                        </a:rPr>
                        <a:t>By agreement</a:t>
                      </a:r>
                    </a:p>
                  </a:txBody>
                  <a:tcPr marL="109728" marR="73152" marT="36576" marB="36576" anchor="ctr">
                    <a:solidFill>
                      <a:srgbClr val="EAF1F4"/>
                    </a:solidFill>
                  </a:tcPr>
                </a:tc>
                <a:tc>
                  <a:txBody>
                    <a:bodyPr/>
                    <a:lstStyle/>
                    <a:p>
                      <a:r>
                        <a:rPr sz="1200" b="0">
                          <a:solidFill>
                            <a:srgbClr val="1F1F1F"/>
                          </a:solidFill>
                          <a:latin typeface="Calibri"/>
                        </a:rPr>
                        <a:t>Statutory</a:t>
                      </a:r>
                    </a:p>
                  </a:txBody>
                  <a:tcPr marL="109728" marR="73152" marT="36576" marB="36576" anchor="ctr">
                    <a:solidFill>
                      <a:srgbClr val="EAF1F4"/>
                    </a:solidFill>
                  </a:tcPr>
                </a:tc>
                <a:tc>
                  <a:txBody>
                    <a:bodyPr/>
                    <a:lstStyle/>
                    <a:p>
                      <a:r>
                        <a:rPr sz="1200" b="0">
                          <a:solidFill>
                            <a:srgbClr val="1F1F1F"/>
                          </a:solidFill>
                          <a:latin typeface="Calibri"/>
                        </a:rPr>
                        <a:t>Generally yes</a:t>
                      </a:r>
                    </a:p>
                  </a:txBody>
                  <a:tcPr marL="109728" marR="73152" marT="36576" marB="36576" anchor="ctr">
                    <a:solidFill>
                      <a:srgbClr val="EAF1F4"/>
                    </a:solidFill>
                  </a:tcPr>
                </a:tc>
                <a:tc>
                  <a:txBody>
                    <a:bodyPr/>
                    <a:lstStyle/>
                    <a:p>
                      <a:r>
                        <a:rPr sz="1200" b="0">
                          <a:solidFill>
                            <a:srgbClr val="1F1F1F"/>
                          </a:solidFill>
                          <a:latin typeface="Calibri"/>
                        </a:rPr>
                        <a:t>Generally public</a:t>
                      </a:r>
                    </a:p>
                  </a:txBody>
                  <a:tcPr marL="109728" marR="73152" marT="36576" marB="36576" anchor="ctr">
                    <a:solidFill>
                      <a:srgbClr val="EAF1F4"/>
                    </a:solidFill>
                  </a:tcPr>
                </a:tc>
              </a:tr>
              <a:tr h="384048">
                <a:tc>
                  <a:txBody>
                    <a:bodyPr/>
                    <a:lstStyle/>
                    <a:p>
                      <a:r>
                        <a:rPr sz="1200" b="1">
                          <a:solidFill>
                            <a:srgbClr val="10375C"/>
                          </a:solidFill>
                          <a:latin typeface="Calibri"/>
                        </a:rPr>
                        <a:t>Cost and time</a:t>
                      </a:r>
                    </a:p>
                  </a:txBody>
                  <a:tcPr marL="109728" marR="73152" marT="36576" marB="36576" anchor="ctr">
                    <a:solidFill>
                      <a:srgbClr val="FFFFFF"/>
                    </a:solidFill>
                  </a:tcPr>
                </a:tc>
                <a:tc>
                  <a:txBody>
                    <a:bodyPr/>
                    <a:lstStyle/>
                    <a:p>
                      <a:r>
                        <a:rPr sz="1200" b="0">
                          <a:solidFill>
                            <a:srgbClr val="1F1F1F"/>
                          </a:solidFill>
                          <a:latin typeface="Calibri"/>
                        </a:rPr>
                        <a:t>Lowest</a:t>
                      </a:r>
                    </a:p>
                  </a:txBody>
                  <a:tcPr marL="109728" marR="73152" marT="36576" marB="36576" anchor="ctr">
                    <a:solidFill>
                      <a:srgbClr val="FFFFFF"/>
                    </a:solidFill>
                  </a:tcPr>
                </a:tc>
                <a:tc>
                  <a:txBody>
                    <a:bodyPr/>
                    <a:lstStyle/>
                    <a:p>
                      <a:r>
                        <a:rPr sz="1200" b="0">
                          <a:solidFill>
                            <a:srgbClr val="1F1F1F"/>
                          </a:solidFill>
                          <a:latin typeface="Calibri"/>
                        </a:rPr>
                        <a:t>Low</a:t>
                      </a:r>
                    </a:p>
                  </a:txBody>
                  <a:tcPr marL="109728" marR="73152" marT="36576" marB="36576" anchor="ctr">
                    <a:solidFill>
                      <a:srgbClr val="FFFFFF"/>
                    </a:solidFill>
                  </a:tcPr>
                </a:tc>
                <a:tc>
                  <a:txBody>
                    <a:bodyPr/>
                    <a:lstStyle/>
                    <a:p>
                      <a:r>
                        <a:rPr sz="1200" b="0">
                          <a:solidFill>
                            <a:srgbClr val="1F1F1F"/>
                          </a:solidFill>
                          <a:latin typeface="Calibri"/>
                        </a:rPr>
                        <a:t>High</a:t>
                      </a:r>
                    </a:p>
                  </a:txBody>
                  <a:tcPr marL="109728" marR="73152" marT="36576" marB="36576" anchor="ctr">
                    <a:solidFill>
                      <a:srgbClr val="FFFFFF"/>
                    </a:solidFill>
                  </a:tcPr>
                </a:tc>
                <a:tc>
                  <a:txBody>
                    <a:bodyPr/>
                    <a:lstStyle/>
                    <a:p>
                      <a:r>
                        <a:rPr sz="1200" b="0">
                          <a:solidFill>
                            <a:srgbClr val="1F1F1F"/>
                          </a:solidFill>
                          <a:latin typeface="Calibri"/>
                        </a:rPr>
                        <a:t>Highest</a:t>
                      </a:r>
                    </a:p>
                  </a:txBody>
                  <a:tcPr marL="109728" marR="73152" marT="36576" marB="36576" anchor="ctr">
                    <a:solidFill>
                      <a:srgbClr val="FFFFFF"/>
                    </a:solidFill>
                  </a:tcPr>
                </a:tc>
              </a:tr>
              <a:tr h="384048">
                <a:tc>
                  <a:txBody>
                    <a:bodyPr/>
                    <a:lstStyle/>
                    <a:p>
                      <a:r>
                        <a:rPr sz="1200" b="1">
                          <a:solidFill>
                            <a:srgbClr val="10375C"/>
                          </a:solidFill>
                          <a:latin typeface="Calibri"/>
                        </a:rPr>
                        <a:t>Relationship</a:t>
                      </a:r>
                    </a:p>
                  </a:txBody>
                  <a:tcPr marL="109728" marR="73152" marT="36576" marB="36576" anchor="ctr">
                    <a:solidFill>
                      <a:srgbClr val="EAF1F4"/>
                    </a:solidFill>
                  </a:tcPr>
                </a:tc>
                <a:tc>
                  <a:txBody>
                    <a:bodyPr/>
                    <a:lstStyle/>
                    <a:p>
                      <a:r>
                        <a:rPr sz="1200" b="0">
                          <a:solidFill>
                            <a:srgbClr val="1F1F1F"/>
                          </a:solidFill>
                          <a:latin typeface="Calibri"/>
                        </a:rPr>
                        <a:t>Preserved</a:t>
                      </a:r>
                    </a:p>
                  </a:txBody>
                  <a:tcPr marL="109728" marR="73152" marT="36576" marB="36576" anchor="ctr">
                    <a:solidFill>
                      <a:srgbClr val="EAF1F4"/>
                    </a:solidFill>
                  </a:tcPr>
                </a:tc>
                <a:tc>
                  <a:txBody>
                    <a:bodyPr/>
                    <a:lstStyle/>
                    <a:p>
                      <a:r>
                        <a:rPr sz="1200" b="0">
                          <a:solidFill>
                            <a:srgbClr val="1F1F1F"/>
                          </a:solidFill>
                          <a:latin typeface="Calibri"/>
                        </a:rPr>
                        <a:t>Often preserved</a:t>
                      </a:r>
                    </a:p>
                  </a:txBody>
                  <a:tcPr marL="109728" marR="73152" marT="36576" marB="36576" anchor="ctr">
                    <a:solidFill>
                      <a:srgbClr val="EAF1F4"/>
                    </a:solidFill>
                  </a:tcPr>
                </a:tc>
                <a:tc>
                  <a:txBody>
                    <a:bodyPr/>
                    <a:lstStyle/>
                    <a:p>
                      <a:r>
                        <a:rPr sz="1200" b="0">
                          <a:solidFill>
                            <a:srgbClr val="1F1F1F"/>
                          </a:solidFill>
                          <a:latin typeface="Calibri"/>
                        </a:rPr>
                        <a:t>Usually damaged</a:t>
                      </a:r>
                    </a:p>
                  </a:txBody>
                  <a:tcPr marL="109728" marR="73152" marT="36576" marB="36576" anchor="ctr">
                    <a:solidFill>
                      <a:srgbClr val="EAF1F4"/>
                    </a:solidFill>
                  </a:tcPr>
                </a:tc>
                <a:tc>
                  <a:txBody>
                    <a:bodyPr/>
                    <a:lstStyle/>
                    <a:p>
                      <a:r>
                        <a:rPr sz="1200" b="0">
                          <a:solidFill>
                            <a:srgbClr val="1F1F1F"/>
                          </a:solidFill>
                          <a:latin typeface="Calibri"/>
                        </a:rPr>
                        <a:t>Usually ended</a:t>
                      </a:r>
                    </a:p>
                  </a:txBody>
                  <a:tcPr marL="109728" marR="73152" marT="36576" marB="36576" anchor="ctr">
                    <a:solidFill>
                      <a:srgbClr val="EAF1F4"/>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The Mediation Act, 2023</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What it actually changed</a:t>
            </a:r>
          </a:p>
        </p:txBody>
      </p:sp>
      <p:sp>
        <p:nvSpPr>
          <p:cNvPr id="5" name="Rounded Rectangle 4"/>
          <p:cNvSpPr/>
          <p:nvPr/>
        </p:nvSpPr>
        <p:spPr>
          <a:xfrm>
            <a:off x="777240" y="2011680"/>
            <a:ext cx="5135727" cy="3246120"/>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43000" y="2340864"/>
            <a:ext cx="4404207" cy="457200"/>
          </a:xfrm>
          <a:prstGeom prst="rect">
            <a:avLst/>
          </a:prstGeom>
          <a:noFill/>
        </p:spPr>
        <p:txBody>
          <a:bodyPr wrap="square" lIns="0" rIns="0" tIns="0" bIns="0" anchor="t">
            <a:spAutoFit/>
          </a:bodyPr>
          <a:lstStyle/>
          <a:p>
            <a:pPr algn="l">
              <a:spcBef>
                <a:spcPts val="0"/>
              </a:spcBef>
              <a:spcAft>
                <a:spcPts val="600"/>
              </a:spcAft>
            </a:pPr>
            <a:r>
              <a:rPr sz="1650" b="1" i="0">
                <a:solidFill>
                  <a:srgbClr val="10375C"/>
                </a:solidFill>
                <a:latin typeface="Cambria"/>
              </a:rPr>
              <a:t>The process</a:t>
            </a:r>
          </a:p>
        </p:txBody>
      </p:sp>
      <p:sp>
        <p:nvSpPr>
          <p:cNvPr id="7" name="TextBox 6"/>
          <p:cNvSpPr txBox="1"/>
          <p:nvPr/>
        </p:nvSpPr>
        <p:spPr>
          <a:xfrm>
            <a:off x="1143000" y="2944368"/>
            <a:ext cx="4404207" cy="1965960"/>
          </a:xfrm>
          <a:prstGeom prst="rect">
            <a:avLst/>
          </a:prstGeom>
          <a:noFill/>
        </p:spPr>
        <p:txBody>
          <a:bodyPr wrap="square" lIns="0" rIns="0" tIns="0" bIns="0" anchor="t">
            <a:spAutoFit/>
          </a:bodyPr>
          <a:lstStyle/>
          <a:p>
            <a:pPr algn="l">
              <a:lnSpc>
                <a:spcPct val="120000"/>
              </a:lnSpc>
              <a:spcBef>
                <a:spcPts val="0"/>
              </a:spcBef>
              <a:spcAft>
                <a:spcPts val="900"/>
              </a:spcAft>
            </a:pPr>
            <a:r>
              <a:rPr sz="1250" b="0" i="0">
                <a:solidFill>
                  <a:srgbClr val="5A5A5A"/>
                </a:solidFill>
                <a:latin typeface="Calibri"/>
              </a:rPr>
              <a:t>Pre-litigation mediation available irrespective of whether a mediation agreement exists.</a:t>
            </a:r>
          </a:p>
          <a:p>
            <a:pPr algn="l">
              <a:lnSpc>
                <a:spcPct val="120000"/>
              </a:lnSpc>
              <a:spcBef>
                <a:spcPts val="0"/>
              </a:spcBef>
              <a:spcAft>
                <a:spcPts val="900"/>
              </a:spcAft>
            </a:pPr>
            <a:r>
              <a:rPr sz="1250" b="0" i="0">
                <a:solidFill>
                  <a:srgbClr val="5A5A5A"/>
                </a:solidFill>
                <a:latin typeface="Calibri"/>
              </a:rPr>
              <a:t>Mediation to be completed within 120 days of the mediator's first appearance, extendable by 60 with consent.</a:t>
            </a:r>
          </a:p>
          <a:p>
            <a:pPr algn="l">
              <a:lnSpc>
                <a:spcPct val="120000"/>
              </a:lnSpc>
              <a:spcBef>
                <a:spcPts val="0"/>
              </a:spcBef>
              <a:spcAft>
                <a:spcPts val="900"/>
              </a:spcAft>
            </a:pPr>
            <a:r>
              <a:rPr sz="1250" b="0" i="0">
                <a:solidFill>
                  <a:srgbClr val="5A5A5A"/>
                </a:solidFill>
                <a:latin typeface="Calibri"/>
              </a:rPr>
              <a:t>Provision for community mediation.</a:t>
            </a:r>
          </a:p>
          <a:p>
            <a:pPr algn="l">
              <a:lnSpc>
                <a:spcPct val="120000"/>
              </a:lnSpc>
              <a:spcBef>
                <a:spcPts val="0"/>
              </a:spcBef>
              <a:spcAft>
                <a:spcPts val="900"/>
              </a:spcAft>
            </a:pPr>
            <a:r>
              <a:rPr sz="1250" b="0" i="0">
                <a:solidFill>
                  <a:srgbClr val="5A5A5A"/>
                </a:solidFill>
                <a:latin typeface="Calibri"/>
              </a:rPr>
              <a:t>A Mediation Council of India is contemplated — but is not yet constituted.</a:t>
            </a:r>
          </a:p>
        </p:txBody>
      </p:sp>
      <p:sp>
        <p:nvSpPr>
          <p:cNvPr id="8" name="Rounded Rectangle 7"/>
          <p:cNvSpPr/>
          <p:nvPr/>
        </p:nvSpPr>
        <p:spPr>
          <a:xfrm>
            <a:off x="6278727" y="2011680"/>
            <a:ext cx="5135727" cy="3246120"/>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44487" y="2340864"/>
            <a:ext cx="4404207" cy="457200"/>
          </a:xfrm>
          <a:prstGeom prst="rect">
            <a:avLst/>
          </a:prstGeom>
          <a:noFill/>
        </p:spPr>
        <p:txBody>
          <a:bodyPr wrap="square" lIns="0" rIns="0" tIns="0" bIns="0" anchor="t">
            <a:spAutoFit/>
          </a:bodyPr>
          <a:lstStyle/>
          <a:p>
            <a:pPr algn="l">
              <a:spcBef>
                <a:spcPts val="0"/>
              </a:spcBef>
              <a:spcAft>
                <a:spcPts val="600"/>
              </a:spcAft>
            </a:pPr>
            <a:r>
              <a:rPr sz="1650" b="1" i="0">
                <a:solidFill>
                  <a:srgbClr val="10375C"/>
                </a:solidFill>
                <a:latin typeface="Cambria"/>
              </a:rPr>
              <a:t>The consequences</a:t>
            </a:r>
          </a:p>
        </p:txBody>
      </p:sp>
      <p:sp>
        <p:nvSpPr>
          <p:cNvPr id="10" name="TextBox 9"/>
          <p:cNvSpPr txBox="1"/>
          <p:nvPr/>
        </p:nvSpPr>
        <p:spPr>
          <a:xfrm>
            <a:off x="6644487" y="2944368"/>
            <a:ext cx="4404207" cy="1965960"/>
          </a:xfrm>
          <a:prstGeom prst="rect">
            <a:avLst/>
          </a:prstGeom>
          <a:noFill/>
        </p:spPr>
        <p:txBody>
          <a:bodyPr wrap="square" lIns="0" rIns="0" tIns="0" bIns="0" anchor="t">
            <a:spAutoFit/>
          </a:bodyPr>
          <a:lstStyle/>
          <a:p>
            <a:pPr algn="l">
              <a:lnSpc>
                <a:spcPct val="120000"/>
              </a:lnSpc>
              <a:spcBef>
                <a:spcPts val="0"/>
              </a:spcBef>
              <a:spcAft>
                <a:spcPts val="900"/>
              </a:spcAft>
            </a:pPr>
            <a:r>
              <a:rPr sz="1250" b="0" i="0">
                <a:solidFill>
                  <a:srgbClr val="5A5A5A"/>
                </a:solidFill>
                <a:latin typeface="Calibri"/>
              </a:rPr>
              <a:t>A mediated settlement agreement is enforceable in the manner of a judgment or decree.</a:t>
            </a:r>
          </a:p>
          <a:p>
            <a:pPr algn="l">
              <a:lnSpc>
                <a:spcPct val="120000"/>
              </a:lnSpc>
              <a:spcBef>
                <a:spcPts val="0"/>
              </a:spcBef>
              <a:spcAft>
                <a:spcPts val="900"/>
              </a:spcAft>
            </a:pPr>
            <a:r>
              <a:rPr sz="1250" b="0" i="0">
                <a:solidFill>
                  <a:srgbClr val="5A5A5A"/>
                </a:solidFill>
                <a:latin typeface="Calibri"/>
              </a:rPr>
              <a:t>Confidentiality is statutory, not contractual.</a:t>
            </a:r>
          </a:p>
          <a:p>
            <a:pPr algn="l">
              <a:lnSpc>
                <a:spcPct val="120000"/>
              </a:lnSpc>
              <a:spcBef>
                <a:spcPts val="0"/>
              </a:spcBef>
              <a:spcAft>
                <a:spcPts val="900"/>
              </a:spcAft>
            </a:pPr>
            <a:r>
              <a:rPr sz="1250" b="0" i="0">
                <a:solidFill>
                  <a:srgbClr val="5A5A5A"/>
                </a:solidFill>
                <a:latin typeface="Calibri"/>
              </a:rPr>
              <a:t>Audio and video recording of proceedings is prohibited.</a:t>
            </a:r>
          </a:p>
          <a:p>
            <a:pPr algn="l">
              <a:lnSpc>
                <a:spcPct val="120000"/>
              </a:lnSpc>
              <a:spcBef>
                <a:spcPts val="0"/>
              </a:spcBef>
              <a:spcAft>
                <a:spcPts val="900"/>
              </a:spcAft>
            </a:pPr>
            <a:r>
              <a:rPr sz="1250" b="0" i="0">
                <a:solidFill>
                  <a:srgbClr val="5A5A5A"/>
                </a:solidFill>
                <a:latin typeface="Calibri"/>
              </a:rPr>
              <a:t>What is said in mediation is not admissible in later court or arbitral proceedings.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Section 12A</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The provision that made mediation structural</a:t>
            </a:r>
          </a:p>
        </p:txBody>
      </p:sp>
      <p:sp>
        <p:nvSpPr>
          <p:cNvPr id="5" name="TextBox 4"/>
          <p:cNvSpPr txBox="1"/>
          <p:nvPr/>
        </p:nvSpPr>
        <p:spPr>
          <a:xfrm>
            <a:off x="777240" y="2240280"/>
            <a:ext cx="3301898" cy="1051560"/>
          </a:xfrm>
          <a:prstGeom prst="rect">
            <a:avLst/>
          </a:prstGeom>
          <a:noFill/>
        </p:spPr>
        <p:txBody>
          <a:bodyPr wrap="square" lIns="0" rIns="0" tIns="0" bIns="0" anchor="t">
            <a:spAutoFit/>
          </a:bodyPr>
          <a:lstStyle/>
          <a:p>
            <a:pPr algn="l">
              <a:lnSpc>
                <a:spcPct val="95000"/>
              </a:lnSpc>
              <a:spcBef>
                <a:spcPts val="0"/>
              </a:spcBef>
              <a:spcAft>
                <a:spcPts val="200"/>
              </a:spcAft>
            </a:pPr>
            <a:r>
              <a:rPr sz="4800" b="1" i="0">
                <a:solidFill>
                  <a:srgbClr val="0E7C7B"/>
                </a:solidFill>
                <a:latin typeface="Cambria"/>
              </a:rPr>
              <a:t>12A</a:t>
            </a:r>
          </a:p>
        </p:txBody>
      </p:sp>
      <p:sp>
        <p:nvSpPr>
          <p:cNvPr id="6" name="TextBox 5"/>
          <p:cNvSpPr txBox="1"/>
          <p:nvPr/>
        </p:nvSpPr>
        <p:spPr>
          <a:xfrm>
            <a:off x="777240" y="3264408"/>
            <a:ext cx="3301898" cy="1371600"/>
          </a:xfrm>
          <a:prstGeom prst="rect">
            <a:avLst/>
          </a:prstGeom>
          <a:noFill/>
        </p:spPr>
        <p:txBody>
          <a:bodyPr wrap="square" lIns="0" rIns="0" tIns="0" bIns="0" anchor="t">
            <a:spAutoFit/>
          </a:bodyPr>
          <a:lstStyle/>
          <a:p>
            <a:pPr algn="l">
              <a:lnSpc>
                <a:spcPct val="110000"/>
              </a:lnSpc>
              <a:spcBef>
                <a:spcPts val="0"/>
              </a:spcBef>
              <a:spcAft>
                <a:spcPts val="500"/>
              </a:spcAft>
            </a:pPr>
            <a:r>
              <a:rPr sz="1350" b="1" i="0">
                <a:solidFill>
                  <a:srgbClr val="10375C"/>
                </a:solidFill>
                <a:latin typeface="Calibri"/>
              </a:rPr>
              <a:t>Commercial Courts Act, 2015</a:t>
            </a:r>
          </a:p>
          <a:p>
            <a:pPr algn="l">
              <a:lnSpc>
                <a:spcPct val="120000"/>
              </a:lnSpc>
              <a:spcBef>
                <a:spcPts val="0"/>
              </a:spcBef>
              <a:spcAft>
                <a:spcPts val="600"/>
              </a:spcAft>
            </a:pPr>
            <a:r>
              <a:rPr sz="1100" b="0" i="0">
                <a:solidFill>
                  <a:srgbClr val="5A5A5A"/>
                </a:solidFill>
                <a:latin typeface="Calibri"/>
              </a:rPr>
              <a:t>A suit not seeking urgent interim relief shall not be instituted until pre-institution mediation is exhausted.</a:t>
            </a:r>
          </a:p>
        </p:txBody>
      </p:sp>
      <p:sp>
        <p:nvSpPr>
          <p:cNvPr id="7" name="TextBox 6"/>
          <p:cNvSpPr txBox="1"/>
          <p:nvPr/>
        </p:nvSpPr>
        <p:spPr>
          <a:xfrm>
            <a:off x="4444898" y="2240280"/>
            <a:ext cx="3301898" cy="1051560"/>
          </a:xfrm>
          <a:prstGeom prst="rect">
            <a:avLst/>
          </a:prstGeom>
          <a:noFill/>
        </p:spPr>
        <p:txBody>
          <a:bodyPr wrap="square" lIns="0" rIns="0" tIns="0" bIns="0" anchor="t">
            <a:spAutoFit/>
          </a:bodyPr>
          <a:lstStyle/>
          <a:p>
            <a:pPr algn="l">
              <a:lnSpc>
                <a:spcPct val="95000"/>
              </a:lnSpc>
              <a:spcBef>
                <a:spcPts val="0"/>
              </a:spcBef>
              <a:spcAft>
                <a:spcPts val="200"/>
              </a:spcAft>
            </a:pPr>
            <a:r>
              <a:rPr sz="4800" b="1" i="0">
                <a:solidFill>
                  <a:srgbClr val="0E7C7B"/>
                </a:solidFill>
                <a:latin typeface="Cambria"/>
              </a:rPr>
              <a:t>2022</a:t>
            </a:r>
          </a:p>
        </p:txBody>
      </p:sp>
      <p:sp>
        <p:nvSpPr>
          <p:cNvPr id="8" name="TextBox 7"/>
          <p:cNvSpPr txBox="1"/>
          <p:nvPr/>
        </p:nvSpPr>
        <p:spPr>
          <a:xfrm>
            <a:off x="4444898" y="3264408"/>
            <a:ext cx="3301898" cy="1371600"/>
          </a:xfrm>
          <a:prstGeom prst="rect">
            <a:avLst/>
          </a:prstGeom>
          <a:noFill/>
        </p:spPr>
        <p:txBody>
          <a:bodyPr wrap="square" lIns="0" rIns="0" tIns="0" bIns="0" anchor="t">
            <a:spAutoFit/>
          </a:bodyPr>
          <a:lstStyle/>
          <a:p>
            <a:pPr algn="l">
              <a:lnSpc>
                <a:spcPct val="110000"/>
              </a:lnSpc>
              <a:spcBef>
                <a:spcPts val="0"/>
              </a:spcBef>
              <a:spcAft>
                <a:spcPts val="500"/>
              </a:spcAft>
            </a:pPr>
            <a:r>
              <a:rPr sz="1350" b="1" i="0">
                <a:solidFill>
                  <a:srgbClr val="10375C"/>
                </a:solidFill>
                <a:latin typeface="Calibri"/>
              </a:rPr>
              <a:t>Patil Automation</a:t>
            </a:r>
          </a:p>
          <a:p>
            <a:pPr algn="l">
              <a:lnSpc>
                <a:spcPct val="120000"/>
              </a:lnSpc>
              <a:spcBef>
                <a:spcPts val="0"/>
              </a:spcBef>
              <a:spcAft>
                <a:spcPts val="600"/>
              </a:spcAft>
            </a:pPr>
            <a:r>
              <a:rPr sz="1100" b="0" i="0">
                <a:solidFill>
                  <a:srgbClr val="5A5A5A"/>
                </a:solidFill>
                <a:latin typeface="Calibri"/>
              </a:rPr>
              <a:t>The Supreme Court held the requirement mandatory, applying to suits instituted on or after 20 August 2022.</a:t>
            </a:r>
          </a:p>
        </p:txBody>
      </p:sp>
      <p:sp>
        <p:nvSpPr>
          <p:cNvPr id="9" name="TextBox 8"/>
          <p:cNvSpPr txBox="1"/>
          <p:nvPr/>
        </p:nvSpPr>
        <p:spPr>
          <a:xfrm>
            <a:off x="8112556" y="2240280"/>
            <a:ext cx="3301898" cy="1051560"/>
          </a:xfrm>
          <a:prstGeom prst="rect">
            <a:avLst/>
          </a:prstGeom>
          <a:noFill/>
        </p:spPr>
        <p:txBody>
          <a:bodyPr wrap="square" lIns="0" rIns="0" tIns="0" bIns="0" anchor="t">
            <a:spAutoFit/>
          </a:bodyPr>
          <a:lstStyle/>
          <a:p>
            <a:pPr algn="l">
              <a:lnSpc>
                <a:spcPct val="95000"/>
              </a:lnSpc>
              <a:spcBef>
                <a:spcPts val="0"/>
              </a:spcBef>
              <a:spcAft>
                <a:spcPts val="200"/>
              </a:spcAft>
            </a:pPr>
            <a:r>
              <a:rPr sz="4800" b="1" i="0">
                <a:solidFill>
                  <a:srgbClr val="0E7C7B"/>
                </a:solidFill>
                <a:latin typeface="Cambria"/>
              </a:rPr>
              <a:t>VII r.11</a:t>
            </a:r>
          </a:p>
        </p:txBody>
      </p:sp>
      <p:sp>
        <p:nvSpPr>
          <p:cNvPr id="10" name="TextBox 9"/>
          <p:cNvSpPr txBox="1"/>
          <p:nvPr/>
        </p:nvSpPr>
        <p:spPr>
          <a:xfrm>
            <a:off x="8112556" y="3264408"/>
            <a:ext cx="3301898" cy="1371600"/>
          </a:xfrm>
          <a:prstGeom prst="rect">
            <a:avLst/>
          </a:prstGeom>
          <a:noFill/>
        </p:spPr>
        <p:txBody>
          <a:bodyPr wrap="square" lIns="0" rIns="0" tIns="0" bIns="0" anchor="t">
            <a:spAutoFit/>
          </a:bodyPr>
          <a:lstStyle/>
          <a:p>
            <a:pPr algn="l">
              <a:lnSpc>
                <a:spcPct val="110000"/>
              </a:lnSpc>
              <a:spcBef>
                <a:spcPts val="0"/>
              </a:spcBef>
              <a:spcAft>
                <a:spcPts val="500"/>
              </a:spcAft>
            </a:pPr>
            <a:r>
              <a:rPr sz="1350" b="1" i="0">
                <a:solidFill>
                  <a:srgbClr val="10375C"/>
                </a:solidFill>
                <a:latin typeface="Calibri"/>
              </a:rPr>
              <a:t>Order VII Rule 11 CPC</a:t>
            </a:r>
          </a:p>
          <a:p>
            <a:pPr algn="l">
              <a:lnSpc>
                <a:spcPct val="120000"/>
              </a:lnSpc>
              <a:spcBef>
                <a:spcPts val="0"/>
              </a:spcBef>
              <a:spcAft>
                <a:spcPts val="600"/>
              </a:spcAft>
            </a:pPr>
            <a:r>
              <a:rPr sz="1100" b="0" i="0">
                <a:solidFill>
                  <a:srgbClr val="5A5A5A"/>
                </a:solidFill>
                <a:latin typeface="Calibri"/>
              </a:rPr>
              <a:t>Non-compliance renders the suit liable to rejection.</a:t>
            </a:r>
          </a:p>
        </p:txBody>
      </p:sp>
      <p:sp>
        <p:nvSpPr>
          <p:cNvPr id="11" name="TextBox 10"/>
          <p:cNvSpPr txBox="1"/>
          <p:nvPr/>
        </p:nvSpPr>
        <p:spPr>
          <a:xfrm>
            <a:off x="777240" y="6327648"/>
            <a:ext cx="10607040" cy="320040"/>
          </a:xfrm>
          <a:prstGeom prst="rect">
            <a:avLst/>
          </a:prstGeom>
          <a:noFill/>
        </p:spPr>
        <p:txBody>
          <a:bodyPr wrap="square" lIns="0" rIns="0" tIns="0" bIns="0" anchor="t">
            <a:spAutoFit/>
          </a:bodyPr>
          <a:lstStyle/>
          <a:p>
            <a:pPr algn="l">
              <a:spcBef>
                <a:spcPts val="0"/>
              </a:spcBef>
              <a:spcAft>
                <a:spcPts val="600"/>
              </a:spcAft>
            </a:pPr>
            <a:r>
              <a:rPr sz="950" b="0" i="1">
                <a:solidFill>
                  <a:srgbClr val="5A5A5A"/>
                </a:solidFill>
                <a:latin typeface="Calibri"/>
              </a:rPr>
              <a:t>The exception is a genuine claim for urgent interim relief. A contrived plea of urgency is a different problem.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Confidentiality</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The provision most often misunderstood, with the most serious consequences</a:t>
            </a:r>
          </a:p>
        </p:txBody>
      </p:sp>
      <p:sp>
        <p:nvSpPr>
          <p:cNvPr id="5" name="Rounded Rectangle 4"/>
          <p:cNvSpPr/>
          <p:nvPr/>
        </p:nvSpPr>
        <p:spPr>
          <a:xfrm>
            <a:off x="777240" y="2148840"/>
            <a:ext cx="3350666" cy="2921508"/>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1069848" y="2459736"/>
            <a:ext cx="475488" cy="475488"/>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mbria"/>
              </a:rPr>
              <a:t>1</a:t>
            </a:r>
          </a:p>
        </p:txBody>
      </p:sp>
      <p:sp>
        <p:nvSpPr>
          <p:cNvPr id="7" name="TextBox 6"/>
          <p:cNvSpPr txBox="1"/>
          <p:nvPr/>
        </p:nvSpPr>
        <p:spPr>
          <a:xfrm>
            <a:off x="1069848" y="3136392"/>
            <a:ext cx="2765450" cy="548640"/>
          </a:xfrm>
          <a:prstGeom prst="rect">
            <a:avLst/>
          </a:prstGeom>
          <a:noFill/>
        </p:spPr>
        <p:txBody>
          <a:bodyPr wrap="square" lIns="0" rIns="0" tIns="0" bIns="0" anchor="t">
            <a:spAutoFit/>
          </a:bodyPr>
          <a:lstStyle/>
          <a:p>
            <a:pPr algn="l">
              <a:lnSpc>
                <a:spcPct val="105000"/>
              </a:lnSpc>
              <a:spcBef>
                <a:spcPts val="0"/>
              </a:spcBef>
              <a:spcAft>
                <a:spcPts val="700"/>
              </a:spcAft>
            </a:pPr>
            <a:r>
              <a:rPr sz="1500" b="1" i="0">
                <a:solidFill>
                  <a:srgbClr val="10375C"/>
                </a:solidFill>
                <a:latin typeface="Cambria"/>
              </a:rPr>
              <a:t>No recording</a:t>
            </a:r>
          </a:p>
        </p:txBody>
      </p:sp>
      <p:sp>
        <p:nvSpPr>
          <p:cNvPr id="8" name="TextBox 7"/>
          <p:cNvSpPr txBox="1"/>
          <p:nvPr/>
        </p:nvSpPr>
        <p:spPr>
          <a:xfrm>
            <a:off x="1069848" y="3794760"/>
            <a:ext cx="2765450" cy="1019556"/>
          </a:xfrm>
          <a:prstGeom prst="rect">
            <a:avLst/>
          </a:prstGeom>
          <a:noFill/>
        </p:spPr>
        <p:txBody>
          <a:bodyPr wrap="square" lIns="0" rIns="0" tIns="0" bIns="0" anchor="t">
            <a:spAutoFit/>
          </a:bodyPr>
          <a:lstStyle/>
          <a:p>
            <a:pPr algn="l">
              <a:lnSpc>
                <a:spcPct val="118000"/>
              </a:lnSpc>
              <a:spcBef>
                <a:spcPts val="0"/>
              </a:spcBef>
              <a:spcAft>
                <a:spcPts val="600"/>
              </a:spcAft>
            </a:pPr>
            <a:r>
              <a:rPr sz="1150" b="0" i="0">
                <a:solidFill>
                  <a:srgbClr val="5A5A5A"/>
                </a:solidFill>
                <a:latin typeface="Calibri"/>
              </a:rPr>
              <a:t>Audio, video, screen capture — prohibited by statute, not by house rule.</a:t>
            </a:r>
          </a:p>
          <a:p>
            <a:pPr algn="l">
              <a:lnSpc>
                <a:spcPct val="118000"/>
              </a:lnSpc>
              <a:spcBef>
                <a:spcPts val="0"/>
              </a:spcBef>
              <a:spcAft>
                <a:spcPts val="600"/>
              </a:spcAft>
            </a:pPr>
            <a:r>
              <a:rPr sz="1150" b="0" i="0">
                <a:solidFill>
                  <a:srgbClr val="5A5A5A"/>
                </a:solidFill>
                <a:latin typeface="Calibri"/>
              </a:rPr>
              <a:t>This applies to you, to the parties, and to any observer.</a:t>
            </a:r>
          </a:p>
        </p:txBody>
      </p:sp>
      <p:sp>
        <p:nvSpPr>
          <p:cNvPr id="9" name="Rounded Rectangle 8"/>
          <p:cNvSpPr/>
          <p:nvPr/>
        </p:nvSpPr>
        <p:spPr>
          <a:xfrm>
            <a:off x="4420514" y="2148840"/>
            <a:ext cx="3350666" cy="2921508"/>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4713122" y="2459736"/>
            <a:ext cx="475488" cy="475488"/>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mbria"/>
              </a:rPr>
              <a:t>2</a:t>
            </a:r>
          </a:p>
        </p:txBody>
      </p:sp>
      <p:sp>
        <p:nvSpPr>
          <p:cNvPr id="11" name="TextBox 10"/>
          <p:cNvSpPr txBox="1"/>
          <p:nvPr/>
        </p:nvSpPr>
        <p:spPr>
          <a:xfrm>
            <a:off x="4713122" y="3136392"/>
            <a:ext cx="2765450" cy="548640"/>
          </a:xfrm>
          <a:prstGeom prst="rect">
            <a:avLst/>
          </a:prstGeom>
          <a:noFill/>
        </p:spPr>
        <p:txBody>
          <a:bodyPr wrap="square" lIns="0" rIns="0" tIns="0" bIns="0" anchor="t">
            <a:spAutoFit/>
          </a:bodyPr>
          <a:lstStyle/>
          <a:p>
            <a:pPr algn="l">
              <a:lnSpc>
                <a:spcPct val="105000"/>
              </a:lnSpc>
              <a:spcBef>
                <a:spcPts val="0"/>
              </a:spcBef>
              <a:spcAft>
                <a:spcPts val="700"/>
              </a:spcAft>
            </a:pPr>
            <a:r>
              <a:rPr sz="1500" b="1" i="0">
                <a:solidFill>
                  <a:srgbClr val="10375C"/>
                </a:solidFill>
                <a:latin typeface="Cambria"/>
              </a:rPr>
              <a:t>Not usable elsewhere</a:t>
            </a:r>
          </a:p>
        </p:txBody>
      </p:sp>
      <p:sp>
        <p:nvSpPr>
          <p:cNvPr id="12" name="TextBox 11"/>
          <p:cNvSpPr txBox="1"/>
          <p:nvPr/>
        </p:nvSpPr>
        <p:spPr>
          <a:xfrm>
            <a:off x="4713122" y="3794760"/>
            <a:ext cx="2765450" cy="1019556"/>
          </a:xfrm>
          <a:prstGeom prst="rect">
            <a:avLst/>
          </a:prstGeom>
          <a:noFill/>
        </p:spPr>
        <p:txBody>
          <a:bodyPr wrap="square" lIns="0" rIns="0" tIns="0" bIns="0" anchor="t">
            <a:spAutoFit/>
          </a:bodyPr>
          <a:lstStyle/>
          <a:p>
            <a:pPr algn="l">
              <a:lnSpc>
                <a:spcPct val="118000"/>
              </a:lnSpc>
              <a:spcBef>
                <a:spcPts val="0"/>
              </a:spcBef>
              <a:spcAft>
                <a:spcPts val="600"/>
              </a:spcAft>
            </a:pPr>
            <a:r>
              <a:rPr sz="1150" b="0" i="0">
                <a:solidFill>
                  <a:srgbClr val="5A5A5A"/>
                </a:solidFill>
                <a:latin typeface="Calibri"/>
              </a:rPr>
              <a:t>Statements, proposals and documents are not admissible in later court or arbitral proceedings.</a:t>
            </a:r>
          </a:p>
          <a:p>
            <a:pPr algn="l">
              <a:lnSpc>
                <a:spcPct val="118000"/>
              </a:lnSpc>
              <a:spcBef>
                <a:spcPts val="0"/>
              </a:spcBef>
              <a:spcAft>
                <a:spcPts val="600"/>
              </a:spcAft>
            </a:pPr>
            <a:r>
              <a:rPr sz="1150" b="0" i="0">
                <a:solidFill>
                  <a:srgbClr val="5A5A5A"/>
                </a:solidFill>
                <a:latin typeface="Calibri"/>
              </a:rPr>
              <a:t>The other side cannot quote your concession against you.</a:t>
            </a:r>
          </a:p>
        </p:txBody>
      </p:sp>
      <p:sp>
        <p:nvSpPr>
          <p:cNvPr id="13" name="Rounded Rectangle 12"/>
          <p:cNvSpPr/>
          <p:nvPr/>
        </p:nvSpPr>
        <p:spPr>
          <a:xfrm>
            <a:off x="8063788" y="2148840"/>
            <a:ext cx="3350666" cy="2921508"/>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8356396" y="2459736"/>
            <a:ext cx="475488" cy="475488"/>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mbria"/>
              </a:rPr>
              <a:t>3</a:t>
            </a:r>
          </a:p>
        </p:txBody>
      </p:sp>
      <p:sp>
        <p:nvSpPr>
          <p:cNvPr id="15" name="TextBox 14"/>
          <p:cNvSpPr txBox="1"/>
          <p:nvPr/>
        </p:nvSpPr>
        <p:spPr>
          <a:xfrm>
            <a:off x="8356396" y="3136392"/>
            <a:ext cx="2765450" cy="548640"/>
          </a:xfrm>
          <a:prstGeom prst="rect">
            <a:avLst/>
          </a:prstGeom>
          <a:noFill/>
        </p:spPr>
        <p:txBody>
          <a:bodyPr wrap="square" lIns="0" rIns="0" tIns="0" bIns="0" anchor="t">
            <a:spAutoFit/>
          </a:bodyPr>
          <a:lstStyle/>
          <a:p>
            <a:pPr algn="l">
              <a:lnSpc>
                <a:spcPct val="105000"/>
              </a:lnSpc>
              <a:spcBef>
                <a:spcPts val="0"/>
              </a:spcBef>
              <a:spcAft>
                <a:spcPts val="700"/>
              </a:spcAft>
            </a:pPr>
            <a:r>
              <a:rPr sz="1500" b="1" i="0">
                <a:solidFill>
                  <a:srgbClr val="10375C"/>
                </a:solidFill>
                <a:latin typeface="Cambria"/>
              </a:rPr>
              <a:t>Permanent</a:t>
            </a:r>
          </a:p>
        </p:txBody>
      </p:sp>
      <p:sp>
        <p:nvSpPr>
          <p:cNvPr id="16" name="TextBox 15"/>
          <p:cNvSpPr txBox="1"/>
          <p:nvPr/>
        </p:nvSpPr>
        <p:spPr>
          <a:xfrm>
            <a:off x="8356396" y="3794760"/>
            <a:ext cx="2765450" cy="1019556"/>
          </a:xfrm>
          <a:prstGeom prst="rect">
            <a:avLst/>
          </a:prstGeom>
          <a:noFill/>
        </p:spPr>
        <p:txBody>
          <a:bodyPr wrap="square" lIns="0" rIns="0" tIns="0" bIns="0" anchor="t">
            <a:spAutoFit/>
          </a:bodyPr>
          <a:lstStyle/>
          <a:p>
            <a:pPr algn="l">
              <a:lnSpc>
                <a:spcPct val="118000"/>
              </a:lnSpc>
              <a:spcBef>
                <a:spcPts val="0"/>
              </a:spcBef>
              <a:spcAft>
                <a:spcPts val="600"/>
              </a:spcAft>
            </a:pPr>
            <a:r>
              <a:rPr sz="1150" b="0" i="0">
                <a:solidFill>
                  <a:srgbClr val="5A5A5A"/>
                </a:solidFill>
                <a:latin typeface="Calibri"/>
              </a:rPr>
              <a:t>The obligation does not end when the mediation does, or when your internship, course or employment does.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Confidentiality within caucus</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The habit that will save you</a:t>
            </a:r>
          </a:p>
        </p:txBody>
      </p:sp>
      <p:sp>
        <p:nvSpPr>
          <p:cNvPr id="5" name="TextBox 4"/>
          <p:cNvSpPr txBox="1"/>
          <p:nvPr/>
        </p:nvSpPr>
        <p:spPr>
          <a:xfrm>
            <a:off x="777240" y="2194560"/>
            <a:ext cx="10607040" cy="1280160"/>
          </a:xfrm>
          <a:prstGeom prst="rect">
            <a:avLst/>
          </a:prstGeom>
          <a:noFill/>
        </p:spPr>
        <p:txBody>
          <a:bodyPr wrap="square" lIns="0" rIns="0" tIns="0" bIns="0" anchor="t">
            <a:spAutoFit/>
          </a:bodyPr>
          <a:lstStyle/>
          <a:p>
            <a:pPr algn="l">
              <a:lnSpc>
                <a:spcPct val="115000"/>
              </a:lnSpc>
              <a:spcBef>
                <a:spcPts val="0"/>
              </a:spcBef>
              <a:spcAft>
                <a:spcPts val="600"/>
              </a:spcAft>
            </a:pPr>
            <a:r>
              <a:rPr sz="2700" b="1" i="0">
                <a:solidFill>
                  <a:srgbClr val="10375C"/>
                </a:solidFill>
                <a:latin typeface="Cambria"/>
              </a:rPr>
              <a:t>Before I go back in — tell me what of this I can share, and what I must keep.</a:t>
            </a:r>
          </a:p>
        </p:txBody>
      </p:sp>
      <p:sp>
        <p:nvSpPr>
          <p:cNvPr id="6" name="Rounded Rectangle 5"/>
          <p:cNvSpPr/>
          <p:nvPr/>
        </p:nvSpPr>
        <p:spPr>
          <a:xfrm>
            <a:off x="777240" y="3749039"/>
            <a:ext cx="10607040" cy="1417320"/>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143000" y="4023360"/>
            <a:ext cx="9875520" cy="1005840"/>
          </a:xfrm>
          <a:prstGeom prst="rect">
            <a:avLst/>
          </a:prstGeom>
          <a:noFill/>
        </p:spPr>
        <p:txBody>
          <a:bodyPr wrap="square" lIns="0" rIns="0" tIns="0" bIns="0" anchor="t">
            <a:spAutoFit/>
          </a:bodyPr>
          <a:lstStyle/>
          <a:p>
            <a:pPr algn="l">
              <a:lnSpc>
                <a:spcPct val="130000"/>
              </a:lnSpc>
              <a:spcBef>
                <a:spcPts val="0"/>
              </a:spcBef>
              <a:spcAft>
                <a:spcPts val="600"/>
              </a:spcAft>
            </a:pPr>
            <a:r>
              <a:rPr sz="1400" b="0" i="0">
                <a:solidFill>
                  <a:srgbClr val="5A5A5A"/>
                </a:solidFill>
                <a:latin typeface="Calibri"/>
              </a:rPr>
              <a:t>Ask it at the end of every private session, every time, without exception. Getting this wrong destroys the process and your reputation in a single sentence — and it is almost always carelessness rather than intent.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What the mediator never does</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Eight things</a:t>
            </a:r>
          </a:p>
        </p:txBody>
      </p:sp>
      <p:sp>
        <p:nvSpPr>
          <p:cNvPr id="5" name="Rounded Rectangle 4"/>
          <p:cNvSpPr/>
          <p:nvPr/>
        </p:nvSpPr>
        <p:spPr>
          <a:xfrm>
            <a:off x="777240" y="2194560"/>
            <a:ext cx="5135727" cy="2601468"/>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43000" y="2523744"/>
            <a:ext cx="4404207" cy="457200"/>
          </a:xfrm>
          <a:prstGeom prst="rect">
            <a:avLst/>
          </a:prstGeom>
          <a:noFill/>
        </p:spPr>
        <p:txBody>
          <a:bodyPr wrap="square" lIns="0" rIns="0" tIns="0" bIns="0" anchor="t">
            <a:spAutoFit/>
          </a:bodyPr>
          <a:lstStyle/>
          <a:p>
            <a:pPr algn="l">
              <a:spcBef>
                <a:spcPts val="0"/>
              </a:spcBef>
              <a:spcAft>
                <a:spcPts val="600"/>
              </a:spcAft>
            </a:pPr>
            <a:r>
              <a:rPr sz="1650" b="1" i="0">
                <a:solidFill>
                  <a:srgbClr val="10375C"/>
                </a:solidFill>
                <a:latin typeface="Cambria"/>
              </a:rPr>
              <a:t>Never</a:t>
            </a:r>
          </a:p>
        </p:txBody>
      </p:sp>
      <p:sp>
        <p:nvSpPr>
          <p:cNvPr id="7" name="TextBox 6"/>
          <p:cNvSpPr txBox="1"/>
          <p:nvPr/>
        </p:nvSpPr>
        <p:spPr>
          <a:xfrm>
            <a:off x="1143000" y="3127248"/>
            <a:ext cx="4404207" cy="1321307"/>
          </a:xfrm>
          <a:prstGeom prst="rect">
            <a:avLst/>
          </a:prstGeom>
          <a:noFill/>
        </p:spPr>
        <p:txBody>
          <a:bodyPr wrap="square" lIns="0" rIns="0" tIns="0" bIns="0" anchor="t">
            <a:spAutoFit/>
          </a:bodyPr>
          <a:lstStyle/>
          <a:p>
            <a:pPr algn="l">
              <a:lnSpc>
                <a:spcPct val="120000"/>
              </a:lnSpc>
              <a:spcBef>
                <a:spcPts val="0"/>
              </a:spcBef>
              <a:spcAft>
                <a:spcPts val="900"/>
              </a:spcAft>
            </a:pPr>
            <a:r>
              <a:rPr sz="1250" b="0" i="0">
                <a:solidFill>
                  <a:srgbClr val="5A5A5A"/>
                </a:solidFill>
                <a:latin typeface="Calibri"/>
              </a:rPr>
              <a:t>Decide anything.</a:t>
            </a:r>
          </a:p>
          <a:p>
            <a:pPr algn="l">
              <a:lnSpc>
                <a:spcPct val="120000"/>
              </a:lnSpc>
              <a:spcBef>
                <a:spcPts val="0"/>
              </a:spcBef>
              <a:spcAft>
                <a:spcPts val="900"/>
              </a:spcAft>
            </a:pPr>
            <a:r>
              <a:rPr sz="1250" b="0" i="0">
                <a:solidFill>
                  <a:srgbClr val="5A5A5A"/>
                </a:solidFill>
                <a:latin typeface="Calibri"/>
              </a:rPr>
              <a:t>Give legal advice to either party.</a:t>
            </a:r>
          </a:p>
          <a:p>
            <a:pPr algn="l">
              <a:lnSpc>
                <a:spcPct val="120000"/>
              </a:lnSpc>
              <a:spcBef>
                <a:spcPts val="0"/>
              </a:spcBef>
              <a:spcAft>
                <a:spcPts val="900"/>
              </a:spcAft>
            </a:pPr>
            <a:r>
              <a:rPr sz="1250" b="0" i="0">
                <a:solidFill>
                  <a:srgbClr val="5A5A5A"/>
                </a:solidFill>
                <a:latin typeface="Calibri"/>
              </a:rPr>
              <a:t>Express a view on who would win.</a:t>
            </a:r>
          </a:p>
          <a:p>
            <a:pPr algn="l">
              <a:lnSpc>
                <a:spcPct val="120000"/>
              </a:lnSpc>
              <a:spcBef>
                <a:spcPts val="0"/>
              </a:spcBef>
              <a:spcAft>
                <a:spcPts val="900"/>
              </a:spcAft>
            </a:pPr>
            <a:r>
              <a:rPr sz="1250" b="0" i="0">
                <a:solidFill>
                  <a:srgbClr val="5A5A5A"/>
                </a:solidFill>
                <a:latin typeface="Calibri"/>
              </a:rPr>
              <a:t>Pressure a party to settle.</a:t>
            </a:r>
          </a:p>
        </p:txBody>
      </p:sp>
      <p:sp>
        <p:nvSpPr>
          <p:cNvPr id="8" name="Rounded Rectangle 7"/>
          <p:cNvSpPr/>
          <p:nvPr/>
        </p:nvSpPr>
        <p:spPr>
          <a:xfrm>
            <a:off x="6278727" y="2194560"/>
            <a:ext cx="5135727" cy="2601468"/>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44487" y="2523744"/>
            <a:ext cx="4404207" cy="457200"/>
          </a:xfrm>
          <a:prstGeom prst="rect">
            <a:avLst/>
          </a:prstGeom>
          <a:noFill/>
        </p:spPr>
        <p:txBody>
          <a:bodyPr wrap="square" lIns="0" rIns="0" tIns="0" bIns="0" anchor="t">
            <a:spAutoFit/>
          </a:bodyPr>
          <a:lstStyle/>
          <a:p>
            <a:pPr algn="l">
              <a:spcBef>
                <a:spcPts val="0"/>
              </a:spcBef>
              <a:spcAft>
                <a:spcPts val="600"/>
              </a:spcAft>
            </a:pPr>
            <a:r>
              <a:rPr sz="1650" b="1" i="0">
                <a:solidFill>
                  <a:srgbClr val="10375C"/>
                </a:solidFill>
                <a:latin typeface="Cambria"/>
              </a:rPr>
              <a:t>Never</a:t>
            </a:r>
          </a:p>
        </p:txBody>
      </p:sp>
      <p:sp>
        <p:nvSpPr>
          <p:cNvPr id="10" name="TextBox 9"/>
          <p:cNvSpPr txBox="1"/>
          <p:nvPr/>
        </p:nvSpPr>
        <p:spPr>
          <a:xfrm>
            <a:off x="6644487" y="3127248"/>
            <a:ext cx="4404207" cy="1321307"/>
          </a:xfrm>
          <a:prstGeom prst="rect">
            <a:avLst/>
          </a:prstGeom>
          <a:noFill/>
        </p:spPr>
        <p:txBody>
          <a:bodyPr wrap="square" lIns="0" rIns="0" tIns="0" bIns="0" anchor="t">
            <a:spAutoFit/>
          </a:bodyPr>
          <a:lstStyle/>
          <a:p>
            <a:pPr algn="l">
              <a:lnSpc>
                <a:spcPct val="120000"/>
              </a:lnSpc>
              <a:spcBef>
                <a:spcPts val="0"/>
              </a:spcBef>
              <a:spcAft>
                <a:spcPts val="900"/>
              </a:spcAft>
            </a:pPr>
            <a:r>
              <a:rPr sz="1250" b="0" i="0">
                <a:solidFill>
                  <a:srgbClr val="5A5A5A"/>
                </a:solidFill>
                <a:latin typeface="Calibri"/>
              </a:rPr>
              <a:t>Carry information across a caucus without permission.</a:t>
            </a:r>
          </a:p>
          <a:p>
            <a:pPr algn="l">
              <a:lnSpc>
                <a:spcPct val="120000"/>
              </a:lnSpc>
              <a:spcBef>
                <a:spcPts val="0"/>
              </a:spcBef>
              <a:spcAft>
                <a:spcPts val="900"/>
              </a:spcAft>
            </a:pPr>
            <a:r>
              <a:rPr sz="1250" b="0" i="0">
                <a:solidFill>
                  <a:srgbClr val="5A5A5A"/>
                </a:solidFill>
                <a:latin typeface="Calibri"/>
              </a:rPr>
              <a:t>Continue where a party lacks capacity or is under duress.</a:t>
            </a:r>
          </a:p>
          <a:p>
            <a:pPr algn="l">
              <a:lnSpc>
                <a:spcPct val="120000"/>
              </a:lnSpc>
              <a:spcBef>
                <a:spcPts val="0"/>
              </a:spcBef>
              <a:spcAft>
                <a:spcPts val="900"/>
              </a:spcAft>
            </a:pPr>
            <a:r>
              <a:rPr sz="1250" b="0" i="0">
                <a:solidFill>
                  <a:srgbClr val="5A5A5A"/>
                </a:solidFill>
                <a:latin typeface="Calibri"/>
              </a:rPr>
              <a:t>Act on an undisclosed conflict.</a:t>
            </a:r>
          </a:p>
          <a:p>
            <a:pPr algn="l">
              <a:lnSpc>
                <a:spcPct val="120000"/>
              </a:lnSpc>
              <a:spcBef>
                <a:spcPts val="0"/>
              </a:spcBef>
              <a:spcAft>
                <a:spcPts val="900"/>
              </a:spcAft>
            </a:pPr>
            <a:r>
              <a:rPr sz="1250" b="0" i="0">
                <a:solidFill>
                  <a:srgbClr val="5A5A5A"/>
                </a:solidFill>
                <a:latin typeface="Calibri"/>
              </a:rPr>
              <a:t>Record the proceeding.</a:t>
            </a:r>
          </a:p>
        </p:txBody>
      </p:sp>
      <p:sp>
        <p:nvSpPr>
          <p:cNvPr id="11" name="TextBox 10"/>
          <p:cNvSpPr txBox="1"/>
          <p:nvPr/>
        </p:nvSpPr>
        <p:spPr>
          <a:xfrm>
            <a:off x="777240" y="6327648"/>
            <a:ext cx="10607040" cy="320040"/>
          </a:xfrm>
          <a:prstGeom prst="rect">
            <a:avLst/>
          </a:prstGeom>
          <a:noFill/>
        </p:spPr>
        <p:txBody>
          <a:bodyPr wrap="square" lIns="0" rIns="0" tIns="0" bIns="0" anchor="t">
            <a:spAutoFit/>
          </a:bodyPr>
          <a:lstStyle/>
          <a:p>
            <a:pPr algn="l">
              <a:spcBef>
                <a:spcPts val="0"/>
              </a:spcBef>
              <a:spcAft>
                <a:spcPts val="600"/>
              </a:spcAft>
            </a:pPr>
            <a:r>
              <a:rPr sz="950" b="0" i="1">
                <a:solidFill>
                  <a:srgbClr val="5A5A5A"/>
                </a:solidFill>
                <a:latin typeface="Calibri"/>
              </a:rPr>
              <a:t>Self-determination: the parties' right to make their own decision, including one you think is unwise.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The stages</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You will move backwards, and you should</a:t>
            </a:r>
          </a:p>
        </p:txBody>
      </p:sp>
      <p:graphicFrame>
        <p:nvGraphicFramePr>
          <p:cNvPr id="5" name="Table 4"/>
          <p:cNvGraphicFramePr>
            <a:graphicFrameLocks noGrp="1"/>
          </p:cNvGraphicFramePr>
          <p:nvPr/>
        </p:nvGraphicFramePr>
        <p:xfrm>
          <a:off x="777240" y="1920240"/>
          <a:ext cx="10637213" cy="3456432"/>
        </p:xfrm>
        <a:graphic>
          <a:graphicData uri="http://schemas.openxmlformats.org/drawingml/2006/table">
            <a:tbl>
              <a:tblPr firstRow="1" bandRow="1">
                <a:tableStyleId>{5C22544A-7EE6-4342-B048-85BDC9FD1C3A}</a:tableStyleId>
              </a:tblPr>
              <a:tblGrid>
                <a:gridCol w="631021"/>
                <a:gridCol w="2614230"/>
                <a:gridCol w="5408753"/>
                <a:gridCol w="1983209"/>
              </a:tblGrid>
              <a:tr h="384048">
                <a:tc>
                  <a:txBody>
                    <a:bodyPr/>
                    <a:lstStyle/>
                    <a:p>
                      <a:r>
                        <a:rPr sz="1100" b="1">
                          <a:solidFill>
                            <a:srgbClr val="FFFFFF"/>
                          </a:solidFill>
                          <a:latin typeface="Calibri"/>
                        </a:rPr>
                        <a:t/>
                      </a:r>
                    </a:p>
                  </a:txBody>
                  <a:tcPr marL="109728" marR="73152" marT="45720" marB="45720" anchor="ctr">
                    <a:solidFill>
                      <a:srgbClr val="10375C"/>
                    </a:solidFill>
                  </a:tcPr>
                </a:tc>
                <a:tc>
                  <a:txBody>
                    <a:bodyPr/>
                    <a:lstStyle/>
                    <a:p>
                      <a:r>
                        <a:rPr sz="1100" b="1">
                          <a:solidFill>
                            <a:srgbClr val="FFFFFF"/>
                          </a:solidFill>
                          <a:latin typeface="Calibri"/>
                        </a:rPr>
                        <a:t>Stage</a:t>
                      </a:r>
                    </a:p>
                  </a:txBody>
                  <a:tcPr marL="109728" marR="73152" marT="45720" marB="45720" anchor="ctr">
                    <a:solidFill>
                      <a:srgbClr val="10375C"/>
                    </a:solidFill>
                  </a:tcPr>
                </a:tc>
                <a:tc>
                  <a:txBody>
                    <a:bodyPr/>
                    <a:lstStyle/>
                    <a:p>
                      <a:r>
                        <a:rPr sz="1100" b="1">
                          <a:solidFill>
                            <a:srgbClr val="FFFFFF"/>
                          </a:solidFill>
                          <a:latin typeface="Calibri"/>
                        </a:rPr>
                        <a:t>Purpose</a:t>
                      </a:r>
                    </a:p>
                  </a:txBody>
                  <a:tcPr marL="109728" marR="73152" marT="45720" marB="45720" anchor="ctr">
                    <a:solidFill>
                      <a:srgbClr val="10375C"/>
                    </a:solidFill>
                  </a:tcPr>
                </a:tc>
                <a:tc>
                  <a:txBody>
                    <a:bodyPr/>
                    <a:lstStyle/>
                    <a:p>
                      <a:r>
                        <a:rPr sz="1100" b="1">
                          <a:solidFill>
                            <a:srgbClr val="FFFFFF"/>
                          </a:solidFill>
                          <a:latin typeface="Calibri"/>
                        </a:rPr>
                        <a:t>Share of time</a:t>
                      </a:r>
                    </a:p>
                  </a:txBody>
                  <a:tcPr marL="109728" marR="73152" marT="45720" marB="45720" anchor="ctr">
                    <a:solidFill>
                      <a:srgbClr val="10375C"/>
                    </a:solidFill>
                  </a:tcPr>
                </a:tc>
              </a:tr>
              <a:tr h="384048">
                <a:tc>
                  <a:txBody>
                    <a:bodyPr/>
                    <a:lstStyle/>
                    <a:p>
                      <a:r>
                        <a:rPr sz="1150" b="1">
                          <a:solidFill>
                            <a:srgbClr val="10375C"/>
                          </a:solidFill>
                          <a:latin typeface="Calibri"/>
                        </a:rPr>
                        <a:t>1</a:t>
                      </a:r>
                    </a:p>
                  </a:txBody>
                  <a:tcPr marL="109728" marR="73152" marT="36576" marB="36576" anchor="ctr">
                    <a:solidFill>
                      <a:srgbClr val="FFFFFF"/>
                    </a:solidFill>
                  </a:tcPr>
                </a:tc>
                <a:tc>
                  <a:txBody>
                    <a:bodyPr/>
                    <a:lstStyle/>
                    <a:p>
                      <a:r>
                        <a:rPr sz="1150" b="0">
                          <a:solidFill>
                            <a:srgbClr val="1F1F1F"/>
                          </a:solidFill>
                          <a:latin typeface="Calibri"/>
                        </a:rPr>
                        <a:t>Convening</a:t>
                      </a:r>
                    </a:p>
                  </a:txBody>
                  <a:tcPr marL="109728" marR="73152" marT="36576" marB="36576" anchor="ctr">
                    <a:solidFill>
                      <a:srgbClr val="FFFFFF"/>
                    </a:solidFill>
                  </a:tcPr>
                </a:tc>
                <a:tc>
                  <a:txBody>
                    <a:bodyPr/>
                    <a:lstStyle/>
                    <a:p>
                      <a:r>
                        <a:rPr sz="1150" b="0">
                          <a:solidFill>
                            <a:srgbClr val="1F1F1F"/>
                          </a:solidFill>
                          <a:latin typeface="Calibri"/>
                        </a:rPr>
                        <a:t>Parties, authority, conflicts, logistics</a:t>
                      </a:r>
                    </a:p>
                  </a:txBody>
                  <a:tcPr marL="109728" marR="73152" marT="36576" marB="36576" anchor="ctr">
                    <a:solidFill>
                      <a:srgbClr val="FFFFFF"/>
                    </a:solidFill>
                  </a:tcPr>
                </a:tc>
                <a:tc>
                  <a:txBody>
                    <a:bodyPr/>
                    <a:lstStyle/>
                    <a:p>
                      <a:r>
                        <a:rPr sz="1150" b="0">
                          <a:solidFill>
                            <a:srgbClr val="1F1F1F"/>
                          </a:solidFill>
                          <a:latin typeface="Calibri"/>
                        </a:rPr>
                        <a:t>Before the day</a:t>
                      </a:r>
                    </a:p>
                  </a:txBody>
                  <a:tcPr marL="109728" marR="73152" marT="36576" marB="36576" anchor="ctr">
                    <a:solidFill>
                      <a:srgbClr val="FFFFFF"/>
                    </a:solidFill>
                  </a:tcPr>
                </a:tc>
              </a:tr>
              <a:tr h="384048">
                <a:tc>
                  <a:txBody>
                    <a:bodyPr/>
                    <a:lstStyle/>
                    <a:p>
                      <a:r>
                        <a:rPr sz="1150" b="1">
                          <a:solidFill>
                            <a:srgbClr val="10375C"/>
                          </a:solidFill>
                          <a:latin typeface="Calibri"/>
                        </a:rPr>
                        <a:t>2</a:t>
                      </a:r>
                    </a:p>
                  </a:txBody>
                  <a:tcPr marL="109728" marR="73152" marT="36576" marB="36576" anchor="ctr">
                    <a:solidFill>
                      <a:srgbClr val="EAF1F4"/>
                    </a:solidFill>
                  </a:tcPr>
                </a:tc>
                <a:tc>
                  <a:txBody>
                    <a:bodyPr/>
                    <a:lstStyle/>
                    <a:p>
                      <a:r>
                        <a:rPr sz="1150" b="0">
                          <a:solidFill>
                            <a:srgbClr val="1F1F1F"/>
                          </a:solidFill>
                          <a:latin typeface="Calibri"/>
                        </a:rPr>
                        <a:t>Opening</a:t>
                      </a:r>
                    </a:p>
                  </a:txBody>
                  <a:tcPr marL="109728" marR="73152" marT="36576" marB="36576" anchor="ctr">
                    <a:solidFill>
                      <a:srgbClr val="EAF1F4"/>
                    </a:solidFill>
                  </a:tcPr>
                </a:tc>
                <a:tc>
                  <a:txBody>
                    <a:bodyPr/>
                    <a:lstStyle/>
                    <a:p>
                      <a:r>
                        <a:rPr sz="1150" b="0">
                          <a:solidFill>
                            <a:srgbClr val="1F1F1F"/>
                          </a:solidFill>
                          <a:latin typeface="Calibri"/>
                        </a:rPr>
                        <a:t>Process, role, confidentiality, safety</a:t>
                      </a:r>
                    </a:p>
                  </a:txBody>
                  <a:tcPr marL="109728" marR="73152" marT="36576" marB="36576" anchor="ctr">
                    <a:solidFill>
                      <a:srgbClr val="EAF1F4"/>
                    </a:solidFill>
                  </a:tcPr>
                </a:tc>
                <a:tc>
                  <a:txBody>
                    <a:bodyPr/>
                    <a:lstStyle/>
                    <a:p>
                      <a:r>
                        <a:rPr sz="1150" b="0">
                          <a:solidFill>
                            <a:srgbClr val="1F1F1F"/>
                          </a:solidFill>
                          <a:latin typeface="Calibri"/>
                        </a:rPr>
                        <a:t>5–8%</a:t>
                      </a:r>
                    </a:p>
                  </a:txBody>
                  <a:tcPr marL="109728" marR="73152" marT="36576" marB="36576" anchor="ctr">
                    <a:solidFill>
                      <a:srgbClr val="EAF1F4"/>
                    </a:solidFill>
                  </a:tcPr>
                </a:tc>
              </a:tr>
              <a:tr h="384048">
                <a:tc>
                  <a:txBody>
                    <a:bodyPr/>
                    <a:lstStyle/>
                    <a:p>
                      <a:r>
                        <a:rPr sz="1150" b="1">
                          <a:solidFill>
                            <a:srgbClr val="10375C"/>
                          </a:solidFill>
                          <a:latin typeface="Calibri"/>
                        </a:rPr>
                        <a:t>3</a:t>
                      </a:r>
                    </a:p>
                  </a:txBody>
                  <a:tcPr marL="109728" marR="73152" marT="36576" marB="36576" anchor="ctr">
                    <a:solidFill>
                      <a:srgbClr val="FFFFFF"/>
                    </a:solidFill>
                  </a:tcPr>
                </a:tc>
                <a:tc>
                  <a:txBody>
                    <a:bodyPr/>
                    <a:lstStyle/>
                    <a:p>
                      <a:r>
                        <a:rPr sz="1150" b="0">
                          <a:solidFill>
                            <a:srgbClr val="1F1F1F"/>
                          </a:solidFill>
                          <a:latin typeface="Calibri"/>
                        </a:rPr>
                        <a:t>Party statements</a:t>
                      </a:r>
                    </a:p>
                  </a:txBody>
                  <a:tcPr marL="109728" marR="73152" marT="36576" marB="36576" anchor="ctr">
                    <a:solidFill>
                      <a:srgbClr val="FFFFFF"/>
                    </a:solidFill>
                  </a:tcPr>
                </a:tc>
                <a:tc>
                  <a:txBody>
                    <a:bodyPr/>
                    <a:lstStyle/>
                    <a:p>
                      <a:r>
                        <a:rPr sz="1150" b="0">
                          <a:solidFill>
                            <a:srgbClr val="1F1F1F"/>
                          </a:solidFill>
                          <a:latin typeface="Calibri"/>
                        </a:rPr>
                        <a:t>Each side heard, uninterrupted</a:t>
                      </a:r>
                    </a:p>
                  </a:txBody>
                  <a:tcPr marL="109728" marR="73152" marT="36576" marB="36576" anchor="ctr">
                    <a:solidFill>
                      <a:srgbClr val="FFFFFF"/>
                    </a:solidFill>
                  </a:tcPr>
                </a:tc>
                <a:tc>
                  <a:txBody>
                    <a:bodyPr/>
                    <a:lstStyle/>
                    <a:p>
                      <a:r>
                        <a:rPr sz="1150" b="0">
                          <a:solidFill>
                            <a:srgbClr val="1F1F1F"/>
                          </a:solidFill>
                          <a:latin typeface="Calibri"/>
                        </a:rPr>
                        <a:t>15%</a:t>
                      </a:r>
                    </a:p>
                  </a:txBody>
                  <a:tcPr marL="109728" marR="73152" marT="36576" marB="36576" anchor="ctr">
                    <a:solidFill>
                      <a:srgbClr val="FFFFFF"/>
                    </a:solidFill>
                  </a:tcPr>
                </a:tc>
              </a:tr>
              <a:tr h="384048">
                <a:tc>
                  <a:txBody>
                    <a:bodyPr/>
                    <a:lstStyle/>
                    <a:p>
                      <a:r>
                        <a:rPr sz="1150" b="1">
                          <a:solidFill>
                            <a:srgbClr val="10375C"/>
                          </a:solidFill>
                          <a:latin typeface="Calibri"/>
                        </a:rPr>
                        <a:t>4</a:t>
                      </a:r>
                    </a:p>
                  </a:txBody>
                  <a:tcPr marL="109728" marR="73152" marT="36576" marB="36576" anchor="ctr">
                    <a:solidFill>
                      <a:srgbClr val="EAF1F4"/>
                    </a:solidFill>
                  </a:tcPr>
                </a:tc>
                <a:tc>
                  <a:txBody>
                    <a:bodyPr/>
                    <a:lstStyle/>
                    <a:p>
                      <a:r>
                        <a:rPr sz="1150" b="0">
                          <a:solidFill>
                            <a:srgbClr val="1F1F1F"/>
                          </a:solidFill>
                          <a:latin typeface="Calibri"/>
                        </a:rPr>
                        <a:t>Information gathering</a:t>
                      </a:r>
                    </a:p>
                  </a:txBody>
                  <a:tcPr marL="109728" marR="73152" marT="36576" marB="36576" anchor="ctr">
                    <a:solidFill>
                      <a:srgbClr val="EAF1F4"/>
                    </a:solidFill>
                  </a:tcPr>
                </a:tc>
                <a:tc>
                  <a:txBody>
                    <a:bodyPr/>
                    <a:lstStyle/>
                    <a:p>
                      <a:r>
                        <a:rPr sz="1150" b="0">
                          <a:solidFill>
                            <a:srgbClr val="1F1F1F"/>
                          </a:solidFill>
                          <a:latin typeface="Calibri"/>
                        </a:rPr>
                        <a:t>What happened, and what matters</a:t>
                      </a:r>
                    </a:p>
                  </a:txBody>
                  <a:tcPr marL="109728" marR="73152" marT="36576" marB="36576" anchor="ctr">
                    <a:solidFill>
                      <a:srgbClr val="EAF1F4"/>
                    </a:solidFill>
                  </a:tcPr>
                </a:tc>
                <a:tc>
                  <a:txBody>
                    <a:bodyPr/>
                    <a:lstStyle/>
                    <a:p>
                      <a:r>
                        <a:rPr sz="1150" b="0">
                          <a:solidFill>
                            <a:srgbClr val="1F1F1F"/>
                          </a:solidFill>
                          <a:latin typeface="Calibri"/>
                        </a:rPr>
                        <a:t>20%</a:t>
                      </a:r>
                    </a:p>
                  </a:txBody>
                  <a:tcPr marL="109728" marR="73152" marT="36576" marB="36576" anchor="ctr">
                    <a:solidFill>
                      <a:srgbClr val="EAF1F4"/>
                    </a:solidFill>
                  </a:tcPr>
                </a:tc>
              </a:tr>
              <a:tr h="384048">
                <a:tc>
                  <a:txBody>
                    <a:bodyPr/>
                    <a:lstStyle/>
                    <a:p>
                      <a:r>
                        <a:rPr sz="1150" b="1">
                          <a:solidFill>
                            <a:srgbClr val="10375C"/>
                          </a:solidFill>
                          <a:latin typeface="Calibri"/>
                        </a:rPr>
                        <a:t>5</a:t>
                      </a:r>
                    </a:p>
                  </a:txBody>
                  <a:tcPr marL="109728" marR="73152" marT="36576" marB="36576" anchor="ctr">
                    <a:solidFill>
                      <a:srgbClr val="FFFFFF"/>
                    </a:solidFill>
                  </a:tcPr>
                </a:tc>
                <a:tc>
                  <a:txBody>
                    <a:bodyPr/>
                    <a:lstStyle/>
                    <a:p>
                      <a:r>
                        <a:rPr sz="1150" b="0">
                          <a:solidFill>
                            <a:srgbClr val="1F1F1F"/>
                          </a:solidFill>
                          <a:latin typeface="Calibri"/>
                        </a:rPr>
                        <a:t>Identifying interests</a:t>
                      </a:r>
                    </a:p>
                  </a:txBody>
                  <a:tcPr marL="109728" marR="73152" marT="36576" marB="36576" anchor="ctr">
                    <a:solidFill>
                      <a:srgbClr val="FFFFFF"/>
                    </a:solidFill>
                  </a:tcPr>
                </a:tc>
                <a:tc>
                  <a:txBody>
                    <a:bodyPr/>
                    <a:lstStyle/>
                    <a:p>
                      <a:r>
                        <a:rPr sz="1150" b="0">
                          <a:solidFill>
                            <a:srgbClr val="1F1F1F"/>
                          </a:solidFill>
                          <a:latin typeface="Calibri"/>
                        </a:rPr>
                        <a:t>From positions to underlying needs</a:t>
                      </a:r>
                    </a:p>
                  </a:txBody>
                  <a:tcPr marL="109728" marR="73152" marT="36576" marB="36576" anchor="ctr">
                    <a:solidFill>
                      <a:srgbClr val="FFFFFF"/>
                    </a:solidFill>
                  </a:tcPr>
                </a:tc>
                <a:tc>
                  <a:txBody>
                    <a:bodyPr/>
                    <a:lstStyle/>
                    <a:p>
                      <a:r>
                        <a:rPr sz="1150" b="0">
                          <a:solidFill>
                            <a:srgbClr val="1F1F1F"/>
                          </a:solidFill>
                          <a:latin typeface="Calibri"/>
                        </a:rPr>
                        <a:t>15%</a:t>
                      </a:r>
                    </a:p>
                  </a:txBody>
                  <a:tcPr marL="109728" marR="73152" marT="36576" marB="36576" anchor="ctr">
                    <a:solidFill>
                      <a:srgbClr val="FFFFFF"/>
                    </a:solidFill>
                  </a:tcPr>
                </a:tc>
              </a:tr>
              <a:tr h="384048">
                <a:tc>
                  <a:txBody>
                    <a:bodyPr/>
                    <a:lstStyle/>
                    <a:p>
                      <a:r>
                        <a:rPr sz="1150" b="1">
                          <a:solidFill>
                            <a:srgbClr val="10375C"/>
                          </a:solidFill>
                          <a:latin typeface="Calibri"/>
                        </a:rPr>
                        <a:t>6</a:t>
                      </a:r>
                    </a:p>
                  </a:txBody>
                  <a:tcPr marL="109728" marR="73152" marT="36576" marB="36576" anchor="ctr">
                    <a:solidFill>
                      <a:srgbClr val="EAF1F4"/>
                    </a:solidFill>
                  </a:tcPr>
                </a:tc>
                <a:tc>
                  <a:txBody>
                    <a:bodyPr/>
                    <a:lstStyle/>
                    <a:p>
                      <a:r>
                        <a:rPr sz="1150" b="0">
                          <a:solidFill>
                            <a:srgbClr val="1F1F1F"/>
                          </a:solidFill>
                          <a:latin typeface="Calibri"/>
                        </a:rPr>
                        <a:t>Generating options</a:t>
                      </a:r>
                    </a:p>
                  </a:txBody>
                  <a:tcPr marL="109728" marR="73152" marT="36576" marB="36576" anchor="ctr">
                    <a:solidFill>
                      <a:srgbClr val="EAF1F4"/>
                    </a:solidFill>
                  </a:tcPr>
                </a:tc>
                <a:tc>
                  <a:txBody>
                    <a:bodyPr/>
                    <a:lstStyle/>
                    <a:p>
                      <a:r>
                        <a:rPr sz="1150" b="0">
                          <a:solidFill>
                            <a:srgbClr val="1F1F1F"/>
                          </a:solidFill>
                          <a:latin typeface="Calibri"/>
                        </a:rPr>
                        <a:t>Invent without evaluating</a:t>
                      </a:r>
                    </a:p>
                  </a:txBody>
                  <a:tcPr marL="109728" marR="73152" marT="36576" marB="36576" anchor="ctr">
                    <a:solidFill>
                      <a:srgbClr val="EAF1F4"/>
                    </a:solidFill>
                  </a:tcPr>
                </a:tc>
                <a:tc>
                  <a:txBody>
                    <a:bodyPr/>
                    <a:lstStyle/>
                    <a:p>
                      <a:r>
                        <a:rPr sz="1150" b="0">
                          <a:solidFill>
                            <a:srgbClr val="1F1F1F"/>
                          </a:solidFill>
                          <a:latin typeface="Calibri"/>
                        </a:rPr>
                        <a:t>15%</a:t>
                      </a:r>
                    </a:p>
                  </a:txBody>
                  <a:tcPr marL="109728" marR="73152" marT="36576" marB="36576" anchor="ctr">
                    <a:solidFill>
                      <a:srgbClr val="EAF1F4"/>
                    </a:solidFill>
                  </a:tcPr>
                </a:tc>
              </a:tr>
              <a:tr h="384048">
                <a:tc>
                  <a:txBody>
                    <a:bodyPr/>
                    <a:lstStyle/>
                    <a:p>
                      <a:r>
                        <a:rPr sz="1150" b="1">
                          <a:solidFill>
                            <a:srgbClr val="10375C"/>
                          </a:solidFill>
                          <a:latin typeface="Calibri"/>
                        </a:rPr>
                        <a:t>7</a:t>
                      </a:r>
                    </a:p>
                  </a:txBody>
                  <a:tcPr marL="109728" marR="73152" marT="36576" marB="36576" anchor="ctr">
                    <a:solidFill>
                      <a:srgbClr val="FFFFFF"/>
                    </a:solidFill>
                  </a:tcPr>
                </a:tc>
                <a:tc>
                  <a:txBody>
                    <a:bodyPr/>
                    <a:lstStyle/>
                    <a:p>
                      <a:r>
                        <a:rPr sz="1150" b="0">
                          <a:solidFill>
                            <a:srgbClr val="1F1F1F"/>
                          </a:solidFill>
                          <a:latin typeface="Calibri"/>
                        </a:rPr>
                        <a:t>Negotiation</a:t>
                      </a:r>
                    </a:p>
                  </a:txBody>
                  <a:tcPr marL="109728" marR="73152" marT="36576" marB="36576" anchor="ctr">
                    <a:solidFill>
                      <a:srgbClr val="FFFFFF"/>
                    </a:solidFill>
                  </a:tcPr>
                </a:tc>
                <a:tc>
                  <a:txBody>
                    <a:bodyPr/>
                    <a:lstStyle/>
                    <a:p>
                      <a:r>
                        <a:rPr sz="1150" b="0">
                          <a:solidFill>
                            <a:srgbClr val="1F1F1F"/>
                          </a:solidFill>
                          <a:latin typeface="Calibri"/>
                        </a:rPr>
                        <a:t>Trade, test, converge</a:t>
                      </a:r>
                    </a:p>
                  </a:txBody>
                  <a:tcPr marL="109728" marR="73152" marT="36576" marB="36576" anchor="ctr">
                    <a:solidFill>
                      <a:srgbClr val="FFFFFF"/>
                    </a:solidFill>
                  </a:tcPr>
                </a:tc>
                <a:tc>
                  <a:txBody>
                    <a:bodyPr/>
                    <a:lstStyle/>
                    <a:p>
                      <a:r>
                        <a:rPr sz="1150" b="0">
                          <a:solidFill>
                            <a:srgbClr val="1F1F1F"/>
                          </a:solidFill>
                          <a:latin typeface="Calibri"/>
                        </a:rPr>
                        <a:t>20%</a:t>
                      </a:r>
                    </a:p>
                  </a:txBody>
                  <a:tcPr marL="109728" marR="73152" marT="36576" marB="36576" anchor="ctr">
                    <a:solidFill>
                      <a:srgbClr val="FFFFFF"/>
                    </a:solidFill>
                  </a:tcPr>
                </a:tc>
              </a:tr>
              <a:tr h="384048">
                <a:tc>
                  <a:txBody>
                    <a:bodyPr/>
                    <a:lstStyle/>
                    <a:p>
                      <a:r>
                        <a:rPr sz="1150" b="1">
                          <a:solidFill>
                            <a:srgbClr val="10375C"/>
                          </a:solidFill>
                          <a:latin typeface="Calibri"/>
                        </a:rPr>
                        <a:t>8</a:t>
                      </a:r>
                    </a:p>
                  </a:txBody>
                  <a:tcPr marL="109728" marR="73152" marT="36576" marB="36576" anchor="ctr">
                    <a:solidFill>
                      <a:srgbClr val="EAF1F4"/>
                    </a:solidFill>
                  </a:tcPr>
                </a:tc>
                <a:tc>
                  <a:txBody>
                    <a:bodyPr/>
                    <a:lstStyle/>
                    <a:p>
                      <a:r>
                        <a:rPr sz="1150" b="0">
                          <a:solidFill>
                            <a:srgbClr val="1F1F1F"/>
                          </a:solidFill>
                          <a:latin typeface="Calibri"/>
                        </a:rPr>
                        <a:t>Agreement and closure</a:t>
                      </a:r>
                    </a:p>
                  </a:txBody>
                  <a:tcPr marL="109728" marR="73152" marT="36576" marB="36576" anchor="ctr">
                    <a:solidFill>
                      <a:srgbClr val="EAF1F4"/>
                    </a:solidFill>
                  </a:tcPr>
                </a:tc>
                <a:tc>
                  <a:txBody>
                    <a:bodyPr/>
                    <a:lstStyle/>
                    <a:p>
                      <a:r>
                        <a:rPr sz="1150" b="0">
                          <a:solidFill>
                            <a:srgbClr val="1F1F1F"/>
                          </a:solidFill>
                          <a:latin typeface="Calibri"/>
                        </a:rPr>
                        <a:t>Capture terms; confirm what is not agreed</a:t>
                      </a:r>
                    </a:p>
                  </a:txBody>
                  <a:tcPr marL="109728" marR="73152" marT="36576" marB="36576" anchor="ctr">
                    <a:solidFill>
                      <a:srgbClr val="EAF1F4"/>
                    </a:solidFill>
                  </a:tcPr>
                </a:tc>
                <a:tc>
                  <a:txBody>
                    <a:bodyPr/>
                    <a:lstStyle/>
                    <a:p>
                      <a:r>
                        <a:rPr sz="1150" b="0">
                          <a:solidFill>
                            <a:srgbClr val="1F1F1F"/>
                          </a:solidFill>
                          <a:latin typeface="Calibri"/>
                        </a:rPr>
                        <a:t>7%</a:t>
                      </a:r>
                    </a:p>
                  </a:txBody>
                  <a:tcPr marL="109728" marR="73152" marT="36576" marB="36576" anchor="ctr">
                    <a:solidFill>
                      <a:srgbClr val="EAF1F4"/>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737360"/>
            <a:ext cx="9784080" cy="365760"/>
          </a:xfrm>
          <a:prstGeom prst="rect">
            <a:avLst/>
          </a:prstGeom>
          <a:noFill/>
        </p:spPr>
        <p:txBody>
          <a:bodyPr wrap="square" lIns="0" rIns="0" tIns="0" bIns="0" anchor="t">
            <a:spAutoFit/>
          </a:bodyPr>
          <a:lstStyle/>
          <a:p>
            <a:pPr algn="l">
              <a:spcBef>
                <a:spcPts val="0"/>
              </a:spcBef>
              <a:spcAft>
                <a:spcPts val="600"/>
              </a:spcAft>
            </a:pPr>
            <a:r>
              <a:rPr sz="1200" b="1" i="0">
                <a:solidFill>
                  <a:srgbClr val="D6EEED"/>
                </a:solidFill>
                <a:latin typeface="Calibri"/>
              </a:rPr>
              <a:t>CONVENING</a:t>
            </a:r>
          </a:p>
        </p:txBody>
      </p:sp>
      <p:sp>
        <p:nvSpPr>
          <p:cNvPr id="4" name="TextBox 3"/>
          <p:cNvSpPr txBox="1"/>
          <p:nvPr/>
        </p:nvSpPr>
        <p:spPr>
          <a:xfrm>
            <a:off x="1188720" y="2240280"/>
            <a:ext cx="9784080" cy="2743200"/>
          </a:xfrm>
          <a:prstGeom prst="rect">
            <a:avLst/>
          </a:prstGeom>
          <a:noFill/>
        </p:spPr>
        <p:txBody>
          <a:bodyPr wrap="square" lIns="0" rIns="0" tIns="0" bIns="0" anchor="t">
            <a:spAutoFit/>
          </a:bodyPr>
          <a:lstStyle/>
          <a:p>
            <a:pPr algn="l">
              <a:lnSpc>
                <a:spcPct val="116000"/>
              </a:lnSpc>
              <a:spcBef>
                <a:spcPts val="0"/>
              </a:spcBef>
              <a:spcAft>
                <a:spcPts val="1400"/>
              </a:spcAft>
            </a:pPr>
            <a:r>
              <a:rPr sz="2700" b="1" i="0">
                <a:solidFill>
                  <a:srgbClr val="FFFFFF"/>
                </a:solidFill>
                <a:latin typeface="Cambria"/>
              </a:rPr>
              <a:t>Authority is the item most often skipped and most often fatal.</a:t>
            </a:r>
          </a:p>
          <a:p>
            <a:pPr algn="l">
              <a:spcBef>
                <a:spcPts val="0"/>
              </a:spcBef>
              <a:spcAft>
                <a:spcPts val="600"/>
              </a:spcAft>
            </a:pPr>
            <a:r>
              <a:rPr sz="1400" b="0" i="1">
                <a:solidFill>
                  <a:srgbClr val="D6EEED"/>
                </a:solidFill>
                <a:latin typeface="Calibri"/>
              </a:rPr>
              <a:t>Ask directly: if we reach agreement today, can you sign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2331720"/>
            <a:ext cx="868680" cy="868680"/>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600" b="1">
                <a:solidFill>
                  <a:srgbClr val="FFFFFF"/>
                </a:solidFill>
                <a:latin typeface="Cambria"/>
              </a:rPr>
              <a:t>2</a:t>
            </a:r>
          </a:p>
        </p:txBody>
      </p:sp>
      <p:sp>
        <p:nvSpPr>
          <p:cNvPr id="4" name="TextBox 3"/>
          <p:cNvSpPr txBox="1"/>
          <p:nvPr/>
        </p:nvSpPr>
        <p:spPr>
          <a:xfrm>
            <a:off x="2148840" y="2395728"/>
            <a:ext cx="8961120" cy="1280160"/>
          </a:xfrm>
          <a:prstGeom prst="rect">
            <a:avLst/>
          </a:prstGeom>
          <a:noFill/>
        </p:spPr>
        <p:txBody>
          <a:bodyPr wrap="square" lIns="0" rIns="0" tIns="0" bIns="0" anchor="t">
            <a:spAutoFit/>
          </a:bodyPr>
          <a:lstStyle/>
          <a:p>
            <a:pPr algn="l">
              <a:lnSpc>
                <a:spcPct val="100000"/>
              </a:lnSpc>
              <a:spcBef>
                <a:spcPts val="0"/>
              </a:spcBef>
              <a:spcAft>
                <a:spcPts val="800"/>
              </a:spcAft>
            </a:pPr>
            <a:r>
              <a:rPr sz="3400" b="1" i="0">
                <a:solidFill>
                  <a:srgbClr val="FFFFFF"/>
                </a:solidFill>
                <a:latin typeface="Cambria"/>
              </a:rPr>
              <a:t>Communication, information and interests</a:t>
            </a:r>
          </a:p>
          <a:p>
            <a:pPr algn="l">
              <a:lnSpc>
                <a:spcPct val="125000"/>
              </a:lnSpc>
              <a:spcBef>
                <a:spcPts val="0"/>
              </a:spcBef>
              <a:spcAft>
                <a:spcPts val="600"/>
              </a:spcAft>
            </a:pPr>
            <a:r>
              <a:rPr sz="1500" b="0" i="0">
                <a:solidFill>
                  <a:srgbClr val="C9D6DE"/>
                </a:solidFill>
                <a:latin typeface="Calibri"/>
              </a:rPr>
              <a:t>Day 2  ·  8 hours  ·  30% input, 70% practice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Active listening</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A discipline of not solving, not a technique</a:t>
            </a:r>
          </a:p>
        </p:txBody>
      </p:sp>
      <p:sp>
        <p:nvSpPr>
          <p:cNvPr id="5" name="Rounded Rectangle 4"/>
          <p:cNvSpPr/>
          <p:nvPr/>
        </p:nvSpPr>
        <p:spPr>
          <a:xfrm>
            <a:off x="777240" y="2148840"/>
            <a:ext cx="2439847" cy="3118104"/>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1069848" y="2459736"/>
            <a:ext cx="475488" cy="475488"/>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mbria"/>
              </a:rPr>
              <a:t>1</a:t>
            </a:r>
          </a:p>
        </p:txBody>
      </p:sp>
      <p:sp>
        <p:nvSpPr>
          <p:cNvPr id="7" name="TextBox 6"/>
          <p:cNvSpPr txBox="1"/>
          <p:nvPr/>
        </p:nvSpPr>
        <p:spPr>
          <a:xfrm>
            <a:off x="1069848" y="3136392"/>
            <a:ext cx="1854631" cy="548640"/>
          </a:xfrm>
          <a:prstGeom prst="rect">
            <a:avLst/>
          </a:prstGeom>
          <a:noFill/>
        </p:spPr>
        <p:txBody>
          <a:bodyPr wrap="square" lIns="0" rIns="0" tIns="0" bIns="0" anchor="t">
            <a:spAutoFit/>
          </a:bodyPr>
          <a:lstStyle/>
          <a:p>
            <a:pPr algn="l">
              <a:lnSpc>
                <a:spcPct val="105000"/>
              </a:lnSpc>
              <a:spcBef>
                <a:spcPts val="0"/>
              </a:spcBef>
              <a:spcAft>
                <a:spcPts val="700"/>
              </a:spcAft>
            </a:pPr>
            <a:r>
              <a:rPr sz="1500" b="1" i="0">
                <a:solidFill>
                  <a:srgbClr val="10375C"/>
                </a:solidFill>
                <a:latin typeface="Cambria"/>
              </a:rPr>
              <a:t>Attending</a:t>
            </a:r>
          </a:p>
        </p:txBody>
      </p:sp>
      <p:sp>
        <p:nvSpPr>
          <p:cNvPr id="8" name="TextBox 7"/>
          <p:cNvSpPr txBox="1"/>
          <p:nvPr/>
        </p:nvSpPr>
        <p:spPr>
          <a:xfrm>
            <a:off x="1069848" y="3794760"/>
            <a:ext cx="1854631" cy="1216152"/>
          </a:xfrm>
          <a:prstGeom prst="rect">
            <a:avLst/>
          </a:prstGeom>
          <a:noFill/>
        </p:spPr>
        <p:txBody>
          <a:bodyPr wrap="square" lIns="0" rIns="0" tIns="0" bIns="0" anchor="t">
            <a:spAutoFit/>
          </a:bodyPr>
          <a:lstStyle/>
          <a:p>
            <a:pPr algn="l">
              <a:lnSpc>
                <a:spcPct val="118000"/>
              </a:lnSpc>
              <a:spcBef>
                <a:spcPts val="0"/>
              </a:spcBef>
              <a:spcAft>
                <a:spcPts val="600"/>
              </a:spcAft>
            </a:pPr>
            <a:r>
              <a:rPr sz="1150" b="0" i="0">
                <a:solidFill>
                  <a:srgbClr val="5A5A5A"/>
                </a:solidFill>
                <a:latin typeface="Calibri"/>
              </a:rPr>
              <a:t>Body oriented to the speaker. Eye contact appropriate to the person.</a:t>
            </a:r>
          </a:p>
          <a:p>
            <a:pPr algn="l">
              <a:lnSpc>
                <a:spcPct val="118000"/>
              </a:lnSpc>
              <a:spcBef>
                <a:spcPts val="0"/>
              </a:spcBef>
              <a:spcAft>
                <a:spcPts val="600"/>
              </a:spcAft>
            </a:pPr>
            <a:r>
              <a:rPr sz="1150" b="0" i="0">
                <a:solidFill>
                  <a:srgbClr val="5A5A5A"/>
                </a:solidFill>
                <a:latin typeface="Calibri"/>
              </a:rPr>
              <a:t>Not writing while they speak about something difficult.</a:t>
            </a:r>
          </a:p>
        </p:txBody>
      </p:sp>
      <p:sp>
        <p:nvSpPr>
          <p:cNvPr id="9" name="Rounded Rectangle 8"/>
          <p:cNvSpPr/>
          <p:nvPr/>
        </p:nvSpPr>
        <p:spPr>
          <a:xfrm>
            <a:off x="3509695" y="2148840"/>
            <a:ext cx="2439847" cy="3118104"/>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3802303" y="2459736"/>
            <a:ext cx="475488" cy="475488"/>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mbria"/>
              </a:rPr>
              <a:t>2</a:t>
            </a:r>
          </a:p>
        </p:txBody>
      </p:sp>
      <p:sp>
        <p:nvSpPr>
          <p:cNvPr id="11" name="TextBox 10"/>
          <p:cNvSpPr txBox="1"/>
          <p:nvPr/>
        </p:nvSpPr>
        <p:spPr>
          <a:xfrm>
            <a:off x="3802303" y="3136392"/>
            <a:ext cx="1854631" cy="548640"/>
          </a:xfrm>
          <a:prstGeom prst="rect">
            <a:avLst/>
          </a:prstGeom>
          <a:noFill/>
        </p:spPr>
        <p:txBody>
          <a:bodyPr wrap="square" lIns="0" rIns="0" tIns="0" bIns="0" anchor="t">
            <a:spAutoFit/>
          </a:bodyPr>
          <a:lstStyle/>
          <a:p>
            <a:pPr algn="l">
              <a:lnSpc>
                <a:spcPct val="105000"/>
              </a:lnSpc>
              <a:spcBef>
                <a:spcPts val="0"/>
              </a:spcBef>
              <a:spcAft>
                <a:spcPts val="700"/>
              </a:spcAft>
            </a:pPr>
            <a:r>
              <a:rPr sz="1500" b="1" i="0">
                <a:solidFill>
                  <a:srgbClr val="10375C"/>
                </a:solidFill>
                <a:latin typeface="Cambria"/>
              </a:rPr>
              <a:t>Minimal encouragers</a:t>
            </a:r>
          </a:p>
        </p:txBody>
      </p:sp>
      <p:sp>
        <p:nvSpPr>
          <p:cNvPr id="12" name="TextBox 11"/>
          <p:cNvSpPr txBox="1"/>
          <p:nvPr/>
        </p:nvSpPr>
        <p:spPr>
          <a:xfrm>
            <a:off x="3802303" y="3794760"/>
            <a:ext cx="1854631" cy="1216152"/>
          </a:xfrm>
          <a:prstGeom prst="rect">
            <a:avLst/>
          </a:prstGeom>
          <a:noFill/>
        </p:spPr>
        <p:txBody>
          <a:bodyPr wrap="square" lIns="0" rIns="0" tIns="0" bIns="0" anchor="t">
            <a:spAutoFit/>
          </a:bodyPr>
          <a:lstStyle/>
          <a:p>
            <a:pPr algn="l">
              <a:lnSpc>
                <a:spcPct val="118000"/>
              </a:lnSpc>
              <a:spcBef>
                <a:spcPts val="0"/>
              </a:spcBef>
              <a:spcAft>
                <a:spcPts val="600"/>
              </a:spcAft>
            </a:pPr>
            <a:r>
              <a:rPr sz="1150" b="0" i="0">
                <a:solidFill>
                  <a:srgbClr val="5A5A5A"/>
                </a:solidFill>
                <a:latin typeface="Calibri"/>
              </a:rPr>
              <a:t>Mm. Go on. And then?</a:t>
            </a:r>
          </a:p>
          <a:p>
            <a:pPr algn="l">
              <a:lnSpc>
                <a:spcPct val="118000"/>
              </a:lnSpc>
              <a:spcBef>
                <a:spcPts val="0"/>
              </a:spcBef>
              <a:spcAft>
                <a:spcPts val="600"/>
              </a:spcAft>
            </a:pPr>
            <a:r>
              <a:rPr sz="1150" b="0" i="0">
                <a:solidFill>
                  <a:srgbClr val="5A5A5A"/>
                </a:solidFill>
                <a:latin typeface="Calibri"/>
              </a:rPr>
              <a:t>Almost nothing, and it does a great deal.</a:t>
            </a:r>
          </a:p>
        </p:txBody>
      </p:sp>
      <p:sp>
        <p:nvSpPr>
          <p:cNvPr id="13" name="Rounded Rectangle 12"/>
          <p:cNvSpPr/>
          <p:nvPr/>
        </p:nvSpPr>
        <p:spPr>
          <a:xfrm>
            <a:off x="6242151" y="2148840"/>
            <a:ext cx="2439847" cy="3118104"/>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6534759" y="2459736"/>
            <a:ext cx="475488" cy="475488"/>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mbria"/>
              </a:rPr>
              <a:t>3</a:t>
            </a:r>
          </a:p>
        </p:txBody>
      </p:sp>
      <p:sp>
        <p:nvSpPr>
          <p:cNvPr id="15" name="TextBox 14"/>
          <p:cNvSpPr txBox="1"/>
          <p:nvPr/>
        </p:nvSpPr>
        <p:spPr>
          <a:xfrm>
            <a:off x="6534759" y="3136392"/>
            <a:ext cx="1854631" cy="548640"/>
          </a:xfrm>
          <a:prstGeom prst="rect">
            <a:avLst/>
          </a:prstGeom>
          <a:noFill/>
        </p:spPr>
        <p:txBody>
          <a:bodyPr wrap="square" lIns="0" rIns="0" tIns="0" bIns="0" anchor="t">
            <a:spAutoFit/>
          </a:bodyPr>
          <a:lstStyle/>
          <a:p>
            <a:pPr algn="l">
              <a:lnSpc>
                <a:spcPct val="105000"/>
              </a:lnSpc>
              <a:spcBef>
                <a:spcPts val="0"/>
              </a:spcBef>
              <a:spcAft>
                <a:spcPts val="700"/>
              </a:spcAft>
            </a:pPr>
            <a:r>
              <a:rPr sz="1500" b="1" i="0">
                <a:solidFill>
                  <a:srgbClr val="10375C"/>
                </a:solidFill>
                <a:latin typeface="Cambria"/>
              </a:rPr>
              <a:t>Paraphrase</a:t>
            </a:r>
          </a:p>
        </p:txBody>
      </p:sp>
      <p:sp>
        <p:nvSpPr>
          <p:cNvPr id="16" name="TextBox 15"/>
          <p:cNvSpPr txBox="1"/>
          <p:nvPr/>
        </p:nvSpPr>
        <p:spPr>
          <a:xfrm>
            <a:off x="6534759" y="3794760"/>
            <a:ext cx="1854631" cy="1216152"/>
          </a:xfrm>
          <a:prstGeom prst="rect">
            <a:avLst/>
          </a:prstGeom>
          <a:noFill/>
        </p:spPr>
        <p:txBody>
          <a:bodyPr wrap="square" lIns="0" rIns="0" tIns="0" bIns="0" anchor="t">
            <a:spAutoFit/>
          </a:bodyPr>
          <a:lstStyle/>
          <a:p>
            <a:pPr algn="l">
              <a:lnSpc>
                <a:spcPct val="118000"/>
              </a:lnSpc>
              <a:spcBef>
                <a:spcPts val="0"/>
              </a:spcBef>
              <a:spcAft>
                <a:spcPts val="600"/>
              </a:spcAft>
            </a:pPr>
            <a:r>
              <a:rPr sz="1150" b="0" i="0">
                <a:solidFill>
                  <a:srgbClr val="5A5A5A"/>
                </a:solidFill>
                <a:latin typeface="Calibri"/>
              </a:rPr>
              <a:t>Content, in your words, shorter.</a:t>
            </a:r>
          </a:p>
          <a:p>
            <a:pPr algn="l">
              <a:lnSpc>
                <a:spcPct val="118000"/>
              </a:lnSpc>
              <a:spcBef>
                <a:spcPts val="0"/>
              </a:spcBef>
              <a:spcAft>
                <a:spcPts val="600"/>
              </a:spcAft>
            </a:pPr>
            <a:r>
              <a:rPr sz="1150" b="0" i="0">
                <a:solidFill>
                  <a:srgbClr val="5A5A5A"/>
                </a:solidFill>
                <a:latin typeface="Calibri"/>
              </a:rPr>
              <a:t>'So the position is — [content]. Have I got that right?'</a:t>
            </a:r>
          </a:p>
        </p:txBody>
      </p:sp>
      <p:sp>
        <p:nvSpPr>
          <p:cNvPr id="17" name="Rounded Rectangle 16"/>
          <p:cNvSpPr/>
          <p:nvPr/>
        </p:nvSpPr>
        <p:spPr>
          <a:xfrm>
            <a:off x="8974607" y="2148840"/>
            <a:ext cx="2439847" cy="3118104"/>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9267215" y="2459736"/>
            <a:ext cx="475488" cy="475488"/>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Cambria"/>
              </a:rPr>
              <a:t>4</a:t>
            </a:r>
          </a:p>
        </p:txBody>
      </p:sp>
      <p:sp>
        <p:nvSpPr>
          <p:cNvPr id="19" name="TextBox 18"/>
          <p:cNvSpPr txBox="1"/>
          <p:nvPr/>
        </p:nvSpPr>
        <p:spPr>
          <a:xfrm>
            <a:off x="9267215" y="3136392"/>
            <a:ext cx="1854631" cy="548640"/>
          </a:xfrm>
          <a:prstGeom prst="rect">
            <a:avLst/>
          </a:prstGeom>
          <a:noFill/>
        </p:spPr>
        <p:txBody>
          <a:bodyPr wrap="square" lIns="0" rIns="0" tIns="0" bIns="0" anchor="t">
            <a:spAutoFit/>
          </a:bodyPr>
          <a:lstStyle/>
          <a:p>
            <a:pPr algn="l">
              <a:lnSpc>
                <a:spcPct val="105000"/>
              </a:lnSpc>
              <a:spcBef>
                <a:spcPts val="0"/>
              </a:spcBef>
              <a:spcAft>
                <a:spcPts val="700"/>
              </a:spcAft>
            </a:pPr>
            <a:r>
              <a:rPr sz="1500" b="1" i="0">
                <a:solidFill>
                  <a:srgbClr val="10375C"/>
                </a:solidFill>
                <a:latin typeface="Cambria"/>
              </a:rPr>
              <a:t>Summary</a:t>
            </a:r>
          </a:p>
        </p:txBody>
      </p:sp>
      <p:sp>
        <p:nvSpPr>
          <p:cNvPr id="20" name="TextBox 19"/>
          <p:cNvSpPr txBox="1"/>
          <p:nvPr/>
        </p:nvSpPr>
        <p:spPr>
          <a:xfrm>
            <a:off x="9267215" y="3794760"/>
            <a:ext cx="1854631" cy="1216152"/>
          </a:xfrm>
          <a:prstGeom prst="rect">
            <a:avLst/>
          </a:prstGeom>
          <a:noFill/>
        </p:spPr>
        <p:txBody>
          <a:bodyPr wrap="square" lIns="0" rIns="0" tIns="0" bIns="0" anchor="t">
            <a:spAutoFit/>
          </a:bodyPr>
          <a:lstStyle/>
          <a:p>
            <a:pPr algn="l">
              <a:lnSpc>
                <a:spcPct val="118000"/>
              </a:lnSpc>
              <a:spcBef>
                <a:spcPts val="0"/>
              </a:spcBef>
              <a:spcAft>
                <a:spcPts val="600"/>
              </a:spcAft>
            </a:pPr>
            <a:r>
              <a:rPr sz="1150" b="0" i="0">
                <a:solidFill>
                  <a:srgbClr val="5A5A5A"/>
                </a:solidFill>
                <a:latin typeface="Calibri"/>
              </a:rPr>
              <a:t>Content plus feeling, at the end of a passage, checked back.</a:t>
            </a:r>
          </a:p>
          <a:p>
            <a:pPr algn="l">
              <a:lnSpc>
                <a:spcPct val="118000"/>
              </a:lnSpc>
              <a:spcBef>
                <a:spcPts val="0"/>
              </a:spcBef>
              <a:spcAft>
                <a:spcPts val="600"/>
              </a:spcAft>
            </a:pPr>
            <a:r>
              <a:rPr sz="1150" b="0" i="0">
                <a:solidFill>
                  <a:srgbClr val="5A5A5A"/>
                </a:solidFill>
                <a:latin typeface="Calibri"/>
              </a:rPr>
              <a:t>'And it sounds like the hardest part has been [feeling]. Is that fair?'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Questioning</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The funnel, and the questions that damage</a:t>
            </a:r>
          </a:p>
        </p:txBody>
      </p:sp>
      <p:sp>
        <p:nvSpPr>
          <p:cNvPr id="5" name="Rounded Rectangle 4"/>
          <p:cNvSpPr/>
          <p:nvPr/>
        </p:nvSpPr>
        <p:spPr>
          <a:xfrm>
            <a:off x="777240" y="2011680"/>
            <a:ext cx="5135727" cy="3145535"/>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43000" y="2340864"/>
            <a:ext cx="4404207" cy="457200"/>
          </a:xfrm>
          <a:prstGeom prst="rect">
            <a:avLst/>
          </a:prstGeom>
          <a:noFill/>
        </p:spPr>
        <p:txBody>
          <a:bodyPr wrap="square" lIns="0" rIns="0" tIns="0" bIns="0" anchor="t">
            <a:spAutoFit/>
          </a:bodyPr>
          <a:lstStyle/>
          <a:p>
            <a:pPr algn="l">
              <a:spcBef>
                <a:spcPts val="0"/>
              </a:spcBef>
              <a:spcAft>
                <a:spcPts val="600"/>
              </a:spcAft>
            </a:pPr>
            <a:r>
              <a:rPr sz="1650" b="1" i="0">
                <a:solidFill>
                  <a:srgbClr val="10375C"/>
                </a:solidFill>
                <a:latin typeface="Cambria"/>
              </a:rPr>
              <a:t>The funnel — in this order</a:t>
            </a:r>
          </a:p>
        </p:txBody>
      </p:sp>
      <p:sp>
        <p:nvSpPr>
          <p:cNvPr id="7" name="TextBox 6"/>
          <p:cNvSpPr txBox="1"/>
          <p:nvPr/>
        </p:nvSpPr>
        <p:spPr>
          <a:xfrm>
            <a:off x="1143000" y="2944368"/>
            <a:ext cx="4404207" cy="1865375"/>
          </a:xfrm>
          <a:prstGeom prst="rect">
            <a:avLst/>
          </a:prstGeom>
          <a:noFill/>
        </p:spPr>
        <p:txBody>
          <a:bodyPr wrap="square" lIns="0" rIns="0" tIns="0" bIns="0" anchor="t">
            <a:spAutoFit/>
          </a:bodyPr>
          <a:lstStyle/>
          <a:p>
            <a:pPr algn="l">
              <a:lnSpc>
                <a:spcPct val="120000"/>
              </a:lnSpc>
              <a:spcBef>
                <a:spcPts val="0"/>
              </a:spcBef>
              <a:spcAft>
                <a:spcPts val="900"/>
              </a:spcAft>
            </a:pPr>
            <a:r>
              <a:rPr sz="1250" b="0" i="0">
                <a:solidFill>
                  <a:srgbClr val="5A5A5A"/>
                </a:solidFill>
                <a:latin typeface="Calibri"/>
              </a:rPr>
              <a:t>OPEN — What happened next?</a:t>
            </a:r>
          </a:p>
          <a:p>
            <a:pPr algn="l">
              <a:lnSpc>
                <a:spcPct val="120000"/>
              </a:lnSpc>
              <a:spcBef>
                <a:spcPts val="0"/>
              </a:spcBef>
              <a:spcAft>
                <a:spcPts val="900"/>
              </a:spcAft>
            </a:pPr>
            <a:r>
              <a:rPr sz="1250" b="0" i="0">
                <a:solidFill>
                  <a:srgbClr val="5A5A5A"/>
                </a:solidFill>
                <a:latin typeface="Calibri"/>
              </a:rPr>
              <a:t>CLARIFYING — When you say 'delayed', how many days?</a:t>
            </a:r>
          </a:p>
          <a:p>
            <a:pPr algn="l">
              <a:lnSpc>
                <a:spcPct val="120000"/>
              </a:lnSpc>
              <a:spcBef>
                <a:spcPts val="0"/>
              </a:spcBef>
              <a:spcAft>
                <a:spcPts val="900"/>
              </a:spcAft>
            </a:pPr>
            <a:r>
              <a:rPr sz="1250" b="0" i="0">
                <a:solidFill>
                  <a:srgbClr val="5A5A5A"/>
                </a:solidFill>
                <a:latin typeface="Calibri"/>
              </a:rPr>
              <a:t>CLOSED — Was that before or after the invoice?</a:t>
            </a:r>
          </a:p>
          <a:p>
            <a:pPr algn="l">
              <a:lnSpc>
                <a:spcPct val="120000"/>
              </a:lnSpc>
              <a:spcBef>
                <a:spcPts val="0"/>
              </a:spcBef>
              <a:spcAft>
                <a:spcPts val="900"/>
              </a:spcAft>
            </a:pPr>
            <a:r>
              <a:rPr sz="1250" b="0" i="0">
                <a:solidFill>
                  <a:srgbClr val="5A5A5A"/>
                </a:solidFill>
                <a:latin typeface="Calibri"/>
              </a:rPr>
              <a:t/>
            </a:r>
          </a:p>
          <a:p>
            <a:pPr algn="l">
              <a:lnSpc>
                <a:spcPct val="120000"/>
              </a:lnSpc>
              <a:spcBef>
                <a:spcPts val="0"/>
              </a:spcBef>
              <a:spcAft>
                <a:spcPts val="900"/>
              </a:spcAft>
            </a:pPr>
            <a:r>
              <a:rPr sz="1250" b="0" i="0">
                <a:solidFill>
                  <a:srgbClr val="5A5A5A"/>
                </a:solidFill>
                <a:latin typeface="Calibri"/>
              </a:rPr>
              <a:t>Most beginners invert it and start closed. That produces a cross-examination and no information.</a:t>
            </a:r>
          </a:p>
        </p:txBody>
      </p:sp>
      <p:sp>
        <p:nvSpPr>
          <p:cNvPr id="8" name="Rounded Rectangle 7"/>
          <p:cNvSpPr/>
          <p:nvPr/>
        </p:nvSpPr>
        <p:spPr>
          <a:xfrm>
            <a:off x="6278727" y="2011680"/>
            <a:ext cx="5135727" cy="3145535"/>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44487" y="2340864"/>
            <a:ext cx="4404207" cy="457200"/>
          </a:xfrm>
          <a:prstGeom prst="rect">
            <a:avLst/>
          </a:prstGeom>
          <a:noFill/>
        </p:spPr>
        <p:txBody>
          <a:bodyPr wrap="square" lIns="0" rIns="0" tIns="0" bIns="0" anchor="t">
            <a:spAutoFit/>
          </a:bodyPr>
          <a:lstStyle/>
          <a:p>
            <a:pPr algn="l">
              <a:spcBef>
                <a:spcPts val="0"/>
              </a:spcBef>
              <a:spcAft>
                <a:spcPts val="600"/>
              </a:spcAft>
            </a:pPr>
            <a:r>
              <a:rPr sz="1650" b="1" i="0">
                <a:solidFill>
                  <a:srgbClr val="10375C"/>
                </a:solidFill>
                <a:latin typeface="Cambria"/>
              </a:rPr>
              <a:t>Questions that damage</a:t>
            </a:r>
          </a:p>
        </p:txBody>
      </p:sp>
      <p:sp>
        <p:nvSpPr>
          <p:cNvPr id="10" name="TextBox 9"/>
          <p:cNvSpPr txBox="1"/>
          <p:nvPr/>
        </p:nvSpPr>
        <p:spPr>
          <a:xfrm>
            <a:off x="6644487" y="2944368"/>
            <a:ext cx="4404207" cy="1865375"/>
          </a:xfrm>
          <a:prstGeom prst="rect">
            <a:avLst/>
          </a:prstGeom>
          <a:noFill/>
        </p:spPr>
        <p:txBody>
          <a:bodyPr wrap="square" lIns="0" rIns="0" tIns="0" bIns="0" anchor="t">
            <a:spAutoFit/>
          </a:bodyPr>
          <a:lstStyle/>
          <a:p>
            <a:pPr algn="l">
              <a:lnSpc>
                <a:spcPct val="120000"/>
              </a:lnSpc>
              <a:spcBef>
                <a:spcPts val="0"/>
              </a:spcBef>
              <a:spcAft>
                <a:spcPts val="900"/>
              </a:spcAft>
            </a:pPr>
            <a:r>
              <a:rPr sz="1250" b="0" i="0">
                <a:solidFill>
                  <a:srgbClr val="5A5A5A"/>
                </a:solidFill>
                <a:latin typeface="Calibri"/>
              </a:rPr>
              <a:t>Don't you think you should have...?  — advice dressed as a question</a:t>
            </a:r>
          </a:p>
          <a:p>
            <a:pPr algn="l">
              <a:lnSpc>
                <a:spcPct val="120000"/>
              </a:lnSpc>
              <a:spcBef>
                <a:spcPts val="0"/>
              </a:spcBef>
              <a:spcAft>
                <a:spcPts val="900"/>
              </a:spcAft>
            </a:pPr>
            <a:r>
              <a:rPr sz="1250" b="0" i="0">
                <a:solidFill>
                  <a:srgbClr val="5A5A5A"/>
                </a:solidFill>
                <a:latin typeface="Calibri"/>
              </a:rPr>
              <a:t>Why did you do that?  — invites defence</a:t>
            </a:r>
          </a:p>
          <a:p>
            <a:pPr algn="l">
              <a:lnSpc>
                <a:spcPct val="120000"/>
              </a:lnSpc>
              <a:spcBef>
                <a:spcPts val="0"/>
              </a:spcBef>
              <a:spcAft>
                <a:spcPts val="900"/>
              </a:spcAft>
            </a:pPr>
            <a:r>
              <a:rPr sz="1250" b="0" i="0">
                <a:solidFill>
                  <a:srgbClr val="5A5A5A"/>
                </a:solidFill>
                <a:latin typeface="Calibri"/>
              </a:rPr>
              <a:t>Wouldn't it be fairer if...?  — you have taken a side</a:t>
            </a:r>
          </a:p>
          <a:p>
            <a:pPr algn="l">
              <a:lnSpc>
                <a:spcPct val="120000"/>
              </a:lnSpc>
              <a:spcBef>
                <a:spcPts val="0"/>
              </a:spcBef>
              <a:spcAft>
                <a:spcPts val="900"/>
              </a:spcAft>
            </a:pPr>
            <a:r>
              <a:rPr sz="1250" b="0" i="0">
                <a:solidFill>
                  <a:srgbClr val="5A5A5A"/>
                </a:solidFill>
                <a:latin typeface="Calibri"/>
              </a:rPr>
              <a:t>Are you seriously saying...?  — contempt</a:t>
            </a:r>
          </a:p>
          <a:p>
            <a:pPr algn="l">
              <a:lnSpc>
                <a:spcPct val="120000"/>
              </a:lnSpc>
              <a:spcBef>
                <a:spcPts val="0"/>
              </a:spcBef>
              <a:spcAft>
                <a:spcPts val="900"/>
              </a:spcAft>
            </a:pPr>
            <a:r>
              <a:rPr sz="1250" b="0" i="0">
                <a:solidFill>
                  <a:srgbClr val="5A5A5A"/>
                </a:solidFill>
                <a:latin typeface="Calibri"/>
              </a:rPr>
              <a:t>Two questions at once  — they answer the easier one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Reframing</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Keep the meaning. Remove the blame.</a:t>
            </a:r>
          </a:p>
        </p:txBody>
      </p:sp>
      <p:graphicFrame>
        <p:nvGraphicFramePr>
          <p:cNvPr id="5" name="Table 4"/>
          <p:cNvGraphicFramePr>
            <a:graphicFrameLocks noGrp="1"/>
          </p:cNvGraphicFramePr>
          <p:nvPr/>
        </p:nvGraphicFramePr>
        <p:xfrm>
          <a:off x="777240" y="2103120"/>
          <a:ext cx="10637214" cy="1536192"/>
        </p:xfrm>
        <a:graphic>
          <a:graphicData uri="http://schemas.openxmlformats.org/drawingml/2006/table">
            <a:tbl>
              <a:tblPr firstRow="1" bandRow="1">
                <a:tableStyleId>{5C22544A-7EE6-4342-B048-85BDC9FD1C3A}</a:tableStyleId>
              </a:tblPr>
              <a:tblGrid>
                <a:gridCol w="2934404"/>
                <a:gridCol w="3117804"/>
                <a:gridCol w="4585006"/>
              </a:tblGrid>
              <a:tr h="384048">
                <a:tc>
                  <a:txBody>
                    <a:bodyPr/>
                    <a:lstStyle/>
                    <a:p>
                      <a:r>
                        <a:rPr sz="1100" b="1">
                          <a:solidFill>
                            <a:srgbClr val="FFFFFF"/>
                          </a:solidFill>
                          <a:latin typeface="Calibri"/>
                        </a:rPr>
                        <a:t>They said</a:t>
                      </a:r>
                    </a:p>
                  </a:txBody>
                  <a:tcPr marL="109728" marR="73152" marT="45720" marB="45720" anchor="ctr">
                    <a:solidFill>
                      <a:srgbClr val="10375C"/>
                    </a:solidFill>
                  </a:tcPr>
                </a:tc>
                <a:tc>
                  <a:txBody>
                    <a:bodyPr/>
                    <a:lstStyle/>
                    <a:p>
                      <a:r>
                        <a:rPr sz="1100" b="1">
                          <a:solidFill>
                            <a:srgbClr val="FFFFFF"/>
                          </a:solidFill>
                          <a:latin typeface="Calibri"/>
                        </a:rPr>
                        <a:t>Poor reframe</a:t>
                      </a:r>
                    </a:p>
                  </a:txBody>
                  <a:tcPr marL="109728" marR="73152" marT="45720" marB="45720" anchor="ctr">
                    <a:solidFill>
                      <a:srgbClr val="10375C"/>
                    </a:solidFill>
                  </a:tcPr>
                </a:tc>
                <a:tc>
                  <a:txBody>
                    <a:bodyPr/>
                    <a:lstStyle/>
                    <a:p>
                      <a:r>
                        <a:rPr sz="1100" b="1">
                          <a:solidFill>
                            <a:srgbClr val="FFFFFF"/>
                          </a:solidFill>
                          <a:latin typeface="Calibri"/>
                        </a:rPr>
                        <a:t>Good reframe</a:t>
                      </a:r>
                    </a:p>
                  </a:txBody>
                  <a:tcPr marL="109728" marR="73152" marT="45720" marB="45720" anchor="ctr">
                    <a:solidFill>
                      <a:srgbClr val="10375C"/>
                    </a:solidFill>
                  </a:tcPr>
                </a:tc>
              </a:tr>
              <a:tr h="384048">
                <a:tc>
                  <a:txBody>
                    <a:bodyPr/>
                    <a:lstStyle/>
                    <a:p>
                      <a:r>
                        <a:rPr sz="1150" b="0">
                          <a:solidFill>
                            <a:srgbClr val="1F1F1F"/>
                          </a:solidFill>
                          <a:latin typeface="Calibri"/>
                        </a:rPr>
                        <a:t>They cheated us — the whole thing was a fraud</a:t>
                      </a:r>
                    </a:p>
                  </a:txBody>
                  <a:tcPr marL="109728" marR="73152" marT="36576" marB="36576" anchor="ctr">
                    <a:solidFill>
                      <a:srgbClr val="FFFFFF"/>
                    </a:solidFill>
                  </a:tcPr>
                </a:tc>
                <a:tc>
                  <a:txBody>
                    <a:bodyPr/>
                    <a:lstStyle/>
                    <a:p>
                      <a:r>
                        <a:rPr sz="1150" b="0">
                          <a:solidFill>
                            <a:srgbClr val="1F1F1F"/>
                          </a:solidFill>
                          <a:latin typeface="Calibri"/>
                        </a:rPr>
                        <a:t>So there was a misunderstanding</a:t>
                      </a:r>
                    </a:p>
                  </a:txBody>
                  <a:tcPr marL="109728" marR="73152" marT="36576" marB="36576" anchor="ctr">
                    <a:solidFill>
                      <a:srgbClr val="FFFFFF"/>
                    </a:solidFill>
                  </a:tcPr>
                </a:tc>
                <a:tc>
                  <a:txBody>
                    <a:bodyPr/>
                    <a:lstStyle/>
                    <a:p>
                      <a:r>
                        <a:rPr sz="1150" b="0">
                          <a:solidFill>
                            <a:srgbClr val="1F1F1F"/>
                          </a:solidFill>
                          <a:latin typeface="Calibri"/>
                        </a:rPr>
                        <a:t>So you feel the information you relied on was not accurate, and that matters to you a great deal</a:t>
                      </a:r>
                    </a:p>
                  </a:txBody>
                  <a:tcPr marL="109728" marR="73152" marT="36576" marB="36576" anchor="ctr">
                    <a:solidFill>
                      <a:srgbClr val="FFFFFF"/>
                    </a:solidFill>
                  </a:tcPr>
                </a:tc>
              </a:tr>
              <a:tr h="384048">
                <a:tc>
                  <a:txBody>
                    <a:bodyPr/>
                    <a:lstStyle/>
                    <a:p>
                      <a:r>
                        <a:rPr sz="1150" b="0">
                          <a:solidFill>
                            <a:srgbClr val="1F1F1F"/>
                          </a:solidFill>
                          <a:latin typeface="Calibri"/>
                        </a:rPr>
                        <a:t>He never once returned my calls</a:t>
                      </a:r>
                    </a:p>
                  </a:txBody>
                  <a:tcPr marL="109728" marR="73152" marT="36576" marB="36576" anchor="ctr">
                    <a:solidFill>
                      <a:srgbClr val="EAF1F4"/>
                    </a:solidFill>
                  </a:tcPr>
                </a:tc>
                <a:tc>
                  <a:txBody>
                    <a:bodyPr/>
                    <a:lstStyle/>
                    <a:p>
                      <a:r>
                        <a:rPr sz="1150" b="0">
                          <a:solidFill>
                            <a:srgbClr val="1F1F1F"/>
                          </a:solidFill>
                          <a:latin typeface="Calibri"/>
                        </a:rPr>
                        <a:t>Communication could have been better</a:t>
                      </a:r>
                    </a:p>
                  </a:txBody>
                  <a:tcPr marL="109728" marR="73152" marT="36576" marB="36576" anchor="ctr">
                    <a:solidFill>
                      <a:srgbClr val="EAF1F4"/>
                    </a:solidFill>
                  </a:tcPr>
                </a:tc>
                <a:tc>
                  <a:txBody>
                    <a:bodyPr/>
                    <a:lstStyle/>
                    <a:p>
                      <a:r>
                        <a:rPr sz="1150" b="0">
                          <a:solidFill>
                            <a:srgbClr val="1F1F1F"/>
                          </a:solidFill>
                          <a:latin typeface="Calibri"/>
                        </a:rPr>
                        <a:t>So being unable to reach him, over that period, was itself part of the problem</a:t>
                      </a:r>
                    </a:p>
                  </a:txBody>
                  <a:tcPr marL="109728" marR="73152" marT="36576" marB="36576" anchor="ctr">
                    <a:solidFill>
                      <a:srgbClr val="EAF1F4"/>
                    </a:solidFill>
                  </a:tcPr>
                </a:tc>
              </a:tr>
              <a:tr h="384048">
                <a:tc>
                  <a:txBody>
                    <a:bodyPr/>
                    <a:lstStyle/>
                    <a:p>
                      <a:r>
                        <a:rPr sz="1150" b="0">
                          <a:solidFill>
                            <a:srgbClr val="1F1F1F"/>
                          </a:solidFill>
                          <a:latin typeface="Calibri"/>
                        </a:rPr>
                        <a:t>She is completely unreasonable</a:t>
                      </a:r>
                    </a:p>
                  </a:txBody>
                  <a:tcPr marL="109728" marR="73152" marT="36576" marB="36576" anchor="ctr">
                    <a:solidFill>
                      <a:srgbClr val="FFFFFF"/>
                    </a:solidFill>
                  </a:tcPr>
                </a:tc>
                <a:tc>
                  <a:txBody>
                    <a:bodyPr/>
                    <a:lstStyle/>
                    <a:p>
                      <a:r>
                        <a:rPr sz="1150" b="0">
                          <a:solidFill>
                            <a:srgbClr val="1F1F1F"/>
                          </a:solidFill>
                          <a:latin typeface="Calibri"/>
                        </a:rPr>
                        <a:t>You have differences</a:t>
                      </a:r>
                    </a:p>
                  </a:txBody>
                  <a:tcPr marL="109728" marR="73152" marT="36576" marB="36576" anchor="ctr">
                    <a:solidFill>
                      <a:srgbClr val="FFFFFF"/>
                    </a:solidFill>
                  </a:tcPr>
                </a:tc>
                <a:tc>
                  <a:txBody>
                    <a:bodyPr/>
                    <a:lstStyle/>
                    <a:p>
                      <a:r>
                        <a:rPr sz="1150" b="0">
                          <a:solidFill>
                            <a:srgbClr val="1F1F1F"/>
                          </a:solidFill>
                          <a:latin typeface="Calibri"/>
                        </a:rPr>
                        <a:t>It sounds like from where you sit, the response has been hard to predict</a:t>
                      </a:r>
                    </a:p>
                  </a:txBody>
                  <a:tcPr marL="109728" marR="73152" marT="36576" marB="36576" anchor="ctr">
                    <a:solidFill>
                      <a:srgbClr val="FFFFFF"/>
                    </a:solidFill>
                  </a:tcPr>
                </a:tc>
              </a:tr>
            </a:tbl>
          </a:graphicData>
        </a:graphic>
      </p:graphicFrame>
      <p:sp>
        <p:nvSpPr>
          <p:cNvPr id="6" name="TextBox 5"/>
          <p:cNvSpPr txBox="1"/>
          <p:nvPr/>
        </p:nvSpPr>
        <p:spPr>
          <a:xfrm>
            <a:off x="777240" y="6327648"/>
            <a:ext cx="10607040" cy="320040"/>
          </a:xfrm>
          <a:prstGeom prst="rect">
            <a:avLst/>
          </a:prstGeom>
          <a:noFill/>
        </p:spPr>
        <p:txBody>
          <a:bodyPr wrap="square" lIns="0" rIns="0" tIns="0" bIns="0" anchor="t">
            <a:spAutoFit/>
          </a:bodyPr>
          <a:lstStyle/>
          <a:p>
            <a:pPr algn="l">
              <a:spcBef>
                <a:spcPts val="0"/>
              </a:spcBef>
              <a:spcAft>
                <a:spcPts val="600"/>
              </a:spcAft>
            </a:pPr>
            <a:r>
              <a:rPr sz="950" b="0" i="1">
                <a:solidFill>
                  <a:srgbClr val="5A5A5A"/>
                </a:solidFill>
                <a:latin typeface="Calibri"/>
              </a:rPr>
              <a:t>A reframe the speaker would not accept as accurate is not a reframe. It is a correction. Always check it back.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Positions and interests</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The distinction the whole process turns on</a:t>
            </a:r>
          </a:p>
        </p:txBody>
      </p:sp>
      <p:sp>
        <p:nvSpPr>
          <p:cNvPr id="5" name="Rounded Rectangle 4"/>
          <p:cNvSpPr/>
          <p:nvPr/>
        </p:nvSpPr>
        <p:spPr>
          <a:xfrm>
            <a:off x="777240" y="2148840"/>
            <a:ext cx="5135727" cy="2601468"/>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43000" y="2478024"/>
            <a:ext cx="4404207" cy="457200"/>
          </a:xfrm>
          <a:prstGeom prst="rect">
            <a:avLst/>
          </a:prstGeom>
          <a:noFill/>
        </p:spPr>
        <p:txBody>
          <a:bodyPr wrap="square" lIns="0" rIns="0" tIns="0" bIns="0" anchor="t">
            <a:spAutoFit/>
          </a:bodyPr>
          <a:lstStyle/>
          <a:p>
            <a:pPr algn="l">
              <a:spcBef>
                <a:spcPts val="0"/>
              </a:spcBef>
              <a:spcAft>
                <a:spcPts val="600"/>
              </a:spcAft>
            </a:pPr>
            <a:r>
              <a:rPr sz="1650" b="1" i="0">
                <a:solidFill>
                  <a:srgbClr val="10375C"/>
                </a:solidFill>
                <a:latin typeface="Cambria"/>
              </a:rPr>
              <a:t>Position</a:t>
            </a:r>
          </a:p>
        </p:txBody>
      </p:sp>
      <p:sp>
        <p:nvSpPr>
          <p:cNvPr id="7" name="TextBox 6"/>
          <p:cNvSpPr txBox="1"/>
          <p:nvPr/>
        </p:nvSpPr>
        <p:spPr>
          <a:xfrm>
            <a:off x="1143000" y="3081528"/>
            <a:ext cx="4404207" cy="1321307"/>
          </a:xfrm>
          <a:prstGeom prst="rect">
            <a:avLst/>
          </a:prstGeom>
          <a:noFill/>
        </p:spPr>
        <p:txBody>
          <a:bodyPr wrap="square" lIns="0" rIns="0" tIns="0" bIns="0" anchor="t">
            <a:spAutoFit/>
          </a:bodyPr>
          <a:lstStyle/>
          <a:p>
            <a:pPr algn="l">
              <a:lnSpc>
                <a:spcPct val="120000"/>
              </a:lnSpc>
              <a:spcBef>
                <a:spcPts val="0"/>
              </a:spcBef>
              <a:spcAft>
                <a:spcPts val="900"/>
              </a:spcAft>
            </a:pPr>
            <a:r>
              <a:rPr sz="1250" b="0" i="0">
                <a:solidFill>
                  <a:srgbClr val="5A5A5A"/>
                </a:solidFill>
                <a:latin typeface="Calibri"/>
              </a:rPr>
              <a:t>What they say they want.</a:t>
            </a:r>
          </a:p>
          <a:p>
            <a:pPr algn="l">
              <a:lnSpc>
                <a:spcPct val="120000"/>
              </a:lnSpc>
              <a:spcBef>
                <a:spcPts val="0"/>
              </a:spcBef>
              <a:spcAft>
                <a:spcPts val="900"/>
              </a:spcAft>
            </a:pPr>
            <a:r>
              <a:rPr sz="1250" b="0" i="0">
                <a:solidFill>
                  <a:srgbClr val="5A5A5A"/>
                </a:solidFill>
                <a:latin typeface="Calibri"/>
              </a:rPr>
              <a:t>There is one.</a:t>
            </a:r>
          </a:p>
          <a:p>
            <a:pPr algn="l">
              <a:lnSpc>
                <a:spcPct val="120000"/>
              </a:lnSpc>
              <a:spcBef>
                <a:spcPts val="0"/>
              </a:spcBef>
              <a:spcAft>
                <a:spcPts val="900"/>
              </a:spcAft>
            </a:pPr>
            <a:r>
              <a:rPr sz="1250" b="0" i="0">
                <a:solidFill>
                  <a:srgbClr val="5A5A5A"/>
                </a:solidFill>
                <a:latin typeface="Calibri"/>
              </a:rPr>
              <a:t>Rarely compatible with the other side's.</a:t>
            </a:r>
          </a:p>
          <a:p>
            <a:pPr algn="l">
              <a:lnSpc>
                <a:spcPct val="120000"/>
              </a:lnSpc>
              <a:spcBef>
                <a:spcPts val="0"/>
              </a:spcBef>
              <a:spcAft>
                <a:spcPts val="900"/>
              </a:spcAft>
            </a:pPr>
            <a:r>
              <a:rPr sz="1250" b="0" i="0">
                <a:solidFill>
                  <a:srgbClr val="5A5A5A"/>
                </a:solidFill>
                <a:latin typeface="Calibri"/>
              </a:rPr>
              <a:t>Always stated.</a:t>
            </a:r>
          </a:p>
        </p:txBody>
      </p:sp>
      <p:sp>
        <p:nvSpPr>
          <p:cNvPr id="8" name="Rounded Rectangle 7"/>
          <p:cNvSpPr/>
          <p:nvPr/>
        </p:nvSpPr>
        <p:spPr>
          <a:xfrm>
            <a:off x="6278727" y="2148840"/>
            <a:ext cx="5135727" cy="2601468"/>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44487" y="2478024"/>
            <a:ext cx="4404207" cy="457200"/>
          </a:xfrm>
          <a:prstGeom prst="rect">
            <a:avLst/>
          </a:prstGeom>
          <a:noFill/>
        </p:spPr>
        <p:txBody>
          <a:bodyPr wrap="square" lIns="0" rIns="0" tIns="0" bIns="0" anchor="t">
            <a:spAutoFit/>
          </a:bodyPr>
          <a:lstStyle/>
          <a:p>
            <a:pPr algn="l">
              <a:spcBef>
                <a:spcPts val="0"/>
              </a:spcBef>
              <a:spcAft>
                <a:spcPts val="600"/>
              </a:spcAft>
            </a:pPr>
            <a:r>
              <a:rPr sz="1650" b="1" i="0">
                <a:solidFill>
                  <a:srgbClr val="10375C"/>
                </a:solidFill>
                <a:latin typeface="Cambria"/>
              </a:rPr>
              <a:t>Interest</a:t>
            </a:r>
          </a:p>
        </p:txBody>
      </p:sp>
      <p:sp>
        <p:nvSpPr>
          <p:cNvPr id="10" name="TextBox 9"/>
          <p:cNvSpPr txBox="1"/>
          <p:nvPr/>
        </p:nvSpPr>
        <p:spPr>
          <a:xfrm>
            <a:off x="6644487" y="3081528"/>
            <a:ext cx="4404207" cy="1321307"/>
          </a:xfrm>
          <a:prstGeom prst="rect">
            <a:avLst/>
          </a:prstGeom>
          <a:noFill/>
        </p:spPr>
        <p:txBody>
          <a:bodyPr wrap="square" lIns="0" rIns="0" tIns="0" bIns="0" anchor="t">
            <a:spAutoFit/>
          </a:bodyPr>
          <a:lstStyle/>
          <a:p>
            <a:pPr algn="l">
              <a:lnSpc>
                <a:spcPct val="120000"/>
              </a:lnSpc>
              <a:spcBef>
                <a:spcPts val="0"/>
              </a:spcBef>
              <a:spcAft>
                <a:spcPts val="900"/>
              </a:spcAft>
            </a:pPr>
            <a:r>
              <a:rPr sz="1250" b="0" i="0">
                <a:solidFill>
                  <a:srgbClr val="5A5A5A"/>
                </a:solidFill>
                <a:latin typeface="Calibri"/>
              </a:rPr>
              <a:t>Why they want it.</a:t>
            </a:r>
          </a:p>
          <a:p>
            <a:pPr algn="l">
              <a:lnSpc>
                <a:spcPct val="120000"/>
              </a:lnSpc>
              <a:spcBef>
                <a:spcPts val="0"/>
              </a:spcBef>
              <a:spcAft>
                <a:spcPts val="900"/>
              </a:spcAft>
            </a:pPr>
            <a:r>
              <a:rPr sz="1250" b="0" i="0">
                <a:solidFill>
                  <a:srgbClr val="5A5A5A"/>
                </a:solidFill>
                <a:latin typeface="Calibri"/>
              </a:rPr>
              <a:t>There are usually several.</a:t>
            </a:r>
          </a:p>
          <a:p>
            <a:pPr algn="l">
              <a:lnSpc>
                <a:spcPct val="120000"/>
              </a:lnSpc>
              <a:spcBef>
                <a:spcPts val="0"/>
              </a:spcBef>
              <a:spcAft>
                <a:spcPts val="900"/>
              </a:spcAft>
            </a:pPr>
            <a:r>
              <a:rPr sz="1250" b="0" i="0">
                <a:solidFill>
                  <a:srgbClr val="5A5A5A"/>
                </a:solidFill>
                <a:latin typeface="Calibri"/>
              </a:rPr>
              <a:t>Often compatible with the other side's.</a:t>
            </a:r>
          </a:p>
          <a:p>
            <a:pPr algn="l">
              <a:lnSpc>
                <a:spcPct val="120000"/>
              </a:lnSpc>
              <a:spcBef>
                <a:spcPts val="0"/>
              </a:spcBef>
              <a:spcAft>
                <a:spcPts val="900"/>
              </a:spcAft>
            </a:pPr>
            <a:r>
              <a:rPr sz="1250" b="0" i="0">
                <a:solidFill>
                  <a:srgbClr val="5A5A5A"/>
                </a:solidFill>
                <a:latin typeface="Calibri"/>
              </a:rPr>
              <a:t>Almost never stated unprompted.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The four questions</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That surface an interest</a:t>
            </a:r>
          </a:p>
        </p:txBody>
      </p:sp>
      <p:sp>
        <p:nvSpPr>
          <p:cNvPr id="5" name="TextBox 4"/>
          <p:cNvSpPr txBox="1"/>
          <p:nvPr/>
        </p:nvSpPr>
        <p:spPr>
          <a:xfrm>
            <a:off x="1280160" y="2057400"/>
            <a:ext cx="9692640" cy="3017520"/>
          </a:xfrm>
          <a:prstGeom prst="rect">
            <a:avLst/>
          </a:prstGeom>
          <a:noFill/>
        </p:spPr>
        <p:txBody>
          <a:bodyPr wrap="square" lIns="0" rIns="0" tIns="0" bIns="0" anchor="t">
            <a:spAutoFit/>
          </a:bodyPr>
          <a:lstStyle/>
          <a:p>
            <a:pPr algn="l">
              <a:lnSpc>
                <a:spcPct val="110000"/>
              </a:lnSpc>
              <a:spcBef>
                <a:spcPts val="0"/>
              </a:spcBef>
              <a:spcAft>
                <a:spcPts val="2200"/>
              </a:spcAft>
            </a:pPr>
            <a:r>
              <a:rPr sz="2400" b="1" i="0">
                <a:solidFill>
                  <a:srgbClr val="10375C"/>
                </a:solidFill>
                <a:latin typeface="Cambria"/>
              </a:rPr>
              <a:t>What would that do for you?</a:t>
            </a:r>
          </a:p>
          <a:p>
            <a:pPr algn="l">
              <a:lnSpc>
                <a:spcPct val="110000"/>
              </a:lnSpc>
              <a:spcBef>
                <a:spcPts val="0"/>
              </a:spcBef>
              <a:spcAft>
                <a:spcPts val="2200"/>
              </a:spcAft>
            </a:pPr>
            <a:r>
              <a:rPr sz="2400" b="1" i="0">
                <a:solidFill>
                  <a:srgbClr val="10375C"/>
                </a:solidFill>
                <a:latin typeface="Cambria"/>
              </a:rPr>
              <a:t>If you got that, what would it change?</a:t>
            </a:r>
          </a:p>
          <a:p>
            <a:pPr algn="l">
              <a:lnSpc>
                <a:spcPct val="110000"/>
              </a:lnSpc>
              <a:spcBef>
                <a:spcPts val="0"/>
              </a:spcBef>
              <a:spcAft>
                <a:spcPts val="2200"/>
              </a:spcAft>
            </a:pPr>
            <a:r>
              <a:rPr sz="2400" b="1" i="0">
                <a:solidFill>
                  <a:srgbClr val="10375C"/>
                </a:solidFill>
                <a:latin typeface="Cambria"/>
              </a:rPr>
              <a:t>What happens to you if this is not resolved?</a:t>
            </a:r>
          </a:p>
          <a:p>
            <a:pPr algn="l">
              <a:lnSpc>
                <a:spcPct val="110000"/>
              </a:lnSpc>
              <a:spcBef>
                <a:spcPts val="0"/>
              </a:spcBef>
              <a:spcAft>
                <a:spcPts val="2200"/>
              </a:spcAft>
            </a:pPr>
            <a:r>
              <a:rPr sz="2400" b="1" i="0">
                <a:solidFill>
                  <a:srgbClr val="0E7C7B"/>
                </a:solidFill>
                <a:latin typeface="Cambria"/>
              </a:rPr>
              <a:t>Of everything you have told me, what matters most?</a:t>
            </a:r>
          </a:p>
        </p:txBody>
      </p:sp>
      <p:sp>
        <p:nvSpPr>
          <p:cNvPr id="6" name="TextBox 5"/>
          <p:cNvSpPr txBox="1"/>
          <p:nvPr/>
        </p:nvSpPr>
        <p:spPr>
          <a:xfrm>
            <a:off x="777240" y="6327648"/>
            <a:ext cx="10607040" cy="320040"/>
          </a:xfrm>
          <a:prstGeom prst="rect">
            <a:avLst/>
          </a:prstGeom>
          <a:noFill/>
        </p:spPr>
        <p:txBody>
          <a:bodyPr wrap="square" lIns="0" rIns="0" tIns="0" bIns="0" anchor="t">
            <a:spAutoFit/>
          </a:bodyPr>
          <a:lstStyle/>
          <a:p>
            <a:pPr algn="l">
              <a:spcBef>
                <a:spcPts val="0"/>
              </a:spcBef>
              <a:spcAft>
                <a:spcPts val="600"/>
              </a:spcAft>
            </a:pPr>
            <a:r>
              <a:rPr sz="950" b="0" i="1">
                <a:solidFill>
                  <a:srgbClr val="5A5A5A"/>
                </a:solidFill>
                <a:latin typeface="Calibri"/>
              </a:rPr>
              <a:t>The fourth is the most useful sentence in mediation. Ask it late, after they have told you everything, and listen to what they put first.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Emotion in the room</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Acknowledge without endorsing</a:t>
            </a:r>
          </a:p>
        </p:txBody>
      </p:sp>
      <p:sp>
        <p:nvSpPr>
          <p:cNvPr id="5" name="Oval 4"/>
          <p:cNvSpPr/>
          <p:nvPr/>
        </p:nvSpPr>
        <p:spPr>
          <a:xfrm>
            <a:off x="777240" y="2331720"/>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Cambria"/>
              </a:rPr>
              <a:t>1</a:t>
            </a:r>
          </a:p>
        </p:txBody>
      </p:sp>
      <p:sp>
        <p:nvSpPr>
          <p:cNvPr id="6" name="TextBox 5"/>
          <p:cNvSpPr txBox="1"/>
          <p:nvPr/>
        </p:nvSpPr>
        <p:spPr>
          <a:xfrm>
            <a:off x="1399032" y="2340864"/>
            <a:ext cx="2743200" cy="457200"/>
          </a:xfrm>
          <a:prstGeom prst="rect">
            <a:avLst/>
          </a:prstGeom>
          <a:noFill/>
        </p:spPr>
        <p:txBody>
          <a:bodyPr wrap="square" lIns="0" rIns="0" tIns="0" bIns="0" anchor="t">
            <a:spAutoFit/>
          </a:bodyPr>
          <a:lstStyle/>
          <a:p>
            <a:pPr algn="l">
              <a:lnSpc>
                <a:spcPct val="105000"/>
              </a:lnSpc>
              <a:spcBef>
                <a:spcPts val="0"/>
              </a:spcBef>
              <a:spcAft>
                <a:spcPts val="600"/>
              </a:spcAft>
            </a:pPr>
            <a:r>
              <a:rPr sz="1400" b="1" i="0">
                <a:solidFill>
                  <a:srgbClr val="10375C"/>
                </a:solidFill>
                <a:latin typeface="Cambria"/>
              </a:rPr>
              <a:t>Acknowledge</a:t>
            </a:r>
          </a:p>
        </p:txBody>
      </p:sp>
      <p:sp>
        <p:nvSpPr>
          <p:cNvPr id="7" name="TextBox 6"/>
          <p:cNvSpPr txBox="1"/>
          <p:nvPr/>
        </p:nvSpPr>
        <p:spPr>
          <a:xfrm>
            <a:off x="4370832" y="2322576"/>
            <a:ext cx="6723583" cy="658368"/>
          </a:xfrm>
          <a:prstGeom prst="rect">
            <a:avLst/>
          </a:prstGeom>
          <a:noFill/>
        </p:spPr>
        <p:txBody>
          <a:bodyPr wrap="square" lIns="0" rIns="0" tIns="0" bIns="0" anchor="t">
            <a:spAutoFit/>
          </a:bodyPr>
          <a:lstStyle/>
          <a:p>
            <a:pPr algn="l">
              <a:lnSpc>
                <a:spcPct val="120000"/>
              </a:lnSpc>
              <a:spcBef>
                <a:spcPts val="0"/>
              </a:spcBef>
              <a:spcAft>
                <a:spcPts val="600"/>
              </a:spcAft>
            </a:pPr>
            <a:r>
              <a:rPr sz="1250" b="0" i="0">
                <a:solidFill>
                  <a:srgbClr val="5A5A5A"/>
                </a:solidFill>
                <a:latin typeface="Calibri"/>
              </a:rPr>
              <a:t>'That sounds as though it was genuinely difficult.' You are recognising the experience, not agreeing with the account.</a:t>
            </a:r>
          </a:p>
        </p:txBody>
      </p:sp>
      <p:sp>
        <p:nvSpPr>
          <p:cNvPr id="8" name="Rectangle 7"/>
          <p:cNvSpPr/>
          <p:nvPr/>
        </p:nvSpPr>
        <p:spPr>
          <a:xfrm>
            <a:off x="777240" y="3154679"/>
            <a:ext cx="10637215" cy="15875"/>
          </a:xfrm>
          <a:prstGeom prst="rect">
            <a:avLst/>
          </a:prstGeom>
          <a:solidFill>
            <a:srgbClr val="C9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77240" y="3291839"/>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Cambria"/>
              </a:rPr>
              <a:t>2</a:t>
            </a:r>
          </a:p>
        </p:txBody>
      </p:sp>
      <p:sp>
        <p:nvSpPr>
          <p:cNvPr id="10" name="TextBox 9"/>
          <p:cNvSpPr txBox="1"/>
          <p:nvPr/>
        </p:nvSpPr>
        <p:spPr>
          <a:xfrm>
            <a:off x="1399032" y="3300984"/>
            <a:ext cx="2743200" cy="457200"/>
          </a:xfrm>
          <a:prstGeom prst="rect">
            <a:avLst/>
          </a:prstGeom>
          <a:noFill/>
        </p:spPr>
        <p:txBody>
          <a:bodyPr wrap="square" lIns="0" rIns="0" tIns="0" bIns="0" anchor="t">
            <a:spAutoFit/>
          </a:bodyPr>
          <a:lstStyle/>
          <a:p>
            <a:pPr algn="l">
              <a:lnSpc>
                <a:spcPct val="105000"/>
              </a:lnSpc>
              <a:spcBef>
                <a:spcPts val="0"/>
              </a:spcBef>
              <a:spcAft>
                <a:spcPts val="600"/>
              </a:spcAft>
            </a:pPr>
            <a:r>
              <a:rPr sz="1400" b="1" i="0">
                <a:solidFill>
                  <a:srgbClr val="10375C"/>
                </a:solidFill>
                <a:latin typeface="Cambria"/>
              </a:rPr>
              <a:t>Do not endorse</a:t>
            </a:r>
          </a:p>
        </p:txBody>
      </p:sp>
      <p:sp>
        <p:nvSpPr>
          <p:cNvPr id="11" name="TextBox 10"/>
          <p:cNvSpPr txBox="1"/>
          <p:nvPr/>
        </p:nvSpPr>
        <p:spPr>
          <a:xfrm>
            <a:off x="4370832" y="3282696"/>
            <a:ext cx="6723583" cy="658368"/>
          </a:xfrm>
          <a:prstGeom prst="rect">
            <a:avLst/>
          </a:prstGeom>
          <a:noFill/>
        </p:spPr>
        <p:txBody>
          <a:bodyPr wrap="square" lIns="0" rIns="0" tIns="0" bIns="0" anchor="t">
            <a:spAutoFit/>
          </a:bodyPr>
          <a:lstStyle/>
          <a:p>
            <a:pPr algn="l">
              <a:lnSpc>
                <a:spcPct val="120000"/>
              </a:lnSpc>
              <a:spcBef>
                <a:spcPts val="0"/>
              </a:spcBef>
              <a:spcAft>
                <a:spcPts val="600"/>
              </a:spcAft>
            </a:pPr>
            <a:r>
              <a:rPr sz="1250" b="0" i="0">
                <a:solidFill>
                  <a:srgbClr val="5A5A5A"/>
                </a:solidFill>
                <a:latin typeface="Calibri"/>
              </a:rPr>
              <a:t>'You were completely right to be angry' takes a side and you cannot get it back.</a:t>
            </a:r>
          </a:p>
        </p:txBody>
      </p:sp>
      <p:sp>
        <p:nvSpPr>
          <p:cNvPr id="12" name="Rectangle 11"/>
          <p:cNvSpPr/>
          <p:nvPr/>
        </p:nvSpPr>
        <p:spPr>
          <a:xfrm>
            <a:off x="777240" y="4114800"/>
            <a:ext cx="10637215" cy="15875"/>
          </a:xfrm>
          <a:prstGeom prst="rect">
            <a:avLst/>
          </a:prstGeom>
          <a:solidFill>
            <a:srgbClr val="C9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77240" y="4251959"/>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Cambria"/>
              </a:rPr>
              <a:t>3</a:t>
            </a:r>
          </a:p>
        </p:txBody>
      </p:sp>
      <p:sp>
        <p:nvSpPr>
          <p:cNvPr id="14" name="TextBox 13"/>
          <p:cNvSpPr txBox="1"/>
          <p:nvPr/>
        </p:nvSpPr>
        <p:spPr>
          <a:xfrm>
            <a:off x="1399032" y="4261103"/>
            <a:ext cx="2743200" cy="457200"/>
          </a:xfrm>
          <a:prstGeom prst="rect">
            <a:avLst/>
          </a:prstGeom>
          <a:noFill/>
        </p:spPr>
        <p:txBody>
          <a:bodyPr wrap="square" lIns="0" rIns="0" tIns="0" bIns="0" anchor="t">
            <a:spAutoFit/>
          </a:bodyPr>
          <a:lstStyle/>
          <a:p>
            <a:pPr algn="l">
              <a:lnSpc>
                <a:spcPct val="105000"/>
              </a:lnSpc>
              <a:spcBef>
                <a:spcPts val="0"/>
              </a:spcBef>
              <a:spcAft>
                <a:spcPts val="600"/>
              </a:spcAft>
            </a:pPr>
            <a:r>
              <a:rPr sz="1400" b="1" i="0">
                <a:solidFill>
                  <a:srgbClr val="10375C"/>
                </a:solidFill>
                <a:latin typeface="Cambria"/>
              </a:rPr>
              <a:t>Pause</a:t>
            </a:r>
          </a:p>
        </p:txBody>
      </p:sp>
      <p:sp>
        <p:nvSpPr>
          <p:cNvPr id="15" name="TextBox 14"/>
          <p:cNvSpPr txBox="1"/>
          <p:nvPr/>
        </p:nvSpPr>
        <p:spPr>
          <a:xfrm>
            <a:off x="4370832" y="4242816"/>
            <a:ext cx="6723583" cy="658368"/>
          </a:xfrm>
          <a:prstGeom prst="rect">
            <a:avLst/>
          </a:prstGeom>
          <a:noFill/>
        </p:spPr>
        <p:txBody>
          <a:bodyPr wrap="square" lIns="0" rIns="0" tIns="0" bIns="0" anchor="t">
            <a:spAutoFit/>
          </a:bodyPr>
          <a:lstStyle/>
          <a:p>
            <a:pPr algn="l">
              <a:lnSpc>
                <a:spcPct val="120000"/>
              </a:lnSpc>
              <a:spcBef>
                <a:spcPts val="0"/>
              </a:spcBef>
              <a:spcAft>
                <a:spcPts val="600"/>
              </a:spcAft>
            </a:pPr>
            <a:r>
              <a:rPr sz="1250" b="0" i="0">
                <a:solidFill>
                  <a:srgbClr val="5A5A5A"/>
                </a:solidFill>
                <a:latin typeface="Calibri"/>
              </a:rPr>
              <a:t>A break changes more than another twenty minutes of talking.</a:t>
            </a:r>
          </a:p>
        </p:txBody>
      </p:sp>
      <p:sp>
        <p:nvSpPr>
          <p:cNvPr id="16" name="Rectangle 15"/>
          <p:cNvSpPr/>
          <p:nvPr/>
        </p:nvSpPr>
        <p:spPr>
          <a:xfrm>
            <a:off x="777240" y="5074920"/>
            <a:ext cx="10637215" cy="15875"/>
          </a:xfrm>
          <a:prstGeom prst="rect">
            <a:avLst/>
          </a:prstGeom>
          <a:solidFill>
            <a:srgbClr val="C9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77240" y="5212080"/>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Cambria"/>
              </a:rPr>
              <a:t>4</a:t>
            </a:r>
          </a:p>
        </p:txBody>
      </p:sp>
      <p:sp>
        <p:nvSpPr>
          <p:cNvPr id="18" name="TextBox 17"/>
          <p:cNvSpPr txBox="1"/>
          <p:nvPr/>
        </p:nvSpPr>
        <p:spPr>
          <a:xfrm>
            <a:off x="1399032" y="5221224"/>
            <a:ext cx="2743200" cy="457200"/>
          </a:xfrm>
          <a:prstGeom prst="rect">
            <a:avLst/>
          </a:prstGeom>
          <a:noFill/>
        </p:spPr>
        <p:txBody>
          <a:bodyPr wrap="square" lIns="0" rIns="0" tIns="0" bIns="0" anchor="t">
            <a:spAutoFit/>
          </a:bodyPr>
          <a:lstStyle/>
          <a:p>
            <a:pPr algn="l">
              <a:lnSpc>
                <a:spcPct val="105000"/>
              </a:lnSpc>
              <a:spcBef>
                <a:spcPts val="0"/>
              </a:spcBef>
              <a:spcAft>
                <a:spcPts val="600"/>
              </a:spcAft>
            </a:pPr>
            <a:r>
              <a:rPr sz="1400" b="1" i="0">
                <a:solidFill>
                  <a:srgbClr val="10375C"/>
                </a:solidFill>
                <a:latin typeface="Cambria"/>
              </a:rPr>
              <a:t>Notice yourself</a:t>
            </a:r>
          </a:p>
        </p:txBody>
      </p:sp>
      <p:sp>
        <p:nvSpPr>
          <p:cNvPr id="19" name="TextBox 18"/>
          <p:cNvSpPr txBox="1"/>
          <p:nvPr/>
        </p:nvSpPr>
        <p:spPr>
          <a:xfrm>
            <a:off x="4370832" y="5202936"/>
            <a:ext cx="6723583" cy="658368"/>
          </a:xfrm>
          <a:prstGeom prst="rect">
            <a:avLst/>
          </a:prstGeom>
          <a:noFill/>
        </p:spPr>
        <p:txBody>
          <a:bodyPr wrap="square" lIns="0" rIns="0" tIns="0" bIns="0" anchor="t">
            <a:spAutoFit/>
          </a:bodyPr>
          <a:lstStyle/>
          <a:p>
            <a:pPr algn="l">
              <a:lnSpc>
                <a:spcPct val="120000"/>
              </a:lnSpc>
              <a:spcBef>
                <a:spcPts val="0"/>
              </a:spcBef>
              <a:spcAft>
                <a:spcPts val="600"/>
              </a:spcAft>
            </a:pPr>
            <a:r>
              <a:rPr sz="1250" b="0" i="0">
                <a:solidFill>
                  <a:srgbClr val="5A5A5A"/>
                </a:solidFill>
                <a:latin typeface="Calibri"/>
              </a:rPr>
              <a:t>Your own irritation, boredom or sympathy is data. It is not a plan.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2331720"/>
            <a:ext cx="868680" cy="868680"/>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600" b="1">
                <a:solidFill>
                  <a:srgbClr val="FFFFFF"/>
                </a:solidFill>
                <a:latin typeface="Cambria"/>
              </a:rPr>
              <a:t>3</a:t>
            </a:r>
          </a:p>
        </p:txBody>
      </p:sp>
      <p:sp>
        <p:nvSpPr>
          <p:cNvPr id="4" name="TextBox 3"/>
          <p:cNvSpPr txBox="1"/>
          <p:nvPr/>
        </p:nvSpPr>
        <p:spPr>
          <a:xfrm>
            <a:off x="2148840" y="2395728"/>
            <a:ext cx="8961120" cy="1280160"/>
          </a:xfrm>
          <a:prstGeom prst="rect">
            <a:avLst/>
          </a:prstGeom>
          <a:noFill/>
        </p:spPr>
        <p:txBody>
          <a:bodyPr wrap="square" lIns="0" rIns="0" tIns="0" bIns="0" anchor="t">
            <a:spAutoFit/>
          </a:bodyPr>
          <a:lstStyle/>
          <a:p>
            <a:pPr algn="l">
              <a:lnSpc>
                <a:spcPct val="100000"/>
              </a:lnSpc>
              <a:spcBef>
                <a:spcPts val="0"/>
              </a:spcBef>
              <a:spcAft>
                <a:spcPts val="800"/>
              </a:spcAft>
            </a:pPr>
            <a:r>
              <a:rPr sz="3400" b="1" i="0">
                <a:solidFill>
                  <a:srgbClr val="FFFFFF"/>
                </a:solidFill>
                <a:latin typeface="Cambria"/>
              </a:rPr>
              <a:t>Process management, caucus and negotiation</a:t>
            </a:r>
          </a:p>
          <a:p>
            <a:pPr algn="l">
              <a:lnSpc>
                <a:spcPct val="125000"/>
              </a:lnSpc>
              <a:spcBef>
                <a:spcPts val="0"/>
              </a:spcBef>
              <a:spcAft>
                <a:spcPts val="600"/>
              </a:spcAft>
            </a:pPr>
            <a:r>
              <a:rPr sz="1500" b="0" i="0">
                <a:solidFill>
                  <a:srgbClr val="C9D6DE"/>
                </a:solidFill>
                <a:latin typeface="Calibri"/>
              </a:rPr>
              <a:t>Day 3  ·  8 hours  ·  25% input, 75% practice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The caucus</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When to call one — and when you are avoiding something</a:t>
            </a:r>
          </a:p>
        </p:txBody>
      </p:sp>
      <p:sp>
        <p:nvSpPr>
          <p:cNvPr id="5" name="Rounded Rectangle 4"/>
          <p:cNvSpPr/>
          <p:nvPr/>
        </p:nvSpPr>
        <p:spPr>
          <a:xfrm>
            <a:off x="777240" y="2011680"/>
            <a:ext cx="5135727" cy="2930651"/>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43000" y="2340864"/>
            <a:ext cx="4404207" cy="457200"/>
          </a:xfrm>
          <a:prstGeom prst="rect">
            <a:avLst/>
          </a:prstGeom>
          <a:noFill/>
        </p:spPr>
        <p:txBody>
          <a:bodyPr wrap="square" lIns="0" rIns="0" tIns="0" bIns="0" anchor="t">
            <a:spAutoFit/>
          </a:bodyPr>
          <a:lstStyle/>
          <a:p>
            <a:pPr algn="l">
              <a:spcBef>
                <a:spcPts val="0"/>
              </a:spcBef>
              <a:spcAft>
                <a:spcPts val="600"/>
              </a:spcAft>
            </a:pPr>
            <a:r>
              <a:rPr sz="1650" b="1" i="0">
                <a:solidFill>
                  <a:srgbClr val="10375C"/>
                </a:solidFill>
                <a:latin typeface="Cambria"/>
              </a:rPr>
              <a:t>Call one when</a:t>
            </a:r>
          </a:p>
        </p:txBody>
      </p:sp>
      <p:sp>
        <p:nvSpPr>
          <p:cNvPr id="7" name="TextBox 6"/>
          <p:cNvSpPr txBox="1"/>
          <p:nvPr/>
        </p:nvSpPr>
        <p:spPr>
          <a:xfrm>
            <a:off x="1143000" y="2944368"/>
            <a:ext cx="4404207" cy="1650491"/>
          </a:xfrm>
          <a:prstGeom prst="rect">
            <a:avLst/>
          </a:prstGeom>
          <a:noFill/>
        </p:spPr>
        <p:txBody>
          <a:bodyPr wrap="square" lIns="0" rIns="0" tIns="0" bIns="0" anchor="t">
            <a:spAutoFit/>
          </a:bodyPr>
          <a:lstStyle/>
          <a:p>
            <a:pPr algn="l">
              <a:lnSpc>
                <a:spcPct val="120000"/>
              </a:lnSpc>
              <a:spcBef>
                <a:spcPts val="0"/>
              </a:spcBef>
              <a:spcAft>
                <a:spcPts val="900"/>
              </a:spcAft>
            </a:pPr>
            <a:r>
              <a:rPr sz="1250" b="0" i="0">
                <a:solidFill>
                  <a:srgbClr val="5A5A5A"/>
                </a:solidFill>
                <a:latin typeface="Calibri"/>
              </a:rPr>
              <a:t>A party cannot speak freely in front of the other.</a:t>
            </a:r>
          </a:p>
          <a:p>
            <a:pPr algn="l">
              <a:lnSpc>
                <a:spcPct val="120000"/>
              </a:lnSpc>
              <a:spcBef>
                <a:spcPts val="0"/>
              </a:spcBef>
              <a:spcAft>
                <a:spcPts val="900"/>
              </a:spcAft>
            </a:pPr>
            <a:r>
              <a:rPr sz="1250" b="0" i="0">
                <a:solidFill>
                  <a:srgbClr val="5A5A5A"/>
                </a:solidFill>
                <a:latin typeface="Calibri"/>
              </a:rPr>
              <a:t>You suspect an interest that will not be said aloud.</a:t>
            </a:r>
          </a:p>
          <a:p>
            <a:pPr algn="l">
              <a:lnSpc>
                <a:spcPct val="120000"/>
              </a:lnSpc>
              <a:spcBef>
                <a:spcPts val="0"/>
              </a:spcBef>
              <a:spcAft>
                <a:spcPts val="900"/>
              </a:spcAft>
            </a:pPr>
            <a:r>
              <a:rPr sz="1250" b="0" i="0">
                <a:solidFill>
                  <a:srgbClr val="5A5A5A"/>
                </a:solidFill>
                <a:latin typeface="Calibri"/>
              </a:rPr>
              <a:t>Emotion needs to be discharged.</a:t>
            </a:r>
          </a:p>
          <a:p>
            <a:pPr algn="l">
              <a:lnSpc>
                <a:spcPct val="120000"/>
              </a:lnSpc>
              <a:spcBef>
                <a:spcPts val="0"/>
              </a:spcBef>
              <a:spcAft>
                <a:spcPts val="900"/>
              </a:spcAft>
            </a:pPr>
            <a:r>
              <a:rPr sz="1250" b="0" i="0">
                <a:solidFill>
                  <a:srgbClr val="5A5A5A"/>
                </a:solidFill>
                <a:latin typeface="Calibri"/>
              </a:rPr>
              <a:t>You need to reality-test without the other watching.</a:t>
            </a:r>
          </a:p>
          <a:p>
            <a:pPr algn="l">
              <a:lnSpc>
                <a:spcPct val="120000"/>
              </a:lnSpc>
              <a:spcBef>
                <a:spcPts val="0"/>
              </a:spcBef>
              <a:spcAft>
                <a:spcPts val="900"/>
              </a:spcAft>
            </a:pPr>
            <a:r>
              <a:rPr sz="1250" b="0" i="0">
                <a:solidFill>
                  <a:srgbClr val="5A5A5A"/>
                </a:solidFill>
                <a:latin typeface="Calibri"/>
              </a:rPr>
              <a:t>Positions have hardened and movement needs cover.</a:t>
            </a:r>
          </a:p>
        </p:txBody>
      </p:sp>
      <p:sp>
        <p:nvSpPr>
          <p:cNvPr id="8" name="Rounded Rectangle 7"/>
          <p:cNvSpPr/>
          <p:nvPr/>
        </p:nvSpPr>
        <p:spPr>
          <a:xfrm>
            <a:off x="6278727" y="2011680"/>
            <a:ext cx="5135727" cy="2930651"/>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44487" y="2340864"/>
            <a:ext cx="4404207" cy="457200"/>
          </a:xfrm>
          <a:prstGeom prst="rect">
            <a:avLst/>
          </a:prstGeom>
          <a:noFill/>
        </p:spPr>
        <p:txBody>
          <a:bodyPr wrap="square" lIns="0" rIns="0" tIns="0" bIns="0" anchor="t">
            <a:spAutoFit/>
          </a:bodyPr>
          <a:lstStyle/>
          <a:p>
            <a:pPr algn="l">
              <a:spcBef>
                <a:spcPts val="0"/>
              </a:spcBef>
              <a:spcAft>
                <a:spcPts val="600"/>
              </a:spcAft>
            </a:pPr>
            <a:r>
              <a:rPr sz="1650" b="1" i="0">
                <a:solidFill>
                  <a:srgbClr val="10375C"/>
                </a:solidFill>
                <a:latin typeface="Cambria"/>
              </a:rPr>
              <a:t>Do not, when</a:t>
            </a:r>
          </a:p>
        </p:txBody>
      </p:sp>
      <p:sp>
        <p:nvSpPr>
          <p:cNvPr id="10" name="TextBox 9"/>
          <p:cNvSpPr txBox="1"/>
          <p:nvPr/>
        </p:nvSpPr>
        <p:spPr>
          <a:xfrm>
            <a:off x="6644487" y="2944368"/>
            <a:ext cx="4404207" cy="1650491"/>
          </a:xfrm>
          <a:prstGeom prst="rect">
            <a:avLst/>
          </a:prstGeom>
          <a:noFill/>
        </p:spPr>
        <p:txBody>
          <a:bodyPr wrap="square" lIns="0" rIns="0" tIns="0" bIns="0" anchor="t">
            <a:spAutoFit/>
          </a:bodyPr>
          <a:lstStyle/>
          <a:p>
            <a:pPr algn="l">
              <a:lnSpc>
                <a:spcPct val="120000"/>
              </a:lnSpc>
              <a:spcBef>
                <a:spcPts val="0"/>
              </a:spcBef>
              <a:spcAft>
                <a:spcPts val="900"/>
              </a:spcAft>
            </a:pPr>
            <a:r>
              <a:rPr sz="1250" b="0" i="0">
                <a:solidFill>
                  <a:srgbClr val="5A5A5A"/>
                </a:solidFill>
                <a:latin typeface="Calibri"/>
              </a:rPr>
              <a:t>You are avoiding a difficult joint conversation.</a:t>
            </a:r>
          </a:p>
          <a:p>
            <a:pPr algn="l">
              <a:lnSpc>
                <a:spcPct val="120000"/>
              </a:lnSpc>
              <a:spcBef>
                <a:spcPts val="0"/>
              </a:spcBef>
              <a:spcAft>
                <a:spcPts val="900"/>
              </a:spcAft>
            </a:pPr>
            <a:r>
              <a:rPr sz="1250" b="0" i="0">
                <a:solidFill>
                  <a:srgbClr val="5A5A5A"/>
                </a:solidFill>
                <a:latin typeface="Calibri"/>
              </a:rPr>
              <a:t>You want to persuade someone privately.</a:t>
            </a:r>
          </a:p>
          <a:p>
            <a:pPr algn="l">
              <a:lnSpc>
                <a:spcPct val="120000"/>
              </a:lnSpc>
              <a:spcBef>
                <a:spcPts val="0"/>
              </a:spcBef>
              <a:spcAft>
                <a:spcPts val="900"/>
              </a:spcAft>
            </a:pPr>
            <a:r>
              <a:rPr sz="1250" b="0" i="0">
                <a:solidFill>
                  <a:srgbClr val="5A5A5A"/>
                </a:solidFill>
                <a:latin typeface="Calibri"/>
              </a:rPr>
              <a:t>It is simply 'time for a caucus'.</a:t>
            </a:r>
          </a:p>
          <a:p>
            <a:pPr algn="l">
              <a:lnSpc>
                <a:spcPct val="120000"/>
              </a:lnSpc>
              <a:spcBef>
                <a:spcPts val="0"/>
              </a:spcBef>
              <a:spcAft>
                <a:spcPts val="900"/>
              </a:spcAft>
            </a:pPr>
            <a:r>
              <a:rPr sz="1250" b="0" i="0">
                <a:solidFill>
                  <a:srgbClr val="5A5A5A"/>
                </a:solidFill>
                <a:latin typeface="Calibri"/>
              </a:rPr>
              <a:t>You have not yet established anything in joint session.</a:t>
            </a:r>
          </a:p>
          <a:p>
            <a:pPr algn="l">
              <a:lnSpc>
                <a:spcPct val="120000"/>
              </a:lnSpc>
              <a:spcBef>
                <a:spcPts val="0"/>
              </a:spcBef>
              <a:spcAft>
                <a:spcPts val="900"/>
              </a:spcAft>
            </a:pPr>
            <a:r>
              <a:rPr sz="1250" b="0" i="0">
                <a:solidFill>
                  <a:srgbClr val="5A5A5A"/>
                </a:solidFill>
                <a:latin typeface="Calibri"/>
              </a:rPr>
              <a:t>It is a substitute for having a plan.</a:t>
            </a:r>
          </a:p>
        </p:txBody>
      </p:sp>
      <p:sp>
        <p:nvSpPr>
          <p:cNvPr id="11" name="TextBox 10"/>
          <p:cNvSpPr txBox="1"/>
          <p:nvPr/>
        </p:nvSpPr>
        <p:spPr>
          <a:xfrm>
            <a:off x="777240" y="6327648"/>
            <a:ext cx="10607040" cy="320040"/>
          </a:xfrm>
          <a:prstGeom prst="rect">
            <a:avLst/>
          </a:prstGeom>
          <a:noFill/>
        </p:spPr>
        <p:txBody>
          <a:bodyPr wrap="square" lIns="0" rIns="0" tIns="0" bIns="0" anchor="t">
            <a:spAutoFit/>
          </a:bodyPr>
          <a:lstStyle/>
          <a:p>
            <a:pPr algn="l">
              <a:spcBef>
                <a:spcPts val="0"/>
              </a:spcBef>
              <a:spcAft>
                <a:spcPts val="600"/>
              </a:spcAft>
            </a:pPr>
            <a:r>
              <a:rPr sz="950" b="0" i="1">
                <a:solidFill>
                  <a:srgbClr val="5A5A5A"/>
                </a:solidFill>
                <a:latin typeface="Calibri"/>
              </a:rPr>
              <a:t>Even time. If you give one side 25 minutes, give the other 25. Unequal caucus time is the fastest way to lose the appearance of neutrality.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Negotiation vocabulary</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You need these to reality-test properly</a:t>
            </a:r>
          </a:p>
        </p:txBody>
      </p:sp>
      <p:sp>
        <p:nvSpPr>
          <p:cNvPr id="5" name="TextBox 4"/>
          <p:cNvSpPr txBox="1"/>
          <p:nvPr/>
        </p:nvSpPr>
        <p:spPr>
          <a:xfrm>
            <a:off x="777240" y="2286000"/>
            <a:ext cx="3301898" cy="1051560"/>
          </a:xfrm>
          <a:prstGeom prst="rect">
            <a:avLst/>
          </a:prstGeom>
          <a:noFill/>
        </p:spPr>
        <p:txBody>
          <a:bodyPr wrap="square" lIns="0" rIns="0" tIns="0" bIns="0" anchor="t">
            <a:spAutoFit/>
          </a:bodyPr>
          <a:lstStyle/>
          <a:p>
            <a:pPr algn="l">
              <a:lnSpc>
                <a:spcPct val="95000"/>
              </a:lnSpc>
              <a:spcBef>
                <a:spcPts val="0"/>
              </a:spcBef>
              <a:spcAft>
                <a:spcPts val="200"/>
              </a:spcAft>
            </a:pPr>
            <a:r>
              <a:rPr sz="4000" b="1" i="0">
                <a:solidFill>
                  <a:srgbClr val="0E7C7B"/>
                </a:solidFill>
                <a:latin typeface="Cambria"/>
              </a:rPr>
              <a:t>BATNA</a:t>
            </a:r>
          </a:p>
        </p:txBody>
      </p:sp>
      <p:sp>
        <p:nvSpPr>
          <p:cNvPr id="6" name="TextBox 5"/>
          <p:cNvSpPr txBox="1"/>
          <p:nvPr/>
        </p:nvSpPr>
        <p:spPr>
          <a:xfrm>
            <a:off x="777240" y="3310128"/>
            <a:ext cx="3301898" cy="1371600"/>
          </a:xfrm>
          <a:prstGeom prst="rect">
            <a:avLst/>
          </a:prstGeom>
          <a:noFill/>
        </p:spPr>
        <p:txBody>
          <a:bodyPr wrap="square" lIns="0" rIns="0" tIns="0" bIns="0" anchor="t">
            <a:spAutoFit/>
          </a:bodyPr>
          <a:lstStyle/>
          <a:p>
            <a:pPr algn="l">
              <a:lnSpc>
                <a:spcPct val="110000"/>
              </a:lnSpc>
              <a:spcBef>
                <a:spcPts val="0"/>
              </a:spcBef>
              <a:spcAft>
                <a:spcPts val="500"/>
              </a:spcAft>
            </a:pPr>
            <a:r>
              <a:rPr sz="1350" b="1" i="0">
                <a:solidFill>
                  <a:srgbClr val="10375C"/>
                </a:solidFill>
                <a:latin typeface="Calibri"/>
              </a:rPr>
              <a:t>Best alternative</a:t>
            </a:r>
          </a:p>
          <a:p>
            <a:pPr algn="l">
              <a:lnSpc>
                <a:spcPct val="120000"/>
              </a:lnSpc>
              <a:spcBef>
                <a:spcPts val="0"/>
              </a:spcBef>
              <a:spcAft>
                <a:spcPts val="600"/>
              </a:spcAft>
            </a:pPr>
            <a:r>
              <a:rPr sz="1100" b="0" i="0">
                <a:solidFill>
                  <a:srgbClr val="5A5A5A"/>
                </a:solidFill>
                <a:latin typeface="Calibri"/>
              </a:rPr>
              <a:t>What happens if there is no deal, at best. The strength of a party's position is their BATNA, not their argument.</a:t>
            </a:r>
          </a:p>
        </p:txBody>
      </p:sp>
      <p:sp>
        <p:nvSpPr>
          <p:cNvPr id="7" name="TextBox 6"/>
          <p:cNvSpPr txBox="1"/>
          <p:nvPr/>
        </p:nvSpPr>
        <p:spPr>
          <a:xfrm>
            <a:off x="4444898" y="2286000"/>
            <a:ext cx="3301898" cy="1051560"/>
          </a:xfrm>
          <a:prstGeom prst="rect">
            <a:avLst/>
          </a:prstGeom>
          <a:noFill/>
        </p:spPr>
        <p:txBody>
          <a:bodyPr wrap="square" lIns="0" rIns="0" tIns="0" bIns="0" anchor="t">
            <a:spAutoFit/>
          </a:bodyPr>
          <a:lstStyle/>
          <a:p>
            <a:pPr algn="l">
              <a:lnSpc>
                <a:spcPct val="95000"/>
              </a:lnSpc>
              <a:spcBef>
                <a:spcPts val="0"/>
              </a:spcBef>
              <a:spcAft>
                <a:spcPts val="200"/>
              </a:spcAft>
            </a:pPr>
            <a:r>
              <a:rPr sz="4000" b="1" i="0">
                <a:solidFill>
                  <a:srgbClr val="0E7C7B"/>
                </a:solidFill>
                <a:latin typeface="Cambria"/>
              </a:rPr>
              <a:t>WATNA</a:t>
            </a:r>
          </a:p>
        </p:txBody>
      </p:sp>
      <p:sp>
        <p:nvSpPr>
          <p:cNvPr id="8" name="TextBox 7"/>
          <p:cNvSpPr txBox="1"/>
          <p:nvPr/>
        </p:nvSpPr>
        <p:spPr>
          <a:xfrm>
            <a:off x="4444898" y="3310128"/>
            <a:ext cx="3301898" cy="1371600"/>
          </a:xfrm>
          <a:prstGeom prst="rect">
            <a:avLst/>
          </a:prstGeom>
          <a:noFill/>
        </p:spPr>
        <p:txBody>
          <a:bodyPr wrap="square" lIns="0" rIns="0" tIns="0" bIns="0" anchor="t">
            <a:spAutoFit/>
          </a:bodyPr>
          <a:lstStyle/>
          <a:p>
            <a:pPr algn="l">
              <a:lnSpc>
                <a:spcPct val="110000"/>
              </a:lnSpc>
              <a:spcBef>
                <a:spcPts val="0"/>
              </a:spcBef>
              <a:spcAft>
                <a:spcPts val="500"/>
              </a:spcAft>
            </a:pPr>
            <a:r>
              <a:rPr sz="1350" b="1" i="0">
                <a:solidFill>
                  <a:srgbClr val="10375C"/>
                </a:solidFill>
                <a:latin typeface="Calibri"/>
              </a:rPr>
              <a:t>Worst alternative</a:t>
            </a:r>
          </a:p>
          <a:p>
            <a:pPr algn="l">
              <a:lnSpc>
                <a:spcPct val="120000"/>
              </a:lnSpc>
              <a:spcBef>
                <a:spcPts val="0"/>
              </a:spcBef>
              <a:spcAft>
                <a:spcPts val="600"/>
              </a:spcAft>
            </a:pPr>
            <a:r>
              <a:rPr sz="1100" b="0" i="0">
                <a:solidFill>
                  <a:srgbClr val="5A5A5A"/>
                </a:solidFill>
                <a:latin typeface="Calibri"/>
              </a:rPr>
              <a:t>What happens if there is no deal, at worst. Usually under-considered by both sides.</a:t>
            </a:r>
          </a:p>
        </p:txBody>
      </p:sp>
      <p:sp>
        <p:nvSpPr>
          <p:cNvPr id="9" name="TextBox 8"/>
          <p:cNvSpPr txBox="1"/>
          <p:nvPr/>
        </p:nvSpPr>
        <p:spPr>
          <a:xfrm>
            <a:off x="8112556" y="2286000"/>
            <a:ext cx="3301898" cy="1051560"/>
          </a:xfrm>
          <a:prstGeom prst="rect">
            <a:avLst/>
          </a:prstGeom>
          <a:noFill/>
        </p:spPr>
        <p:txBody>
          <a:bodyPr wrap="square" lIns="0" rIns="0" tIns="0" bIns="0" anchor="t">
            <a:spAutoFit/>
          </a:bodyPr>
          <a:lstStyle/>
          <a:p>
            <a:pPr algn="l">
              <a:lnSpc>
                <a:spcPct val="95000"/>
              </a:lnSpc>
              <a:spcBef>
                <a:spcPts val="0"/>
              </a:spcBef>
              <a:spcAft>
                <a:spcPts val="200"/>
              </a:spcAft>
            </a:pPr>
            <a:r>
              <a:rPr sz="4000" b="1" i="0">
                <a:solidFill>
                  <a:srgbClr val="0E7C7B"/>
                </a:solidFill>
                <a:latin typeface="Cambria"/>
              </a:rPr>
              <a:t>ZOPA</a:t>
            </a:r>
          </a:p>
        </p:txBody>
      </p:sp>
      <p:sp>
        <p:nvSpPr>
          <p:cNvPr id="10" name="TextBox 9"/>
          <p:cNvSpPr txBox="1"/>
          <p:nvPr/>
        </p:nvSpPr>
        <p:spPr>
          <a:xfrm>
            <a:off x="8112556" y="3310128"/>
            <a:ext cx="3301898" cy="1371600"/>
          </a:xfrm>
          <a:prstGeom prst="rect">
            <a:avLst/>
          </a:prstGeom>
          <a:noFill/>
        </p:spPr>
        <p:txBody>
          <a:bodyPr wrap="square" lIns="0" rIns="0" tIns="0" bIns="0" anchor="t">
            <a:spAutoFit/>
          </a:bodyPr>
          <a:lstStyle/>
          <a:p>
            <a:pPr algn="l">
              <a:lnSpc>
                <a:spcPct val="110000"/>
              </a:lnSpc>
              <a:spcBef>
                <a:spcPts val="0"/>
              </a:spcBef>
              <a:spcAft>
                <a:spcPts val="500"/>
              </a:spcAft>
            </a:pPr>
            <a:r>
              <a:rPr sz="1350" b="1" i="0">
                <a:solidFill>
                  <a:srgbClr val="10375C"/>
                </a:solidFill>
                <a:latin typeface="Calibri"/>
              </a:rPr>
              <a:t>Zone of possible agreement</a:t>
            </a:r>
          </a:p>
          <a:p>
            <a:pPr algn="l">
              <a:lnSpc>
                <a:spcPct val="120000"/>
              </a:lnSpc>
              <a:spcBef>
                <a:spcPts val="0"/>
              </a:spcBef>
              <a:spcAft>
                <a:spcPts val="600"/>
              </a:spcAft>
            </a:pPr>
            <a:r>
              <a:rPr sz="1100" b="0" i="0">
                <a:solidFill>
                  <a:srgbClr val="5A5A5A"/>
                </a:solidFill>
                <a:latin typeface="Calibri"/>
              </a:rPr>
              <a:t>The overlap between the parties' reservation values. It may exist without either party knowing.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Option generation</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Separate invention from decision, and say so out loud</a:t>
            </a:r>
          </a:p>
        </p:txBody>
      </p:sp>
      <p:sp>
        <p:nvSpPr>
          <p:cNvPr id="5" name="Rounded Rectangle 4"/>
          <p:cNvSpPr/>
          <p:nvPr/>
        </p:nvSpPr>
        <p:spPr>
          <a:xfrm>
            <a:off x="777240" y="2011680"/>
            <a:ext cx="10607040" cy="1143000"/>
          </a:xfrm>
          <a:prstGeom prst="roundRect">
            <a:avLst>
              <a:gd name="adj" fmla="val 6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43000" y="2267712"/>
            <a:ext cx="9875520" cy="731520"/>
          </a:xfrm>
          <a:prstGeom prst="rect">
            <a:avLst/>
          </a:prstGeom>
          <a:noFill/>
        </p:spPr>
        <p:txBody>
          <a:bodyPr wrap="square" lIns="0" rIns="0" tIns="0" bIns="0" anchor="t">
            <a:spAutoFit/>
          </a:bodyPr>
          <a:lstStyle/>
          <a:p>
            <a:pPr algn="l">
              <a:lnSpc>
                <a:spcPct val="125000"/>
              </a:lnSpc>
              <a:spcBef>
                <a:spcPts val="0"/>
              </a:spcBef>
              <a:spcAft>
                <a:spcPts val="600"/>
              </a:spcAft>
            </a:pPr>
            <a:r>
              <a:rPr sz="1600" b="1" i="0">
                <a:solidFill>
                  <a:srgbClr val="FFFFFF"/>
                </a:solidFill>
                <a:latin typeface="Calibri"/>
              </a:rPr>
              <a:t>I want to spend ten minutes putting possibilities on the table without anyone committing to anything. Nothing said in this part is an offer.</a:t>
            </a:r>
          </a:p>
        </p:txBody>
      </p:sp>
      <p:sp>
        <p:nvSpPr>
          <p:cNvPr id="7" name="Rounded Rectangle 6"/>
          <p:cNvSpPr/>
          <p:nvPr/>
        </p:nvSpPr>
        <p:spPr>
          <a:xfrm>
            <a:off x="777240" y="3429000"/>
            <a:ext cx="5135727" cy="2601468"/>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143000" y="3758184"/>
            <a:ext cx="4404207" cy="457200"/>
          </a:xfrm>
          <a:prstGeom prst="rect">
            <a:avLst/>
          </a:prstGeom>
          <a:noFill/>
        </p:spPr>
        <p:txBody>
          <a:bodyPr wrap="square" lIns="0" rIns="0" tIns="0" bIns="0" anchor="t">
            <a:spAutoFit/>
          </a:bodyPr>
          <a:lstStyle/>
          <a:p>
            <a:pPr algn="l">
              <a:spcBef>
                <a:spcPts val="0"/>
              </a:spcBef>
              <a:spcAft>
                <a:spcPts val="600"/>
              </a:spcAft>
            </a:pPr>
            <a:r>
              <a:rPr sz="1650" b="1" i="0">
                <a:solidFill>
                  <a:srgbClr val="10375C"/>
                </a:solidFill>
                <a:latin typeface="Cambria"/>
              </a:rPr>
              <a:t>Prompts that generate options</a:t>
            </a:r>
          </a:p>
        </p:txBody>
      </p:sp>
      <p:sp>
        <p:nvSpPr>
          <p:cNvPr id="9" name="TextBox 8"/>
          <p:cNvSpPr txBox="1"/>
          <p:nvPr/>
        </p:nvSpPr>
        <p:spPr>
          <a:xfrm>
            <a:off x="1143000" y="4361688"/>
            <a:ext cx="4404207" cy="1321307"/>
          </a:xfrm>
          <a:prstGeom prst="rect">
            <a:avLst/>
          </a:prstGeom>
          <a:noFill/>
        </p:spPr>
        <p:txBody>
          <a:bodyPr wrap="square" lIns="0" rIns="0" tIns="0" bIns="0" anchor="t">
            <a:spAutoFit/>
          </a:bodyPr>
          <a:lstStyle/>
          <a:p>
            <a:pPr algn="l">
              <a:lnSpc>
                <a:spcPct val="120000"/>
              </a:lnSpc>
              <a:spcBef>
                <a:spcPts val="0"/>
              </a:spcBef>
              <a:spcAft>
                <a:spcPts val="900"/>
              </a:spcAft>
            </a:pPr>
            <a:r>
              <a:rPr sz="1250" b="0" i="0">
                <a:solidFill>
                  <a:srgbClr val="5A5A5A"/>
                </a:solidFill>
                <a:latin typeface="Calibri"/>
              </a:rPr>
              <a:t>What if the timing were different?</a:t>
            </a:r>
          </a:p>
          <a:p>
            <a:pPr algn="l">
              <a:lnSpc>
                <a:spcPct val="120000"/>
              </a:lnSpc>
              <a:spcBef>
                <a:spcPts val="0"/>
              </a:spcBef>
              <a:spcAft>
                <a:spcPts val="900"/>
              </a:spcAft>
            </a:pPr>
            <a:r>
              <a:rPr sz="1250" b="0" i="0">
                <a:solidFill>
                  <a:srgbClr val="5A5A5A"/>
                </a:solidFill>
                <a:latin typeface="Calibri"/>
              </a:rPr>
              <a:t>What if it were paid in parts?</a:t>
            </a:r>
          </a:p>
          <a:p>
            <a:pPr algn="l">
              <a:lnSpc>
                <a:spcPct val="120000"/>
              </a:lnSpc>
              <a:spcBef>
                <a:spcPts val="0"/>
              </a:spcBef>
              <a:spcAft>
                <a:spcPts val="900"/>
              </a:spcAft>
            </a:pPr>
            <a:r>
              <a:rPr sz="1250" b="0" i="0">
                <a:solidFill>
                  <a:srgbClr val="5A5A5A"/>
                </a:solidFill>
                <a:latin typeface="Calibri"/>
              </a:rPr>
              <a:t>What if something other than money changed hands?</a:t>
            </a:r>
          </a:p>
          <a:p>
            <a:pPr algn="l">
              <a:lnSpc>
                <a:spcPct val="120000"/>
              </a:lnSpc>
              <a:spcBef>
                <a:spcPts val="0"/>
              </a:spcBef>
              <a:spcAft>
                <a:spcPts val="900"/>
              </a:spcAft>
            </a:pPr>
            <a:r>
              <a:rPr sz="1250" b="0" i="0">
                <a:solidFill>
                  <a:srgbClr val="5A5A5A"/>
                </a:solidFill>
                <a:latin typeface="Calibri"/>
              </a:rPr>
              <a:t>What has worked in your industry before?</a:t>
            </a:r>
          </a:p>
        </p:txBody>
      </p:sp>
      <p:sp>
        <p:nvSpPr>
          <p:cNvPr id="10" name="Rounded Rectangle 9"/>
          <p:cNvSpPr/>
          <p:nvPr/>
        </p:nvSpPr>
        <p:spPr>
          <a:xfrm>
            <a:off x="6278727" y="3429000"/>
            <a:ext cx="5135727" cy="2601468"/>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644487" y="3758184"/>
            <a:ext cx="4404207" cy="457200"/>
          </a:xfrm>
          <a:prstGeom prst="rect">
            <a:avLst/>
          </a:prstGeom>
          <a:noFill/>
        </p:spPr>
        <p:txBody>
          <a:bodyPr wrap="square" lIns="0" rIns="0" tIns="0" bIns="0" anchor="t">
            <a:spAutoFit/>
          </a:bodyPr>
          <a:lstStyle/>
          <a:p>
            <a:pPr algn="l">
              <a:spcBef>
                <a:spcPts val="0"/>
              </a:spcBef>
              <a:spcAft>
                <a:spcPts val="600"/>
              </a:spcAft>
            </a:pPr>
            <a:r>
              <a:rPr sz="1650" b="1" i="0">
                <a:solidFill>
                  <a:srgbClr val="10375C"/>
                </a:solidFill>
                <a:latin typeface="Cambria"/>
              </a:rPr>
              <a:t>Prompts that generate options</a:t>
            </a:r>
          </a:p>
        </p:txBody>
      </p:sp>
      <p:sp>
        <p:nvSpPr>
          <p:cNvPr id="12" name="TextBox 11"/>
          <p:cNvSpPr txBox="1"/>
          <p:nvPr/>
        </p:nvSpPr>
        <p:spPr>
          <a:xfrm>
            <a:off x="6644487" y="4361688"/>
            <a:ext cx="4404207" cy="1321307"/>
          </a:xfrm>
          <a:prstGeom prst="rect">
            <a:avLst/>
          </a:prstGeom>
          <a:noFill/>
        </p:spPr>
        <p:txBody>
          <a:bodyPr wrap="square" lIns="0" rIns="0" tIns="0" bIns="0" anchor="t">
            <a:spAutoFit/>
          </a:bodyPr>
          <a:lstStyle/>
          <a:p>
            <a:pPr algn="l">
              <a:lnSpc>
                <a:spcPct val="120000"/>
              </a:lnSpc>
              <a:spcBef>
                <a:spcPts val="0"/>
              </a:spcBef>
              <a:spcAft>
                <a:spcPts val="900"/>
              </a:spcAft>
            </a:pPr>
            <a:r>
              <a:rPr sz="1250" b="0" i="0">
                <a:solidFill>
                  <a:srgbClr val="5A5A5A"/>
                </a:solidFill>
                <a:latin typeface="Calibri"/>
              </a:rPr>
              <a:t>If money were not available at all, what would help?</a:t>
            </a:r>
          </a:p>
          <a:p>
            <a:pPr algn="l">
              <a:lnSpc>
                <a:spcPct val="120000"/>
              </a:lnSpc>
              <a:spcBef>
                <a:spcPts val="0"/>
              </a:spcBef>
              <a:spcAft>
                <a:spcPts val="900"/>
              </a:spcAft>
            </a:pPr>
            <a:r>
              <a:rPr sz="1250" b="0" i="0">
                <a:solidFill>
                  <a:srgbClr val="5A5A5A"/>
                </a:solidFill>
                <a:latin typeface="Calibri"/>
              </a:rPr>
              <a:t>What could each of you give that costs you little?</a:t>
            </a:r>
          </a:p>
          <a:p>
            <a:pPr algn="l">
              <a:lnSpc>
                <a:spcPct val="120000"/>
              </a:lnSpc>
              <a:spcBef>
                <a:spcPts val="0"/>
              </a:spcBef>
              <a:spcAft>
                <a:spcPts val="900"/>
              </a:spcAft>
            </a:pPr>
            <a:r>
              <a:rPr sz="1250" b="0" i="0">
                <a:solidFill>
                  <a:srgbClr val="5A5A5A"/>
                </a:solidFill>
                <a:latin typeface="Calibri"/>
              </a:rPr>
              <a:t>What would make this easier to explain to the people you report to?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The currencies checklist</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Money is one currency. Run this list in every mediation.</a:t>
            </a:r>
          </a:p>
        </p:txBody>
      </p:sp>
      <p:graphicFrame>
        <p:nvGraphicFramePr>
          <p:cNvPr id="5" name="Table 4"/>
          <p:cNvGraphicFramePr>
            <a:graphicFrameLocks noGrp="1"/>
          </p:cNvGraphicFramePr>
          <p:nvPr/>
        </p:nvGraphicFramePr>
        <p:xfrm>
          <a:off x="777240" y="2148840"/>
          <a:ext cx="10637213" cy="2304288"/>
        </p:xfrm>
        <a:graphic>
          <a:graphicData uri="http://schemas.openxmlformats.org/drawingml/2006/table">
            <a:tbl>
              <a:tblPr firstRow="1" bandRow="1">
                <a:tableStyleId>{5C22544A-7EE6-4342-B048-85BDC9FD1C3A}</a:tableStyleId>
              </a:tblPr>
              <a:tblGrid>
                <a:gridCol w="3457094"/>
                <a:gridCol w="3723025"/>
                <a:gridCol w="3457094"/>
              </a:tblGrid>
              <a:tr h="384048">
                <a:tc>
                  <a:txBody>
                    <a:bodyPr/>
                    <a:lstStyle/>
                    <a:p>
                      <a:r>
                        <a:rPr sz="1100" b="1">
                          <a:solidFill>
                            <a:srgbClr val="FFFFFF"/>
                          </a:solidFill>
                          <a:latin typeface="Calibri"/>
                        </a:rPr>
                        <a:t/>
                      </a:r>
                    </a:p>
                  </a:txBody>
                  <a:tcPr marL="109728" marR="73152" marT="45720" marB="45720" anchor="ctr">
                    <a:solidFill>
                      <a:srgbClr val="10375C"/>
                    </a:solidFill>
                  </a:tcPr>
                </a:tc>
                <a:tc>
                  <a:txBody>
                    <a:bodyPr/>
                    <a:lstStyle/>
                    <a:p>
                      <a:r>
                        <a:rPr sz="1100" b="1">
                          <a:solidFill>
                            <a:srgbClr val="FFFFFF"/>
                          </a:solidFill>
                          <a:latin typeface="Calibri"/>
                        </a:rPr>
                        <a:t/>
                      </a:r>
                    </a:p>
                  </a:txBody>
                  <a:tcPr marL="109728" marR="73152" marT="45720" marB="45720" anchor="ctr">
                    <a:solidFill>
                      <a:srgbClr val="10375C"/>
                    </a:solidFill>
                  </a:tcPr>
                </a:tc>
                <a:tc>
                  <a:txBody>
                    <a:bodyPr/>
                    <a:lstStyle/>
                    <a:p>
                      <a:r>
                        <a:rPr sz="1100" b="1">
                          <a:solidFill>
                            <a:srgbClr val="FFFFFF"/>
                          </a:solidFill>
                          <a:latin typeface="Calibri"/>
                        </a:rPr>
                        <a:t/>
                      </a:r>
                    </a:p>
                  </a:txBody>
                  <a:tcPr marL="109728" marR="73152" marT="45720" marB="45720" anchor="ctr">
                    <a:solidFill>
                      <a:srgbClr val="10375C"/>
                    </a:solidFill>
                  </a:tcPr>
                </a:tc>
              </a:tr>
              <a:tr h="384048">
                <a:tc>
                  <a:txBody>
                    <a:bodyPr/>
                    <a:lstStyle/>
                    <a:p>
                      <a:r>
                        <a:rPr sz="1150" b="0">
                          <a:solidFill>
                            <a:srgbClr val="1F1F1F"/>
                          </a:solidFill>
                          <a:latin typeface="Calibri"/>
                        </a:rPr>
                        <a:t>Amount</a:t>
                      </a:r>
                    </a:p>
                  </a:txBody>
                  <a:tcPr marL="109728" marR="73152" marT="36576" marB="36576" anchor="ctr">
                    <a:solidFill>
                      <a:srgbClr val="FFFFFF"/>
                    </a:solidFill>
                  </a:tcPr>
                </a:tc>
                <a:tc>
                  <a:txBody>
                    <a:bodyPr/>
                    <a:lstStyle/>
                    <a:p>
                      <a:r>
                        <a:rPr sz="1150" b="0">
                          <a:solidFill>
                            <a:srgbClr val="1F1F1F"/>
                          </a:solidFill>
                          <a:latin typeface="Calibri"/>
                        </a:rPr>
                        <a:t>Future business, volume, term</a:t>
                      </a:r>
                    </a:p>
                  </a:txBody>
                  <a:tcPr marL="109728" marR="73152" marT="36576" marB="36576" anchor="ctr">
                    <a:solidFill>
                      <a:srgbClr val="FFFFFF"/>
                    </a:solidFill>
                  </a:tcPr>
                </a:tc>
                <a:tc>
                  <a:txBody>
                    <a:bodyPr/>
                    <a:lstStyle/>
                    <a:p>
                      <a:r>
                        <a:rPr sz="1150" b="0">
                          <a:solidFill>
                            <a:srgbClr val="1F1F1F"/>
                          </a:solidFill>
                          <a:latin typeface="Calibri"/>
                        </a:rPr>
                        <a:t>Apology or acknowledgement</a:t>
                      </a:r>
                    </a:p>
                  </a:txBody>
                  <a:tcPr marL="109728" marR="73152" marT="36576" marB="36576" anchor="ctr">
                    <a:solidFill>
                      <a:srgbClr val="FFFFFF"/>
                    </a:solidFill>
                  </a:tcPr>
                </a:tc>
              </a:tr>
              <a:tr h="384048">
                <a:tc>
                  <a:txBody>
                    <a:bodyPr/>
                    <a:lstStyle/>
                    <a:p>
                      <a:r>
                        <a:rPr sz="1150" b="0">
                          <a:solidFill>
                            <a:srgbClr val="1F1F1F"/>
                          </a:solidFill>
                          <a:latin typeface="Calibri"/>
                        </a:rPr>
                        <a:t>Timing — often worth more than amount</a:t>
                      </a:r>
                    </a:p>
                  </a:txBody>
                  <a:tcPr marL="109728" marR="73152" marT="36576" marB="36576" anchor="ctr">
                    <a:solidFill>
                      <a:srgbClr val="EAF1F4"/>
                    </a:solidFill>
                  </a:tcPr>
                </a:tc>
                <a:tc>
                  <a:txBody>
                    <a:bodyPr/>
                    <a:lstStyle/>
                    <a:p>
                      <a:r>
                        <a:rPr sz="1150" b="0">
                          <a:solidFill>
                            <a:srgbClr val="1F1F1F"/>
                          </a:solidFill>
                          <a:latin typeface="Calibri"/>
                        </a:rPr>
                        <a:t>Payment terms going forward</a:t>
                      </a:r>
                    </a:p>
                  </a:txBody>
                  <a:tcPr marL="109728" marR="73152" marT="36576" marB="36576" anchor="ctr">
                    <a:solidFill>
                      <a:srgbClr val="EAF1F4"/>
                    </a:solidFill>
                  </a:tcPr>
                </a:tc>
                <a:tc>
                  <a:txBody>
                    <a:bodyPr/>
                    <a:lstStyle/>
                    <a:p>
                      <a:r>
                        <a:rPr sz="1150" b="0">
                          <a:solidFill>
                            <a:srgbClr val="1F1F1F"/>
                          </a:solidFill>
                          <a:latin typeface="Calibri"/>
                        </a:rPr>
                        <a:t>Confidentiality, or publicity</a:t>
                      </a:r>
                    </a:p>
                  </a:txBody>
                  <a:tcPr marL="109728" marR="73152" marT="36576" marB="36576" anchor="ctr">
                    <a:solidFill>
                      <a:srgbClr val="EAF1F4"/>
                    </a:solidFill>
                  </a:tcPr>
                </a:tc>
              </a:tr>
              <a:tr h="384048">
                <a:tc>
                  <a:txBody>
                    <a:bodyPr/>
                    <a:lstStyle/>
                    <a:p>
                      <a:r>
                        <a:rPr sz="1150" b="0">
                          <a:solidFill>
                            <a:srgbClr val="1F1F1F"/>
                          </a:solidFill>
                          <a:latin typeface="Calibri"/>
                        </a:rPr>
                        <a:t>Certainty and security</a:t>
                      </a:r>
                    </a:p>
                  </a:txBody>
                  <a:tcPr marL="109728" marR="73152" marT="36576" marB="36576" anchor="ctr">
                    <a:solidFill>
                      <a:srgbClr val="FFFFFF"/>
                    </a:solidFill>
                  </a:tcPr>
                </a:tc>
                <a:tc>
                  <a:txBody>
                    <a:bodyPr/>
                    <a:lstStyle/>
                    <a:p>
                      <a:r>
                        <a:rPr sz="1150" b="0">
                          <a:solidFill>
                            <a:srgbClr val="1F1F1F"/>
                          </a:solidFill>
                          <a:latin typeface="Calibri"/>
                        </a:rPr>
                        <a:t>Work or goods in place of cash</a:t>
                      </a:r>
                    </a:p>
                  </a:txBody>
                  <a:tcPr marL="109728" marR="73152" marT="36576" marB="36576" anchor="ctr">
                    <a:solidFill>
                      <a:srgbClr val="FFFFFF"/>
                    </a:solidFill>
                  </a:tcPr>
                </a:tc>
                <a:tc>
                  <a:txBody>
                    <a:bodyPr/>
                    <a:lstStyle/>
                    <a:p>
                      <a:r>
                        <a:rPr sz="1150" b="0">
                          <a:solidFill>
                            <a:srgbClr val="1F1F1F"/>
                          </a:solidFill>
                          <a:latin typeface="Calibri"/>
                        </a:rPr>
                        <a:t>Release of a guarantee or security</a:t>
                      </a:r>
                    </a:p>
                  </a:txBody>
                  <a:tcPr marL="109728" marR="73152" marT="36576" marB="36576" anchor="ctr">
                    <a:solidFill>
                      <a:srgbClr val="FFFFFF"/>
                    </a:solidFill>
                  </a:tcPr>
                </a:tc>
              </a:tr>
              <a:tr h="384048">
                <a:tc>
                  <a:txBody>
                    <a:bodyPr/>
                    <a:lstStyle/>
                    <a:p>
                      <a:r>
                        <a:rPr sz="1150" b="0">
                          <a:solidFill>
                            <a:srgbClr val="1F1F1F"/>
                          </a:solidFill>
                          <a:latin typeface="Calibri"/>
                        </a:rPr>
                        <a:t>Information, data, access, forecasts</a:t>
                      </a:r>
                    </a:p>
                  </a:txBody>
                  <a:tcPr marL="109728" marR="73152" marT="36576" marB="36576" anchor="ctr">
                    <a:solidFill>
                      <a:srgbClr val="EAF1F4"/>
                    </a:solidFill>
                  </a:tcPr>
                </a:tc>
                <a:tc>
                  <a:txBody>
                    <a:bodyPr/>
                    <a:lstStyle/>
                    <a:p>
                      <a:r>
                        <a:rPr sz="1150" b="0">
                          <a:solidFill>
                            <a:srgbClr val="1F1F1F"/>
                          </a:solidFill>
                          <a:latin typeface="Calibri"/>
                        </a:rPr>
                        <a:t>A document — reference, certificate, agreed statement of cause</a:t>
                      </a:r>
                    </a:p>
                  </a:txBody>
                  <a:tcPr marL="109728" marR="73152" marT="36576" marB="36576" anchor="ctr">
                    <a:solidFill>
                      <a:srgbClr val="EAF1F4"/>
                    </a:solidFill>
                  </a:tcPr>
                </a:tc>
                <a:tc>
                  <a:txBody>
                    <a:bodyPr/>
                    <a:lstStyle/>
                    <a:p>
                      <a:r>
                        <a:rPr sz="1150" b="0">
                          <a:solidFill>
                            <a:srgbClr val="1F1F1F"/>
                          </a:solidFill>
                          <a:latin typeface="Calibri"/>
                        </a:rPr>
                        <a:t>Process — escalation protocol, joint committee, review</a:t>
                      </a:r>
                    </a:p>
                  </a:txBody>
                  <a:tcPr marL="109728" marR="73152" marT="36576" marB="36576" anchor="ctr">
                    <a:solidFill>
                      <a:srgbClr val="EAF1F4"/>
                    </a:solidFill>
                  </a:tcPr>
                </a:tc>
              </a:tr>
              <a:tr h="384048">
                <a:tc>
                  <a:txBody>
                    <a:bodyPr/>
                    <a:lstStyle/>
                    <a:p>
                      <a:r>
                        <a:rPr sz="1150" b="0">
                          <a:solidFill>
                            <a:srgbClr val="1F1F1F"/>
                          </a:solidFill>
                          <a:latin typeface="Calibri"/>
                        </a:rPr>
                        <a:t>Who is told, and how it is described</a:t>
                      </a:r>
                    </a:p>
                  </a:txBody>
                  <a:tcPr marL="109728" marR="73152" marT="36576" marB="36576" anchor="ctr">
                    <a:solidFill>
                      <a:srgbClr val="FFFFFF"/>
                    </a:solidFill>
                  </a:tcPr>
                </a:tc>
                <a:tc>
                  <a:txBody>
                    <a:bodyPr/>
                    <a:lstStyle/>
                    <a:p>
                      <a:r>
                        <a:rPr sz="1150" b="0">
                          <a:solidFill>
                            <a:srgbClr val="1F1F1F"/>
                          </a:solidFill>
                          <a:latin typeface="Calibri"/>
                        </a:rPr>
                        <a:t>Withdrawal of proceedings or complaints</a:t>
                      </a:r>
                    </a:p>
                  </a:txBody>
                  <a:tcPr marL="109728" marR="73152" marT="36576" marB="36576" anchor="ctr">
                    <a:solidFill>
                      <a:srgbClr val="FFFFFF"/>
                    </a:solidFill>
                  </a:tcPr>
                </a:tc>
                <a:tc>
                  <a:txBody>
                    <a:bodyPr/>
                    <a:lstStyle/>
                    <a:p>
                      <a:r>
                        <a:rPr sz="1150" b="0">
                          <a:solidFill>
                            <a:srgbClr val="1F1F1F"/>
                          </a:solidFill>
                          <a:latin typeface="Calibri"/>
                        </a:rPr>
                        <a:t>An agreed root-cause statement</a:t>
                      </a:r>
                    </a:p>
                  </a:txBody>
                  <a:tcPr marL="109728" marR="73152" marT="36576" marB="36576" anchor="ctr">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Reality testing</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Test without directing — the line you must not cross</a:t>
            </a:r>
          </a:p>
        </p:txBody>
      </p:sp>
      <p:graphicFrame>
        <p:nvGraphicFramePr>
          <p:cNvPr id="5" name="Table 4"/>
          <p:cNvGraphicFramePr>
            <a:graphicFrameLocks noGrp="1"/>
          </p:cNvGraphicFramePr>
          <p:nvPr/>
        </p:nvGraphicFramePr>
        <p:xfrm>
          <a:off x="777240" y="2377440"/>
          <a:ext cx="10637214" cy="1920240"/>
        </p:xfrm>
        <a:graphic>
          <a:graphicData uri="http://schemas.openxmlformats.org/drawingml/2006/table">
            <a:tbl>
              <a:tblPr firstRow="1" bandRow="1">
                <a:tableStyleId>{5C22544A-7EE6-4342-B048-85BDC9FD1C3A}</a:tableStyleId>
              </a:tblPr>
              <a:tblGrid>
                <a:gridCol w="5141320"/>
                <a:gridCol w="5495894"/>
              </a:tblGrid>
              <a:tr h="384048">
                <a:tc>
                  <a:txBody>
                    <a:bodyPr/>
                    <a:lstStyle/>
                    <a:p>
                      <a:r>
                        <a:rPr sz="1100" b="1">
                          <a:solidFill>
                            <a:srgbClr val="FFFFFF"/>
                          </a:solidFill>
                          <a:latin typeface="Calibri"/>
                        </a:rPr>
                        <a:t>Directing — avoid</a:t>
                      </a:r>
                    </a:p>
                  </a:txBody>
                  <a:tcPr marL="109728" marR="73152" marT="45720" marB="45720" anchor="ctr">
                    <a:solidFill>
                      <a:srgbClr val="10375C"/>
                    </a:solidFill>
                  </a:tcPr>
                </a:tc>
                <a:tc>
                  <a:txBody>
                    <a:bodyPr/>
                    <a:lstStyle/>
                    <a:p>
                      <a:r>
                        <a:rPr sz="1100" b="1">
                          <a:solidFill>
                            <a:srgbClr val="FFFFFF"/>
                          </a:solidFill>
                          <a:latin typeface="Calibri"/>
                        </a:rPr>
                        <a:t>Testing — use</a:t>
                      </a:r>
                    </a:p>
                  </a:txBody>
                  <a:tcPr marL="109728" marR="73152" marT="45720" marB="45720" anchor="ctr">
                    <a:solidFill>
                      <a:srgbClr val="10375C"/>
                    </a:solidFill>
                  </a:tcPr>
                </a:tc>
              </a:tr>
              <a:tr h="384048">
                <a:tc>
                  <a:txBody>
                    <a:bodyPr/>
                    <a:lstStyle/>
                    <a:p>
                      <a:r>
                        <a:rPr sz="1300" b="0">
                          <a:solidFill>
                            <a:srgbClr val="1F1F1F"/>
                          </a:solidFill>
                          <a:latin typeface="Calibri"/>
                        </a:rPr>
                        <a:t>You will not win that in court</a:t>
                      </a:r>
                    </a:p>
                  </a:txBody>
                  <a:tcPr marL="109728" marR="73152" marT="36576" marB="36576" anchor="ctr">
                    <a:solidFill>
                      <a:srgbClr val="FFFFFF"/>
                    </a:solidFill>
                  </a:tcPr>
                </a:tc>
                <a:tc>
                  <a:txBody>
                    <a:bodyPr/>
                    <a:lstStyle/>
                    <a:p>
                      <a:r>
                        <a:rPr sz="1300" b="0">
                          <a:solidFill>
                            <a:srgbClr val="1F1F1F"/>
                          </a:solidFill>
                          <a:latin typeface="Calibri"/>
                        </a:rPr>
                        <a:t>What has your advocate said about the likely range?</a:t>
                      </a:r>
                    </a:p>
                  </a:txBody>
                  <a:tcPr marL="109728" marR="73152" marT="36576" marB="36576" anchor="ctr">
                    <a:solidFill>
                      <a:srgbClr val="FFFFFF"/>
                    </a:solidFill>
                  </a:tcPr>
                </a:tc>
              </a:tr>
              <a:tr h="384048">
                <a:tc>
                  <a:txBody>
                    <a:bodyPr/>
                    <a:lstStyle/>
                    <a:p>
                      <a:r>
                        <a:rPr sz="1300" b="0">
                          <a:solidFill>
                            <a:srgbClr val="1F1F1F"/>
                          </a:solidFill>
                          <a:latin typeface="Calibri"/>
                        </a:rPr>
                        <a:t>That offer is unreasonable</a:t>
                      </a:r>
                    </a:p>
                  </a:txBody>
                  <a:tcPr marL="109728" marR="73152" marT="36576" marB="36576" anchor="ctr">
                    <a:solidFill>
                      <a:srgbClr val="EAF1F4"/>
                    </a:solidFill>
                  </a:tcPr>
                </a:tc>
                <a:tc>
                  <a:txBody>
                    <a:bodyPr/>
                    <a:lstStyle/>
                    <a:p>
                      <a:r>
                        <a:rPr sz="1300" b="0">
                          <a:solidFill>
                            <a:srgbClr val="1F1F1F"/>
                          </a:solidFill>
                          <a:latin typeface="Calibri"/>
                        </a:rPr>
                        <a:t>How do you think they will hear that?</a:t>
                      </a:r>
                    </a:p>
                  </a:txBody>
                  <a:tcPr marL="109728" marR="73152" marT="36576" marB="36576" anchor="ctr">
                    <a:solidFill>
                      <a:srgbClr val="EAF1F4"/>
                    </a:solidFill>
                  </a:tcPr>
                </a:tc>
              </a:tr>
              <a:tr h="384048">
                <a:tc>
                  <a:txBody>
                    <a:bodyPr/>
                    <a:lstStyle/>
                    <a:p>
                      <a:r>
                        <a:rPr sz="1300" b="0">
                          <a:solidFill>
                            <a:srgbClr val="1F1F1F"/>
                          </a:solidFill>
                          <a:latin typeface="Calibri"/>
                        </a:rPr>
                        <a:t>You should take this</a:t>
                      </a:r>
                    </a:p>
                  </a:txBody>
                  <a:tcPr marL="109728" marR="73152" marT="36576" marB="36576" anchor="ctr">
                    <a:solidFill>
                      <a:srgbClr val="FFFFFF"/>
                    </a:solidFill>
                  </a:tcPr>
                </a:tc>
                <a:tc>
                  <a:txBody>
                    <a:bodyPr/>
                    <a:lstStyle/>
                    <a:p>
                      <a:r>
                        <a:rPr sz="1300" b="0">
                          <a:solidFill>
                            <a:srgbClr val="1F1F1F"/>
                          </a:solidFill>
                          <a:latin typeface="Calibri"/>
                        </a:rPr>
                        <a:t>If you turn this down, what is your next step?</a:t>
                      </a:r>
                    </a:p>
                  </a:txBody>
                  <a:tcPr marL="109728" marR="73152" marT="36576" marB="36576" anchor="ctr">
                    <a:solidFill>
                      <a:srgbClr val="FFFFFF"/>
                    </a:solidFill>
                  </a:tcPr>
                </a:tc>
              </a:tr>
              <a:tr h="384048">
                <a:tc>
                  <a:txBody>
                    <a:bodyPr/>
                    <a:lstStyle/>
                    <a:p>
                      <a:r>
                        <a:rPr sz="1300" b="0">
                          <a:solidFill>
                            <a:srgbClr val="1F1F1F"/>
                          </a:solidFill>
                          <a:latin typeface="Calibri"/>
                        </a:rPr>
                        <a:t>That will never happen</a:t>
                      </a:r>
                    </a:p>
                  </a:txBody>
                  <a:tcPr marL="109728" marR="73152" marT="36576" marB="36576" anchor="ctr">
                    <a:solidFill>
                      <a:srgbClr val="EAF1F4"/>
                    </a:solidFill>
                  </a:tcPr>
                </a:tc>
                <a:tc>
                  <a:txBody>
                    <a:bodyPr/>
                    <a:lstStyle/>
                    <a:p>
                      <a:r>
                        <a:rPr sz="1300" b="0">
                          <a:solidFill>
                            <a:srgbClr val="1F1F1F"/>
                          </a:solidFill>
                          <a:latin typeface="Calibri"/>
                        </a:rPr>
                        <a:t>What would have to be true for that to work?</a:t>
                      </a:r>
                    </a:p>
                  </a:txBody>
                  <a:tcPr marL="109728" marR="73152" marT="36576" marB="36576" anchor="ctr">
                    <a:solidFill>
                      <a:srgbClr val="EAF1F4"/>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2331720"/>
            <a:ext cx="868680" cy="868680"/>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600" b="1">
                <a:solidFill>
                  <a:srgbClr val="FFFFFF"/>
                </a:solidFill>
                <a:latin typeface="Cambria"/>
              </a:rPr>
              <a:t>4</a:t>
            </a:r>
          </a:p>
        </p:txBody>
      </p:sp>
      <p:sp>
        <p:nvSpPr>
          <p:cNvPr id="4" name="TextBox 3"/>
          <p:cNvSpPr txBox="1"/>
          <p:nvPr/>
        </p:nvSpPr>
        <p:spPr>
          <a:xfrm>
            <a:off x="2148840" y="2395728"/>
            <a:ext cx="8961120" cy="1280160"/>
          </a:xfrm>
          <a:prstGeom prst="rect">
            <a:avLst/>
          </a:prstGeom>
          <a:noFill/>
        </p:spPr>
        <p:txBody>
          <a:bodyPr wrap="square" lIns="0" rIns="0" tIns="0" bIns="0" anchor="t">
            <a:spAutoFit/>
          </a:bodyPr>
          <a:lstStyle/>
          <a:p>
            <a:pPr algn="l">
              <a:lnSpc>
                <a:spcPct val="100000"/>
              </a:lnSpc>
              <a:spcBef>
                <a:spcPts val="0"/>
              </a:spcBef>
              <a:spcAft>
                <a:spcPts val="800"/>
              </a:spcAft>
            </a:pPr>
            <a:r>
              <a:rPr sz="3400" b="1" i="0">
                <a:solidFill>
                  <a:srgbClr val="FFFFFF"/>
                </a:solidFill>
                <a:latin typeface="Cambria"/>
              </a:rPr>
              <a:t>Difficulty, impasse, ethics and sectoral practice</a:t>
            </a:r>
          </a:p>
          <a:p>
            <a:pPr algn="l">
              <a:lnSpc>
                <a:spcPct val="125000"/>
              </a:lnSpc>
              <a:spcBef>
                <a:spcPts val="0"/>
              </a:spcBef>
              <a:spcAft>
                <a:spcPts val="600"/>
              </a:spcAft>
            </a:pPr>
            <a:r>
              <a:rPr sz="1500" b="0" i="0">
                <a:solidFill>
                  <a:srgbClr val="C9D6DE"/>
                </a:solidFill>
                <a:latin typeface="Calibri"/>
              </a:rPr>
              <a:t>Day 4  ·  8 hours  ·  25% input, 75% practice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Diagnose before you intervene</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Impasse has a cause. Find it first.</a:t>
            </a:r>
          </a:p>
        </p:txBody>
      </p:sp>
      <p:graphicFrame>
        <p:nvGraphicFramePr>
          <p:cNvPr id="5" name="Table 4"/>
          <p:cNvGraphicFramePr>
            <a:graphicFrameLocks noGrp="1"/>
          </p:cNvGraphicFramePr>
          <p:nvPr/>
        </p:nvGraphicFramePr>
        <p:xfrm>
          <a:off x="777240" y="1965960"/>
          <a:ext cx="10637214" cy="3072384"/>
        </p:xfrm>
        <a:graphic>
          <a:graphicData uri="http://schemas.openxmlformats.org/drawingml/2006/table">
            <a:tbl>
              <a:tblPr firstRow="1" bandRow="1">
                <a:tableStyleId>{5C22544A-7EE6-4342-B048-85BDC9FD1C3A}</a:tableStyleId>
              </a:tblPr>
              <a:tblGrid>
                <a:gridCol w="1950156"/>
                <a:gridCol w="3900312"/>
                <a:gridCol w="4786746"/>
              </a:tblGrid>
              <a:tr h="384048">
                <a:tc>
                  <a:txBody>
                    <a:bodyPr/>
                    <a:lstStyle/>
                    <a:p>
                      <a:r>
                        <a:rPr sz="1100" b="1">
                          <a:solidFill>
                            <a:srgbClr val="FFFFFF"/>
                          </a:solidFill>
                          <a:latin typeface="Calibri"/>
                        </a:rPr>
                        <a:t>Cause</a:t>
                      </a:r>
                    </a:p>
                  </a:txBody>
                  <a:tcPr marL="109728" marR="73152" marT="45720" marB="45720" anchor="ctr">
                    <a:solidFill>
                      <a:srgbClr val="10375C"/>
                    </a:solidFill>
                  </a:tcPr>
                </a:tc>
                <a:tc>
                  <a:txBody>
                    <a:bodyPr/>
                    <a:lstStyle/>
                    <a:p>
                      <a:r>
                        <a:rPr sz="1100" b="1">
                          <a:solidFill>
                            <a:srgbClr val="FFFFFF"/>
                          </a:solidFill>
                          <a:latin typeface="Calibri"/>
                        </a:rPr>
                        <a:t>Signal</a:t>
                      </a:r>
                    </a:p>
                  </a:txBody>
                  <a:tcPr marL="109728" marR="73152" marT="45720" marB="45720" anchor="ctr">
                    <a:solidFill>
                      <a:srgbClr val="10375C"/>
                    </a:solidFill>
                  </a:tcPr>
                </a:tc>
                <a:tc>
                  <a:txBody>
                    <a:bodyPr/>
                    <a:lstStyle/>
                    <a:p>
                      <a:r>
                        <a:rPr sz="1100" b="1">
                          <a:solidFill>
                            <a:srgbClr val="FFFFFF"/>
                          </a:solidFill>
                          <a:latin typeface="Calibri"/>
                        </a:rPr>
                        <a:t>Intervention</a:t>
                      </a:r>
                    </a:p>
                  </a:txBody>
                  <a:tcPr marL="109728" marR="73152" marT="45720" marB="45720" anchor="ctr">
                    <a:solidFill>
                      <a:srgbClr val="10375C"/>
                    </a:solidFill>
                  </a:tcPr>
                </a:tc>
              </a:tr>
              <a:tr h="384048">
                <a:tc>
                  <a:txBody>
                    <a:bodyPr/>
                    <a:lstStyle/>
                    <a:p>
                      <a:r>
                        <a:rPr sz="1150" b="0">
                          <a:solidFill>
                            <a:srgbClr val="1F1F1F"/>
                          </a:solidFill>
                          <a:latin typeface="Calibri"/>
                        </a:rPr>
                        <a:t>Information</a:t>
                      </a:r>
                    </a:p>
                  </a:txBody>
                  <a:tcPr marL="109728" marR="73152" marT="36576" marB="36576" anchor="ctr">
                    <a:solidFill>
                      <a:srgbClr val="FFFFFF"/>
                    </a:solidFill>
                  </a:tcPr>
                </a:tc>
                <a:tc>
                  <a:txBody>
                    <a:bodyPr/>
                    <a:lstStyle/>
                    <a:p>
                      <a:r>
                        <a:rPr sz="1150" b="0">
                          <a:solidFill>
                            <a:srgbClr val="1F1F1F"/>
                          </a:solidFill>
                          <a:latin typeface="Calibri"/>
                        </a:rPr>
                        <a:t>The parties disagree about a fact</a:t>
                      </a:r>
                    </a:p>
                  </a:txBody>
                  <a:tcPr marL="109728" marR="73152" marT="36576" marB="36576" anchor="ctr">
                    <a:solidFill>
                      <a:srgbClr val="FFFFFF"/>
                    </a:solidFill>
                  </a:tcPr>
                </a:tc>
                <a:tc>
                  <a:txBody>
                    <a:bodyPr/>
                    <a:lstStyle/>
                    <a:p>
                      <a:r>
                        <a:rPr sz="1150" b="0">
                          <a:solidFill>
                            <a:srgbClr val="1F1F1F"/>
                          </a:solidFill>
                          <a:latin typeface="Calibri"/>
                        </a:rPr>
                        <a:t>Agree a way of establishing it; adjourn for it</a:t>
                      </a:r>
                    </a:p>
                  </a:txBody>
                  <a:tcPr marL="109728" marR="73152" marT="36576" marB="36576" anchor="ctr">
                    <a:solidFill>
                      <a:srgbClr val="FFFFFF"/>
                    </a:solidFill>
                  </a:tcPr>
                </a:tc>
              </a:tr>
              <a:tr h="384048">
                <a:tc>
                  <a:txBody>
                    <a:bodyPr/>
                    <a:lstStyle/>
                    <a:p>
                      <a:r>
                        <a:rPr sz="1150" b="0">
                          <a:solidFill>
                            <a:srgbClr val="1F1F1F"/>
                          </a:solidFill>
                          <a:latin typeface="Calibri"/>
                        </a:rPr>
                        <a:t>Interest</a:t>
                      </a:r>
                    </a:p>
                  </a:txBody>
                  <a:tcPr marL="109728" marR="73152" marT="36576" marB="36576" anchor="ctr">
                    <a:solidFill>
                      <a:srgbClr val="EAF1F4"/>
                    </a:solidFill>
                  </a:tcPr>
                </a:tc>
                <a:tc>
                  <a:txBody>
                    <a:bodyPr/>
                    <a:lstStyle/>
                    <a:p>
                      <a:r>
                        <a:rPr sz="1150" b="0">
                          <a:solidFill>
                            <a:srgbClr val="1F1F1F"/>
                          </a:solidFill>
                          <a:latin typeface="Calibri"/>
                        </a:rPr>
                        <a:t>The real need has not surfaced</a:t>
                      </a:r>
                    </a:p>
                  </a:txBody>
                  <a:tcPr marL="109728" marR="73152" marT="36576" marB="36576" anchor="ctr">
                    <a:solidFill>
                      <a:srgbClr val="EAF1F4"/>
                    </a:solidFill>
                  </a:tcPr>
                </a:tc>
                <a:tc>
                  <a:txBody>
                    <a:bodyPr/>
                    <a:lstStyle/>
                    <a:p>
                      <a:r>
                        <a:rPr sz="1150" b="0">
                          <a:solidFill>
                            <a:srgbClr val="1F1F1F"/>
                          </a:solidFill>
                          <a:latin typeface="Calibri"/>
                        </a:rPr>
                        <a:t>Caucus; the four questions</a:t>
                      </a:r>
                    </a:p>
                  </a:txBody>
                  <a:tcPr marL="109728" marR="73152" marT="36576" marB="36576" anchor="ctr">
                    <a:solidFill>
                      <a:srgbClr val="EAF1F4"/>
                    </a:solidFill>
                  </a:tcPr>
                </a:tc>
              </a:tr>
              <a:tr h="384048">
                <a:tc>
                  <a:txBody>
                    <a:bodyPr/>
                    <a:lstStyle/>
                    <a:p>
                      <a:r>
                        <a:rPr sz="1150" b="0">
                          <a:solidFill>
                            <a:srgbClr val="1F1F1F"/>
                          </a:solidFill>
                          <a:latin typeface="Calibri"/>
                        </a:rPr>
                        <a:t>Emotion</a:t>
                      </a:r>
                    </a:p>
                  </a:txBody>
                  <a:tcPr marL="109728" marR="73152" marT="36576" marB="36576" anchor="ctr">
                    <a:solidFill>
                      <a:srgbClr val="FFFFFF"/>
                    </a:solidFill>
                  </a:tcPr>
                </a:tc>
                <a:tc>
                  <a:txBody>
                    <a:bodyPr/>
                    <a:lstStyle/>
                    <a:p>
                      <a:r>
                        <a:rPr sz="1150" b="0">
                          <a:solidFill>
                            <a:srgbClr val="1F1F1F"/>
                          </a:solidFill>
                          <a:latin typeface="Calibri"/>
                        </a:rPr>
                        <a:t>Repetition, rising volume, personal remarks</a:t>
                      </a:r>
                    </a:p>
                  </a:txBody>
                  <a:tcPr marL="109728" marR="73152" marT="36576" marB="36576" anchor="ctr">
                    <a:solidFill>
                      <a:srgbClr val="FFFFFF"/>
                    </a:solidFill>
                  </a:tcPr>
                </a:tc>
                <a:tc>
                  <a:txBody>
                    <a:bodyPr/>
                    <a:lstStyle/>
                    <a:p>
                      <a:r>
                        <a:rPr sz="1150" b="0">
                          <a:solidFill>
                            <a:srgbClr val="1F1F1F"/>
                          </a:solidFill>
                          <a:latin typeface="Calibri"/>
                        </a:rPr>
                        <a:t>Acknowledge; break; separate</a:t>
                      </a:r>
                    </a:p>
                  </a:txBody>
                  <a:tcPr marL="109728" marR="73152" marT="36576" marB="36576" anchor="ctr">
                    <a:solidFill>
                      <a:srgbClr val="FFFFFF"/>
                    </a:solidFill>
                  </a:tcPr>
                </a:tc>
              </a:tr>
              <a:tr h="384048">
                <a:tc>
                  <a:txBody>
                    <a:bodyPr/>
                    <a:lstStyle/>
                    <a:p>
                      <a:r>
                        <a:rPr sz="1150" b="0">
                          <a:solidFill>
                            <a:srgbClr val="1F1F1F"/>
                          </a:solidFill>
                          <a:latin typeface="Calibri"/>
                        </a:rPr>
                        <a:t>Authority</a:t>
                      </a:r>
                    </a:p>
                  </a:txBody>
                  <a:tcPr marL="109728" marR="73152" marT="36576" marB="36576" anchor="ctr">
                    <a:solidFill>
                      <a:srgbClr val="EAF1F4"/>
                    </a:solidFill>
                  </a:tcPr>
                </a:tc>
                <a:tc>
                  <a:txBody>
                    <a:bodyPr/>
                    <a:lstStyle/>
                    <a:p>
                      <a:r>
                        <a:rPr sz="1150" b="0">
                          <a:solidFill>
                            <a:srgbClr val="1F1F1F"/>
                          </a:solidFill>
                          <a:latin typeface="Calibri"/>
                        </a:rPr>
                        <a:t>'I would need to check'</a:t>
                      </a:r>
                    </a:p>
                  </a:txBody>
                  <a:tcPr marL="109728" marR="73152" marT="36576" marB="36576" anchor="ctr">
                    <a:solidFill>
                      <a:srgbClr val="EAF1F4"/>
                    </a:solidFill>
                  </a:tcPr>
                </a:tc>
                <a:tc>
                  <a:txBody>
                    <a:bodyPr/>
                    <a:lstStyle/>
                    <a:p>
                      <a:r>
                        <a:rPr sz="1150" b="0">
                          <a:solidFill>
                            <a:srgbClr val="1F1F1F"/>
                          </a:solidFill>
                          <a:latin typeface="Calibri"/>
                        </a:rPr>
                        <a:t>Establish who decides; get them on the phone</a:t>
                      </a:r>
                    </a:p>
                  </a:txBody>
                  <a:tcPr marL="109728" marR="73152" marT="36576" marB="36576" anchor="ctr">
                    <a:solidFill>
                      <a:srgbClr val="EAF1F4"/>
                    </a:solidFill>
                  </a:tcPr>
                </a:tc>
              </a:tr>
              <a:tr h="384048">
                <a:tc>
                  <a:txBody>
                    <a:bodyPr/>
                    <a:lstStyle/>
                    <a:p>
                      <a:r>
                        <a:rPr sz="1150" b="0">
                          <a:solidFill>
                            <a:srgbClr val="1F1F1F"/>
                          </a:solidFill>
                          <a:latin typeface="Calibri"/>
                        </a:rPr>
                        <a:t>Alternatives</a:t>
                      </a:r>
                    </a:p>
                  </a:txBody>
                  <a:tcPr marL="109728" marR="73152" marT="36576" marB="36576" anchor="ctr">
                    <a:solidFill>
                      <a:srgbClr val="FFFFFF"/>
                    </a:solidFill>
                  </a:tcPr>
                </a:tc>
                <a:tc>
                  <a:txBody>
                    <a:bodyPr/>
                    <a:lstStyle/>
                    <a:p>
                      <a:r>
                        <a:rPr sz="1150" b="0">
                          <a:solidFill>
                            <a:srgbClr val="1F1F1F"/>
                          </a:solidFill>
                          <a:latin typeface="Calibri"/>
                        </a:rPr>
                        <a:t>A party believes they will do better elsewhere</a:t>
                      </a:r>
                    </a:p>
                  </a:txBody>
                  <a:tcPr marL="109728" marR="73152" marT="36576" marB="36576" anchor="ctr">
                    <a:solidFill>
                      <a:srgbClr val="FFFFFF"/>
                    </a:solidFill>
                  </a:tcPr>
                </a:tc>
                <a:tc>
                  <a:txBody>
                    <a:bodyPr/>
                    <a:lstStyle/>
                    <a:p>
                      <a:r>
                        <a:rPr sz="1150" b="0">
                          <a:solidFill>
                            <a:srgbClr val="1F1F1F"/>
                          </a:solidFill>
                          <a:latin typeface="Calibri"/>
                        </a:rPr>
                        <a:t>Reality test; let them test it</a:t>
                      </a:r>
                    </a:p>
                  </a:txBody>
                  <a:tcPr marL="109728" marR="73152" marT="36576" marB="36576" anchor="ctr">
                    <a:solidFill>
                      <a:srgbClr val="FFFFFF"/>
                    </a:solidFill>
                  </a:tcPr>
                </a:tc>
              </a:tr>
              <a:tr h="384048">
                <a:tc>
                  <a:txBody>
                    <a:bodyPr/>
                    <a:lstStyle/>
                    <a:p>
                      <a:r>
                        <a:rPr sz="1150" b="0">
                          <a:solidFill>
                            <a:srgbClr val="1F1F1F"/>
                          </a:solidFill>
                          <a:latin typeface="Calibri"/>
                        </a:rPr>
                        <a:t>Relationship</a:t>
                      </a:r>
                    </a:p>
                  </a:txBody>
                  <a:tcPr marL="109728" marR="73152" marT="36576" marB="36576" anchor="ctr">
                    <a:solidFill>
                      <a:srgbClr val="EAF1F4"/>
                    </a:solidFill>
                  </a:tcPr>
                </a:tc>
                <a:tc>
                  <a:txBody>
                    <a:bodyPr/>
                    <a:lstStyle/>
                    <a:p>
                      <a:r>
                        <a:rPr sz="1150" b="0">
                          <a:solidFill>
                            <a:srgbClr val="1F1F1F"/>
                          </a:solidFill>
                          <a:latin typeface="Calibri"/>
                        </a:rPr>
                        <a:t>The dispute is a proxy for something older</a:t>
                      </a:r>
                    </a:p>
                  </a:txBody>
                  <a:tcPr marL="109728" marR="73152" marT="36576" marB="36576" anchor="ctr">
                    <a:solidFill>
                      <a:srgbClr val="EAF1F4"/>
                    </a:solidFill>
                  </a:tcPr>
                </a:tc>
                <a:tc>
                  <a:txBody>
                    <a:bodyPr/>
                    <a:lstStyle/>
                    <a:p>
                      <a:r>
                        <a:rPr sz="1150" b="0">
                          <a:solidFill>
                            <a:srgbClr val="1F1F1F"/>
                          </a:solidFill>
                          <a:latin typeface="Calibri"/>
                        </a:rPr>
                        <a:t>Name it carefully; consider whether this is the right forum</a:t>
                      </a:r>
                    </a:p>
                  </a:txBody>
                  <a:tcPr marL="109728" marR="73152" marT="36576" marB="36576" anchor="ctr">
                    <a:solidFill>
                      <a:srgbClr val="EAF1F4"/>
                    </a:solidFill>
                  </a:tcPr>
                </a:tc>
              </a:tr>
              <a:tr h="384048">
                <a:tc>
                  <a:txBody>
                    <a:bodyPr/>
                    <a:lstStyle/>
                    <a:p>
                      <a:r>
                        <a:rPr sz="1150" b="0">
                          <a:solidFill>
                            <a:srgbClr val="1F1F1F"/>
                          </a:solidFill>
                          <a:latin typeface="Calibri"/>
                        </a:rPr>
                        <a:t>Face</a:t>
                      </a:r>
                    </a:p>
                  </a:txBody>
                  <a:tcPr marL="109728" marR="73152" marT="36576" marB="36576" anchor="ctr">
                    <a:solidFill>
                      <a:srgbClr val="FFFFFF"/>
                    </a:solidFill>
                  </a:tcPr>
                </a:tc>
                <a:tc>
                  <a:txBody>
                    <a:bodyPr/>
                    <a:lstStyle/>
                    <a:p>
                      <a:r>
                        <a:rPr sz="1150" b="0">
                          <a:solidFill>
                            <a:srgbClr val="1F1F1F"/>
                          </a:solidFill>
                          <a:latin typeface="Calibri"/>
                        </a:rPr>
                        <a:t>Movement would look like defeat</a:t>
                      </a:r>
                    </a:p>
                  </a:txBody>
                  <a:tcPr marL="109728" marR="73152" marT="36576" marB="36576" anchor="ctr">
                    <a:solidFill>
                      <a:srgbClr val="FFFFFF"/>
                    </a:solidFill>
                  </a:tcPr>
                </a:tc>
                <a:tc>
                  <a:txBody>
                    <a:bodyPr/>
                    <a:lstStyle/>
                    <a:p>
                      <a:r>
                        <a:rPr sz="1150" b="0">
                          <a:solidFill>
                            <a:srgbClr val="1F1F1F"/>
                          </a:solidFill>
                          <a:latin typeface="Calibri"/>
                        </a:rPr>
                        <a:t>Give cover — a reciprocal move, a reframe, a private landing</a:t>
                      </a:r>
                    </a:p>
                  </a:txBody>
                  <a:tcPr marL="109728" marR="73152" marT="36576" marB="36576" anchor="ctr">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Techniques, in order of what they cost you</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Start at the top</a:t>
            </a:r>
          </a:p>
        </p:txBody>
      </p:sp>
      <p:sp>
        <p:nvSpPr>
          <p:cNvPr id="5" name="Oval 4"/>
          <p:cNvSpPr/>
          <p:nvPr/>
        </p:nvSpPr>
        <p:spPr>
          <a:xfrm>
            <a:off x="777240" y="2011679"/>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Cambria"/>
              </a:rPr>
              <a:t>1</a:t>
            </a:r>
          </a:p>
        </p:txBody>
      </p:sp>
      <p:sp>
        <p:nvSpPr>
          <p:cNvPr id="6" name="TextBox 5"/>
          <p:cNvSpPr txBox="1"/>
          <p:nvPr/>
        </p:nvSpPr>
        <p:spPr>
          <a:xfrm>
            <a:off x="1399032" y="2020824"/>
            <a:ext cx="3108960" cy="457200"/>
          </a:xfrm>
          <a:prstGeom prst="rect">
            <a:avLst/>
          </a:prstGeom>
          <a:noFill/>
        </p:spPr>
        <p:txBody>
          <a:bodyPr wrap="square" lIns="0" rIns="0" tIns="0" bIns="0" anchor="t">
            <a:spAutoFit/>
          </a:bodyPr>
          <a:lstStyle/>
          <a:p>
            <a:pPr algn="l">
              <a:lnSpc>
                <a:spcPct val="105000"/>
              </a:lnSpc>
              <a:spcBef>
                <a:spcPts val="0"/>
              </a:spcBef>
              <a:spcAft>
                <a:spcPts val="600"/>
              </a:spcAft>
            </a:pPr>
            <a:r>
              <a:rPr sz="1400" b="1" i="0">
                <a:solidFill>
                  <a:srgbClr val="10375C"/>
                </a:solidFill>
                <a:latin typeface="Cambria"/>
              </a:rPr>
              <a:t>Summarise</a:t>
            </a:r>
          </a:p>
        </p:txBody>
      </p:sp>
      <p:sp>
        <p:nvSpPr>
          <p:cNvPr id="7" name="TextBox 6"/>
          <p:cNvSpPr txBox="1"/>
          <p:nvPr/>
        </p:nvSpPr>
        <p:spPr>
          <a:xfrm>
            <a:off x="4736592" y="2002536"/>
            <a:ext cx="6357823" cy="658368"/>
          </a:xfrm>
          <a:prstGeom prst="rect">
            <a:avLst/>
          </a:prstGeom>
          <a:noFill/>
        </p:spPr>
        <p:txBody>
          <a:bodyPr wrap="square" lIns="0" rIns="0" tIns="0" bIns="0" anchor="t">
            <a:spAutoFit/>
          </a:bodyPr>
          <a:lstStyle/>
          <a:p>
            <a:pPr algn="l">
              <a:lnSpc>
                <a:spcPct val="120000"/>
              </a:lnSpc>
              <a:spcBef>
                <a:spcPts val="0"/>
              </a:spcBef>
              <a:spcAft>
                <a:spcPts val="600"/>
              </a:spcAft>
            </a:pPr>
            <a:r>
              <a:rPr sz="1250" b="0" i="0">
                <a:solidFill>
                  <a:srgbClr val="5A5A5A"/>
                </a:solidFill>
                <a:latin typeface="Calibri"/>
              </a:rPr>
              <a:t>Everything agreed so far. Often enough on its own, and costs nothing.</a:t>
            </a:r>
          </a:p>
        </p:txBody>
      </p:sp>
      <p:sp>
        <p:nvSpPr>
          <p:cNvPr id="8" name="Rectangle 7"/>
          <p:cNvSpPr/>
          <p:nvPr/>
        </p:nvSpPr>
        <p:spPr>
          <a:xfrm>
            <a:off x="777240" y="2660903"/>
            <a:ext cx="10637215" cy="15875"/>
          </a:xfrm>
          <a:prstGeom prst="rect">
            <a:avLst/>
          </a:prstGeom>
          <a:solidFill>
            <a:srgbClr val="C9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77240" y="2798063"/>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Cambria"/>
              </a:rPr>
              <a:t>2</a:t>
            </a:r>
          </a:p>
        </p:txBody>
      </p:sp>
      <p:sp>
        <p:nvSpPr>
          <p:cNvPr id="10" name="TextBox 9"/>
          <p:cNvSpPr txBox="1"/>
          <p:nvPr/>
        </p:nvSpPr>
        <p:spPr>
          <a:xfrm>
            <a:off x="1399032" y="2807208"/>
            <a:ext cx="3108960" cy="457200"/>
          </a:xfrm>
          <a:prstGeom prst="rect">
            <a:avLst/>
          </a:prstGeom>
          <a:noFill/>
        </p:spPr>
        <p:txBody>
          <a:bodyPr wrap="square" lIns="0" rIns="0" tIns="0" bIns="0" anchor="t">
            <a:spAutoFit/>
          </a:bodyPr>
          <a:lstStyle/>
          <a:p>
            <a:pPr algn="l">
              <a:lnSpc>
                <a:spcPct val="105000"/>
              </a:lnSpc>
              <a:spcBef>
                <a:spcPts val="0"/>
              </a:spcBef>
              <a:spcAft>
                <a:spcPts val="600"/>
              </a:spcAft>
            </a:pPr>
            <a:r>
              <a:rPr sz="1400" b="1" i="0">
                <a:solidFill>
                  <a:srgbClr val="10375C"/>
                </a:solidFill>
                <a:latin typeface="Cambria"/>
              </a:rPr>
              <a:t>Change the sequence</a:t>
            </a:r>
          </a:p>
        </p:txBody>
      </p:sp>
      <p:sp>
        <p:nvSpPr>
          <p:cNvPr id="11" name="TextBox 10"/>
          <p:cNvSpPr txBox="1"/>
          <p:nvPr/>
        </p:nvSpPr>
        <p:spPr>
          <a:xfrm>
            <a:off x="4736592" y="2788920"/>
            <a:ext cx="6357823" cy="658368"/>
          </a:xfrm>
          <a:prstGeom prst="rect">
            <a:avLst/>
          </a:prstGeom>
          <a:noFill/>
        </p:spPr>
        <p:txBody>
          <a:bodyPr wrap="square" lIns="0" rIns="0" tIns="0" bIns="0" anchor="t">
            <a:spAutoFit/>
          </a:bodyPr>
          <a:lstStyle/>
          <a:p>
            <a:pPr algn="l">
              <a:lnSpc>
                <a:spcPct val="120000"/>
              </a:lnSpc>
              <a:spcBef>
                <a:spcPts val="0"/>
              </a:spcBef>
              <a:spcAft>
                <a:spcPts val="600"/>
              </a:spcAft>
            </a:pPr>
            <a:r>
              <a:rPr sz="1250" b="0" i="0">
                <a:solidFill>
                  <a:srgbClr val="5A5A5A"/>
                </a:solidFill>
                <a:latin typeface="Calibri"/>
              </a:rPr>
              <a:t>Park the hard issue. Do an easy one. Movement creates movement.</a:t>
            </a:r>
          </a:p>
        </p:txBody>
      </p:sp>
      <p:sp>
        <p:nvSpPr>
          <p:cNvPr id="12" name="Rectangle 11"/>
          <p:cNvSpPr/>
          <p:nvPr/>
        </p:nvSpPr>
        <p:spPr>
          <a:xfrm>
            <a:off x="777240" y="3447287"/>
            <a:ext cx="10637215" cy="15875"/>
          </a:xfrm>
          <a:prstGeom prst="rect">
            <a:avLst/>
          </a:prstGeom>
          <a:solidFill>
            <a:srgbClr val="C9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77240" y="3584448"/>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Cambria"/>
              </a:rPr>
              <a:t>3</a:t>
            </a:r>
          </a:p>
        </p:txBody>
      </p:sp>
      <p:sp>
        <p:nvSpPr>
          <p:cNvPr id="14" name="TextBox 13"/>
          <p:cNvSpPr txBox="1"/>
          <p:nvPr/>
        </p:nvSpPr>
        <p:spPr>
          <a:xfrm>
            <a:off x="1399032" y="3593592"/>
            <a:ext cx="3108960" cy="457200"/>
          </a:xfrm>
          <a:prstGeom prst="rect">
            <a:avLst/>
          </a:prstGeom>
          <a:noFill/>
        </p:spPr>
        <p:txBody>
          <a:bodyPr wrap="square" lIns="0" rIns="0" tIns="0" bIns="0" anchor="t">
            <a:spAutoFit/>
          </a:bodyPr>
          <a:lstStyle/>
          <a:p>
            <a:pPr algn="l">
              <a:lnSpc>
                <a:spcPct val="105000"/>
              </a:lnSpc>
              <a:spcBef>
                <a:spcPts val="0"/>
              </a:spcBef>
              <a:spcAft>
                <a:spcPts val="600"/>
              </a:spcAft>
            </a:pPr>
            <a:r>
              <a:rPr sz="1400" b="1" i="0">
                <a:solidFill>
                  <a:srgbClr val="10375C"/>
                </a:solidFill>
                <a:latin typeface="Cambria"/>
              </a:rPr>
              <a:t>Break</a:t>
            </a:r>
          </a:p>
        </p:txBody>
      </p:sp>
      <p:sp>
        <p:nvSpPr>
          <p:cNvPr id="15" name="TextBox 14"/>
          <p:cNvSpPr txBox="1"/>
          <p:nvPr/>
        </p:nvSpPr>
        <p:spPr>
          <a:xfrm>
            <a:off x="4736592" y="3575304"/>
            <a:ext cx="6357823" cy="658368"/>
          </a:xfrm>
          <a:prstGeom prst="rect">
            <a:avLst/>
          </a:prstGeom>
          <a:noFill/>
        </p:spPr>
        <p:txBody>
          <a:bodyPr wrap="square" lIns="0" rIns="0" tIns="0" bIns="0" anchor="t">
            <a:spAutoFit/>
          </a:bodyPr>
          <a:lstStyle/>
          <a:p>
            <a:pPr algn="l">
              <a:lnSpc>
                <a:spcPct val="120000"/>
              </a:lnSpc>
              <a:spcBef>
                <a:spcPts val="0"/>
              </a:spcBef>
              <a:spcAft>
                <a:spcPts val="600"/>
              </a:spcAft>
            </a:pPr>
            <a:r>
              <a:rPr sz="1250" b="0" i="0">
                <a:solidFill>
                  <a:srgbClr val="5A5A5A"/>
                </a:solidFill>
                <a:latin typeface="Calibri"/>
              </a:rPr>
              <a:t>Ten minutes changes more than an hour of pressing.</a:t>
            </a:r>
          </a:p>
        </p:txBody>
      </p:sp>
      <p:sp>
        <p:nvSpPr>
          <p:cNvPr id="16" name="Rectangle 15"/>
          <p:cNvSpPr/>
          <p:nvPr/>
        </p:nvSpPr>
        <p:spPr>
          <a:xfrm>
            <a:off x="777240" y="4233672"/>
            <a:ext cx="10637215" cy="15875"/>
          </a:xfrm>
          <a:prstGeom prst="rect">
            <a:avLst/>
          </a:prstGeom>
          <a:solidFill>
            <a:srgbClr val="C9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77240" y="4370832"/>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Cambria"/>
              </a:rPr>
              <a:t>4</a:t>
            </a:r>
          </a:p>
        </p:txBody>
      </p:sp>
      <p:sp>
        <p:nvSpPr>
          <p:cNvPr id="18" name="TextBox 17"/>
          <p:cNvSpPr txBox="1"/>
          <p:nvPr/>
        </p:nvSpPr>
        <p:spPr>
          <a:xfrm>
            <a:off x="1399032" y="4379976"/>
            <a:ext cx="3108960" cy="457200"/>
          </a:xfrm>
          <a:prstGeom prst="rect">
            <a:avLst/>
          </a:prstGeom>
          <a:noFill/>
        </p:spPr>
        <p:txBody>
          <a:bodyPr wrap="square" lIns="0" rIns="0" tIns="0" bIns="0" anchor="t">
            <a:spAutoFit/>
          </a:bodyPr>
          <a:lstStyle/>
          <a:p>
            <a:pPr algn="l">
              <a:lnSpc>
                <a:spcPct val="105000"/>
              </a:lnSpc>
              <a:spcBef>
                <a:spcPts val="0"/>
              </a:spcBef>
              <a:spcAft>
                <a:spcPts val="600"/>
              </a:spcAft>
            </a:pPr>
            <a:r>
              <a:rPr sz="1400" b="1" i="0">
                <a:solidFill>
                  <a:srgbClr val="10375C"/>
                </a:solidFill>
                <a:latin typeface="Cambria"/>
              </a:rPr>
              <a:t>Caucus</a:t>
            </a:r>
          </a:p>
        </p:txBody>
      </p:sp>
      <p:sp>
        <p:nvSpPr>
          <p:cNvPr id="19" name="TextBox 18"/>
          <p:cNvSpPr txBox="1"/>
          <p:nvPr/>
        </p:nvSpPr>
        <p:spPr>
          <a:xfrm>
            <a:off x="4736592" y="4361688"/>
            <a:ext cx="6357823" cy="658368"/>
          </a:xfrm>
          <a:prstGeom prst="rect">
            <a:avLst/>
          </a:prstGeom>
          <a:noFill/>
        </p:spPr>
        <p:txBody>
          <a:bodyPr wrap="square" lIns="0" rIns="0" tIns="0" bIns="0" anchor="t">
            <a:spAutoFit/>
          </a:bodyPr>
          <a:lstStyle/>
          <a:p>
            <a:pPr algn="l">
              <a:lnSpc>
                <a:spcPct val="120000"/>
              </a:lnSpc>
              <a:spcBef>
                <a:spcPts val="0"/>
              </a:spcBef>
              <a:spcAft>
                <a:spcPts val="600"/>
              </a:spcAft>
            </a:pPr>
            <a:r>
              <a:rPr sz="1250" b="0" i="0">
                <a:solidFill>
                  <a:srgbClr val="5A5A5A"/>
                </a:solidFill>
                <a:latin typeface="Calibri"/>
              </a:rPr>
              <a:t>Where something cannot be said in the room.</a:t>
            </a:r>
          </a:p>
        </p:txBody>
      </p:sp>
      <p:sp>
        <p:nvSpPr>
          <p:cNvPr id="20" name="Rectangle 19"/>
          <p:cNvSpPr/>
          <p:nvPr/>
        </p:nvSpPr>
        <p:spPr>
          <a:xfrm>
            <a:off x="777240" y="5020056"/>
            <a:ext cx="10637215" cy="15875"/>
          </a:xfrm>
          <a:prstGeom prst="rect">
            <a:avLst/>
          </a:prstGeom>
          <a:solidFill>
            <a:srgbClr val="C9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77240" y="5157216"/>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Cambria"/>
              </a:rPr>
              <a:t>5</a:t>
            </a:r>
          </a:p>
        </p:txBody>
      </p:sp>
      <p:sp>
        <p:nvSpPr>
          <p:cNvPr id="22" name="TextBox 21"/>
          <p:cNvSpPr txBox="1"/>
          <p:nvPr/>
        </p:nvSpPr>
        <p:spPr>
          <a:xfrm>
            <a:off x="1399032" y="5166359"/>
            <a:ext cx="3108960" cy="457200"/>
          </a:xfrm>
          <a:prstGeom prst="rect">
            <a:avLst/>
          </a:prstGeom>
          <a:noFill/>
        </p:spPr>
        <p:txBody>
          <a:bodyPr wrap="square" lIns="0" rIns="0" tIns="0" bIns="0" anchor="t">
            <a:spAutoFit/>
          </a:bodyPr>
          <a:lstStyle/>
          <a:p>
            <a:pPr algn="l">
              <a:lnSpc>
                <a:spcPct val="105000"/>
              </a:lnSpc>
              <a:spcBef>
                <a:spcPts val="0"/>
              </a:spcBef>
              <a:spcAft>
                <a:spcPts val="600"/>
              </a:spcAft>
            </a:pPr>
            <a:r>
              <a:rPr sz="1400" b="1" i="0">
                <a:solidFill>
                  <a:srgbClr val="10375C"/>
                </a:solidFill>
                <a:latin typeface="Cambria"/>
              </a:rPr>
              <a:t>The hypothetical</a:t>
            </a:r>
          </a:p>
        </p:txBody>
      </p:sp>
      <p:sp>
        <p:nvSpPr>
          <p:cNvPr id="23" name="TextBox 22"/>
          <p:cNvSpPr txBox="1"/>
          <p:nvPr/>
        </p:nvSpPr>
        <p:spPr>
          <a:xfrm>
            <a:off x="4736592" y="5148072"/>
            <a:ext cx="6357823" cy="658368"/>
          </a:xfrm>
          <a:prstGeom prst="rect">
            <a:avLst/>
          </a:prstGeom>
          <a:noFill/>
        </p:spPr>
        <p:txBody>
          <a:bodyPr wrap="square" lIns="0" rIns="0" tIns="0" bIns="0" anchor="t">
            <a:spAutoFit/>
          </a:bodyPr>
          <a:lstStyle/>
          <a:p>
            <a:pPr algn="l">
              <a:lnSpc>
                <a:spcPct val="120000"/>
              </a:lnSpc>
              <a:spcBef>
                <a:spcPts val="0"/>
              </a:spcBef>
              <a:spcAft>
                <a:spcPts val="600"/>
              </a:spcAft>
            </a:pPr>
            <a:r>
              <a:rPr sz="1250" b="0" i="0">
                <a:solidFill>
                  <a:srgbClr val="5A5A5A"/>
                </a:solidFill>
                <a:latin typeface="Calibri"/>
              </a:rPr>
              <a:t>'If X were available, would Y be possible?' — commits nobody.</a:t>
            </a:r>
          </a:p>
        </p:txBody>
      </p:sp>
      <p:sp>
        <p:nvSpPr>
          <p:cNvPr id="24" name="Rectangle 23"/>
          <p:cNvSpPr/>
          <p:nvPr/>
        </p:nvSpPr>
        <p:spPr>
          <a:xfrm>
            <a:off x="777240" y="5806440"/>
            <a:ext cx="10637215" cy="15875"/>
          </a:xfrm>
          <a:prstGeom prst="rect">
            <a:avLst/>
          </a:prstGeom>
          <a:solidFill>
            <a:srgbClr val="C9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77240" y="5943599"/>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Cambria"/>
              </a:rPr>
              <a:t>6</a:t>
            </a:r>
          </a:p>
        </p:txBody>
      </p:sp>
      <p:sp>
        <p:nvSpPr>
          <p:cNvPr id="26" name="TextBox 25"/>
          <p:cNvSpPr txBox="1"/>
          <p:nvPr/>
        </p:nvSpPr>
        <p:spPr>
          <a:xfrm>
            <a:off x="1399032" y="5952743"/>
            <a:ext cx="3108960" cy="457200"/>
          </a:xfrm>
          <a:prstGeom prst="rect">
            <a:avLst/>
          </a:prstGeom>
          <a:noFill/>
        </p:spPr>
        <p:txBody>
          <a:bodyPr wrap="square" lIns="0" rIns="0" tIns="0" bIns="0" anchor="t">
            <a:spAutoFit/>
          </a:bodyPr>
          <a:lstStyle/>
          <a:p>
            <a:pPr algn="l">
              <a:lnSpc>
                <a:spcPct val="105000"/>
              </a:lnSpc>
              <a:spcBef>
                <a:spcPts val="0"/>
              </a:spcBef>
              <a:spcAft>
                <a:spcPts val="600"/>
              </a:spcAft>
            </a:pPr>
            <a:r>
              <a:rPr sz="1400" b="1" i="0">
                <a:solidFill>
                  <a:srgbClr val="10375C"/>
                </a:solidFill>
                <a:latin typeface="Cambria"/>
              </a:rPr>
              <a:t>The mediator's proposal</a:t>
            </a:r>
          </a:p>
        </p:txBody>
      </p:sp>
      <p:sp>
        <p:nvSpPr>
          <p:cNvPr id="27" name="TextBox 26"/>
          <p:cNvSpPr txBox="1"/>
          <p:nvPr/>
        </p:nvSpPr>
        <p:spPr>
          <a:xfrm>
            <a:off x="4736592" y="5934455"/>
            <a:ext cx="6357823" cy="658368"/>
          </a:xfrm>
          <a:prstGeom prst="rect">
            <a:avLst/>
          </a:prstGeom>
          <a:noFill/>
        </p:spPr>
        <p:txBody>
          <a:bodyPr wrap="square" lIns="0" rIns="0" tIns="0" bIns="0" anchor="t">
            <a:spAutoFit/>
          </a:bodyPr>
          <a:lstStyle/>
          <a:p>
            <a:pPr algn="l">
              <a:lnSpc>
                <a:spcPct val="120000"/>
              </a:lnSpc>
              <a:spcBef>
                <a:spcPts val="0"/>
              </a:spcBef>
              <a:spcAft>
                <a:spcPts val="600"/>
              </a:spcAft>
            </a:pPr>
            <a:r>
              <a:rPr sz="1250" b="0" i="0">
                <a:solidFill>
                  <a:srgbClr val="5A5A5A"/>
                </a:solidFill>
                <a:latin typeface="Calibri"/>
              </a:rPr>
              <a:t>Last resort. It costs you your neutrality and you cannot get it back.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Difficult dynamics</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What you can and cannot do about power</a:t>
            </a:r>
          </a:p>
        </p:txBody>
      </p:sp>
      <p:sp>
        <p:nvSpPr>
          <p:cNvPr id="5" name="Rounded Rectangle 4"/>
          <p:cNvSpPr/>
          <p:nvPr/>
        </p:nvSpPr>
        <p:spPr>
          <a:xfrm>
            <a:off x="777240" y="2011680"/>
            <a:ext cx="5135727" cy="3461003"/>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43000" y="2340864"/>
            <a:ext cx="4404207" cy="457200"/>
          </a:xfrm>
          <a:prstGeom prst="rect">
            <a:avLst/>
          </a:prstGeom>
          <a:noFill/>
        </p:spPr>
        <p:txBody>
          <a:bodyPr wrap="square" lIns="0" rIns="0" tIns="0" bIns="0" anchor="t">
            <a:spAutoFit/>
          </a:bodyPr>
          <a:lstStyle/>
          <a:p>
            <a:pPr algn="l">
              <a:spcBef>
                <a:spcPts val="0"/>
              </a:spcBef>
              <a:spcAft>
                <a:spcPts val="600"/>
              </a:spcAft>
            </a:pPr>
            <a:r>
              <a:rPr sz="1650" b="1" i="0">
                <a:solidFill>
                  <a:srgbClr val="10375C"/>
                </a:solidFill>
                <a:latin typeface="Cambria"/>
              </a:rPr>
              <a:t>Power imbalance</a:t>
            </a:r>
          </a:p>
        </p:txBody>
      </p:sp>
      <p:sp>
        <p:nvSpPr>
          <p:cNvPr id="7" name="TextBox 6"/>
          <p:cNvSpPr txBox="1"/>
          <p:nvPr/>
        </p:nvSpPr>
        <p:spPr>
          <a:xfrm>
            <a:off x="1143000" y="2944368"/>
            <a:ext cx="4404207" cy="2180844"/>
          </a:xfrm>
          <a:prstGeom prst="rect">
            <a:avLst/>
          </a:prstGeom>
          <a:noFill/>
        </p:spPr>
        <p:txBody>
          <a:bodyPr wrap="square" lIns="0" rIns="0" tIns="0" bIns="0" anchor="t">
            <a:spAutoFit/>
          </a:bodyPr>
          <a:lstStyle/>
          <a:p>
            <a:pPr algn="l">
              <a:lnSpc>
                <a:spcPct val="120000"/>
              </a:lnSpc>
              <a:spcBef>
                <a:spcPts val="0"/>
              </a:spcBef>
              <a:spcAft>
                <a:spcPts val="900"/>
              </a:spcAft>
            </a:pPr>
            <a:r>
              <a:rPr sz="1250" b="0" i="0">
                <a:solidFill>
                  <a:srgbClr val="5A5A5A"/>
                </a:solidFill>
                <a:latin typeface="Calibri"/>
              </a:rPr>
              <a:t>You cannot equalise it, and you must not try.</a:t>
            </a:r>
          </a:p>
          <a:p>
            <a:pPr algn="l">
              <a:lnSpc>
                <a:spcPct val="120000"/>
              </a:lnSpc>
              <a:spcBef>
                <a:spcPts val="0"/>
              </a:spcBef>
              <a:spcAft>
                <a:spcPts val="900"/>
              </a:spcAft>
            </a:pPr>
            <a:r>
              <a:rPr sz="1250" b="0" i="0">
                <a:solidFill>
                  <a:srgbClr val="5A5A5A"/>
                </a:solidFill>
                <a:latin typeface="Calibri"/>
              </a:rPr>
              <a:t>You can ensure both are heard, allow time and breaks, check understanding.</a:t>
            </a:r>
          </a:p>
          <a:p>
            <a:pPr algn="l">
              <a:lnSpc>
                <a:spcPct val="120000"/>
              </a:lnSpc>
              <a:spcBef>
                <a:spcPts val="0"/>
              </a:spcBef>
              <a:spcAft>
                <a:spcPts val="900"/>
              </a:spcAft>
            </a:pPr>
            <a:r>
              <a:rPr sz="1250" b="0" i="0">
                <a:solidFill>
                  <a:srgbClr val="5A5A5A"/>
                </a:solidFill>
                <a:latin typeface="Calibri"/>
              </a:rPr>
              <a:t>You can terminate if a party cannot make a free decision.</a:t>
            </a:r>
          </a:p>
          <a:p>
            <a:pPr algn="l">
              <a:lnSpc>
                <a:spcPct val="120000"/>
              </a:lnSpc>
              <a:spcBef>
                <a:spcPts val="0"/>
              </a:spcBef>
              <a:spcAft>
                <a:spcPts val="900"/>
              </a:spcAft>
            </a:pPr>
            <a:r>
              <a:rPr sz="1250" b="0" i="0">
                <a:solidFill>
                  <a:srgbClr val="5A5A5A"/>
                </a:solidFill>
                <a:latin typeface="Calibri"/>
              </a:rPr>
              <a:t>You cannot advise the weaker party.</a:t>
            </a:r>
          </a:p>
        </p:txBody>
      </p:sp>
      <p:sp>
        <p:nvSpPr>
          <p:cNvPr id="8" name="Rounded Rectangle 7"/>
          <p:cNvSpPr/>
          <p:nvPr/>
        </p:nvSpPr>
        <p:spPr>
          <a:xfrm>
            <a:off x="6278727" y="2011680"/>
            <a:ext cx="5135727" cy="3461003"/>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44487" y="2340864"/>
            <a:ext cx="4404207" cy="457200"/>
          </a:xfrm>
          <a:prstGeom prst="rect">
            <a:avLst/>
          </a:prstGeom>
          <a:noFill/>
        </p:spPr>
        <p:txBody>
          <a:bodyPr wrap="square" lIns="0" rIns="0" tIns="0" bIns="0" anchor="t">
            <a:spAutoFit/>
          </a:bodyPr>
          <a:lstStyle/>
          <a:p>
            <a:pPr algn="l">
              <a:spcBef>
                <a:spcPts val="0"/>
              </a:spcBef>
              <a:spcAft>
                <a:spcPts val="600"/>
              </a:spcAft>
            </a:pPr>
            <a:r>
              <a:rPr sz="1650" b="1" i="0">
                <a:solidFill>
                  <a:srgbClr val="10375C"/>
                </a:solidFill>
                <a:latin typeface="Cambria"/>
              </a:rPr>
              <a:t>Other situations</a:t>
            </a:r>
          </a:p>
        </p:txBody>
      </p:sp>
      <p:sp>
        <p:nvSpPr>
          <p:cNvPr id="10" name="TextBox 9"/>
          <p:cNvSpPr txBox="1"/>
          <p:nvPr/>
        </p:nvSpPr>
        <p:spPr>
          <a:xfrm>
            <a:off x="6644487" y="2944368"/>
            <a:ext cx="4404207" cy="2180844"/>
          </a:xfrm>
          <a:prstGeom prst="rect">
            <a:avLst/>
          </a:prstGeom>
          <a:noFill/>
        </p:spPr>
        <p:txBody>
          <a:bodyPr wrap="square" lIns="0" rIns="0" tIns="0" bIns="0" anchor="t">
            <a:spAutoFit/>
          </a:bodyPr>
          <a:lstStyle/>
          <a:p>
            <a:pPr algn="l">
              <a:lnSpc>
                <a:spcPct val="120000"/>
              </a:lnSpc>
              <a:spcBef>
                <a:spcPts val="0"/>
              </a:spcBef>
              <a:spcAft>
                <a:spcPts val="900"/>
              </a:spcAft>
            </a:pPr>
            <a:r>
              <a:rPr sz="1250" b="0" i="0">
                <a:solidFill>
                  <a:srgbClr val="5A5A5A"/>
                </a:solidFill>
                <a:latin typeface="Calibri"/>
              </a:rPr>
              <a:t>Unrepresented party — do not advise. Slow down. Ensure they know they may take advice before signing.</a:t>
            </a:r>
          </a:p>
          <a:p>
            <a:pPr algn="l">
              <a:lnSpc>
                <a:spcPct val="120000"/>
              </a:lnSpc>
              <a:spcBef>
                <a:spcPts val="0"/>
              </a:spcBef>
              <a:spcAft>
                <a:spcPts val="900"/>
              </a:spcAft>
            </a:pPr>
            <a:r>
              <a:rPr sz="1250" b="0" i="0">
                <a:solidFill>
                  <a:srgbClr val="5A5A5A"/>
                </a:solidFill>
                <a:latin typeface="Calibri"/>
              </a:rPr>
              <a:t>No authority in the room — establish it immediately or adjourn.</a:t>
            </a:r>
          </a:p>
          <a:p>
            <a:pPr algn="l">
              <a:lnSpc>
                <a:spcPct val="120000"/>
              </a:lnSpc>
              <a:spcBef>
                <a:spcPts val="0"/>
              </a:spcBef>
              <a:spcAft>
                <a:spcPts val="900"/>
              </a:spcAft>
            </a:pPr>
            <a:r>
              <a:rPr sz="1250" b="0" i="0">
                <a:solidFill>
                  <a:srgbClr val="5A5A5A"/>
                </a:solidFill>
                <a:latin typeface="Calibri"/>
              </a:rPr>
              <a:t>Aggression — do not match it. Name the process, not the person.</a:t>
            </a:r>
          </a:p>
          <a:p>
            <a:pPr algn="l">
              <a:lnSpc>
                <a:spcPct val="120000"/>
              </a:lnSpc>
              <a:spcBef>
                <a:spcPts val="0"/>
              </a:spcBef>
              <a:spcAft>
                <a:spcPts val="900"/>
              </a:spcAft>
            </a:pPr>
            <a:r>
              <a:rPr sz="1250" b="0" i="0">
                <a:solidFill>
                  <a:srgbClr val="5A5A5A"/>
                </a:solidFill>
                <a:latin typeface="Calibri"/>
              </a:rPr>
              <a:t>Distress — stop, break, offer a private session. Do not press 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When mediation is not appropriate</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Recognising this and stopping is a professional success</a:t>
            </a:r>
          </a:p>
        </p:txBody>
      </p:sp>
      <p:sp>
        <p:nvSpPr>
          <p:cNvPr id="5" name="Rounded Rectangle 4"/>
          <p:cNvSpPr/>
          <p:nvPr/>
        </p:nvSpPr>
        <p:spPr>
          <a:xfrm>
            <a:off x="777240" y="2194560"/>
            <a:ext cx="3350666" cy="2391156"/>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069848" y="2578608"/>
            <a:ext cx="2765450" cy="548640"/>
          </a:xfrm>
          <a:prstGeom prst="rect">
            <a:avLst/>
          </a:prstGeom>
          <a:noFill/>
        </p:spPr>
        <p:txBody>
          <a:bodyPr wrap="square" lIns="0" rIns="0" tIns="0" bIns="0" anchor="t">
            <a:spAutoFit/>
          </a:bodyPr>
          <a:lstStyle/>
          <a:p>
            <a:pPr algn="l">
              <a:lnSpc>
                <a:spcPct val="105000"/>
              </a:lnSpc>
              <a:spcBef>
                <a:spcPts val="0"/>
              </a:spcBef>
              <a:spcAft>
                <a:spcPts val="700"/>
              </a:spcAft>
            </a:pPr>
            <a:r>
              <a:rPr sz="1500" b="1" i="0">
                <a:solidFill>
                  <a:srgbClr val="10375C"/>
                </a:solidFill>
                <a:latin typeface="Cambria"/>
              </a:rPr>
              <a:t>Safety</a:t>
            </a:r>
          </a:p>
        </p:txBody>
      </p:sp>
      <p:sp>
        <p:nvSpPr>
          <p:cNvPr id="7" name="TextBox 6"/>
          <p:cNvSpPr txBox="1"/>
          <p:nvPr/>
        </p:nvSpPr>
        <p:spPr>
          <a:xfrm>
            <a:off x="1069848" y="3236976"/>
            <a:ext cx="2765450" cy="1092707"/>
          </a:xfrm>
          <a:prstGeom prst="rect">
            <a:avLst/>
          </a:prstGeom>
          <a:noFill/>
        </p:spPr>
        <p:txBody>
          <a:bodyPr wrap="square" lIns="0" rIns="0" tIns="0" bIns="0" anchor="t">
            <a:spAutoFit/>
          </a:bodyPr>
          <a:lstStyle/>
          <a:p>
            <a:pPr algn="l">
              <a:lnSpc>
                <a:spcPct val="118000"/>
              </a:lnSpc>
              <a:spcBef>
                <a:spcPts val="0"/>
              </a:spcBef>
              <a:spcAft>
                <a:spcPts val="600"/>
              </a:spcAft>
            </a:pPr>
            <a:r>
              <a:rPr sz="1150" b="0" i="0">
                <a:solidFill>
                  <a:srgbClr val="5A5A5A"/>
                </a:solidFill>
                <a:latin typeface="Calibri"/>
              </a:rPr>
              <a:t>Allegations of violence or coercion.</a:t>
            </a:r>
          </a:p>
          <a:p>
            <a:pPr algn="l">
              <a:lnSpc>
                <a:spcPct val="118000"/>
              </a:lnSpc>
              <a:spcBef>
                <a:spcPts val="0"/>
              </a:spcBef>
              <a:spcAft>
                <a:spcPts val="600"/>
              </a:spcAft>
            </a:pPr>
            <a:r>
              <a:rPr sz="1150" b="0" i="0">
                <a:solidFill>
                  <a:srgbClr val="5A5A5A"/>
                </a:solidFill>
                <a:latin typeface="Calibri"/>
              </a:rPr>
              <a:t>A party who cannot participate safely.</a:t>
            </a:r>
          </a:p>
          <a:p>
            <a:pPr algn="l">
              <a:lnSpc>
                <a:spcPct val="118000"/>
              </a:lnSpc>
              <a:spcBef>
                <a:spcPts val="0"/>
              </a:spcBef>
              <a:spcAft>
                <a:spcPts val="600"/>
              </a:spcAft>
            </a:pPr>
            <a:r>
              <a:rPr sz="1150" b="0" i="0">
                <a:solidFill>
                  <a:srgbClr val="5A5A5A"/>
                </a:solidFill>
                <a:latin typeface="Calibri"/>
              </a:rPr>
              <a:t>Any concern about capacity.</a:t>
            </a:r>
          </a:p>
        </p:txBody>
      </p:sp>
      <p:sp>
        <p:nvSpPr>
          <p:cNvPr id="8" name="Rounded Rectangle 7"/>
          <p:cNvSpPr/>
          <p:nvPr/>
        </p:nvSpPr>
        <p:spPr>
          <a:xfrm>
            <a:off x="4420514" y="2194560"/>
            <a:ext cx="3350666" cy="2391156"/>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713122" y="2578608"/>
            <a:ext cx="2765450" cy="548640"/>
          </a:xfrm>
          <a:prstGeom prst="rect">
            <a:avLst/>
          </a:prstGeom>
          <a:noFill/>
        </p:spPr>
        <p:txBody>
          <a:bodyPr wrap="square" lIns="0" rIns="0" tIns="0" bIns="0" anchor="t">
            <a:spAutoFit/>
          </a:bodyPr>
          <a:lstStyle/>
          <a:p>
            <a:pPr algn="l">
              <a:lnSpc>
                <a:spcPct val="105000"/>
              </a:lnSpc>
              <a:spcBef>
                <a:spcPts val="0"/>
              </a:spcBef>
              <a:spcAft>
                <a:spcPts val="700"/>
              </a:spcAft>
            </a:pPr>
            <a:r>
              <a:rPr sz="1500" b="1" i="0">
                <a:solidFill>
                  <a:srgbClr val="10375C"/>
                </a:solidFill>
                <a:latin typeface="Cambria"/>
              </a:rPr>
              <a:t>Purpose</a:t>
            </a:r>
          </a:p>
        </p:txBody>
      </p:sp>
      <p:sp>
        <p:nvSpPr>
          <p:cNvPr id="10" name="TextBox 9"/>
          <p:cNvSpPr txBox="1"/>
          <p:nvPr/>
        </p:nvSpPr>
        <p:spPr>
          <a:xfrm>
            <a:off x="4713122" y="3236976"/>
            <a:ext cx="2765450" cy="1092707"/>
          </a:xfrm>
          <a:prstGeom prst="rect">
            <a:avLst/>
          </a:prstGeom>
          <a:noFill/>
        </p:spPr>
        <p:txBody>
          <a:bodyPr wrap="square" lIns="0" rIns="0" tIns="0" bIns="0" anchor="t">
            <a:spAutoFit/>
          </a:bodyPr>
          <a:lstStyle/>
          <a:p>
            <a:pPr algn="l">
              <a:lnSpc>
                <a:spcPct val="118000"/>
              </a:lnSpc>
              <a:spcBef>
                <a:spcPts val="0"/>
              </a:spcBef>
              <a:spcAft>
                <a:spcPts val="600"/>
              </a:spcAft>
            </a:pPr>
            <a:r>
              <a:rPr sz="1150" b="0" i="0">
                <a:solidFill>
                  <a:srgbClr val="5A5A5A"/>
                </a:solidFill>
                <a:latin typeface="Calibri"/>
              </a:rPr>
              <a:t>A matter requiring a public precedent.</a:t>
            </a:r>
          </a:p>
          <a:p>
            <a:pPr algn="l">
              <a:lnSpc>
                <a:spcPct val="118000"/>
              </a:lnSpc>
              <a:spcBef>
                <a:spcPts val="0"/>
              </a:spcBef>
              <a:spcAft>
                <a:spcPts val="600"/>
              </a:spcAft>
            </a:pPr>
            <a:r>
              <a:rPr sz="1150" b="0" i="0">
                <a:solidFill>
                  <a:srgbClr val="5A5A5A"/>
                </a:solidFill>
                <a:latin typeface="Calibri"/>
              </a:rPr>
              <a:t>A party using the process only to obtain information.</a:t>
            </a:r>
          </a:p>
          <a:p>
            <a:pPr algn="l">
              <a:lnSpc>
                <a:spcPct val="118000"/>
              </a:lnSpc>
              <a:spcBef>
                <a:spcPts val="0"/>
              </a:spcBef>
              <a:spcAft>
                <a:spcPts val="600"/>
              </a:spcAft>
            </a:pPr>
            <a:r>
              <a:rPr sz="1150" b="0" i="0">
                <a:solidFill>
                  <a:srgbClr val="5A5A5A"/>
                </a:solidFill>
                <a:latin typeface="Calibri"/>
              </a:rPr>
              <a:t>A criminal allegation at the centre of the dispute.</a:t>
            </a:r>
          </a:p>
        </p:txBody>
      </p:sp>
      <p:sp>
        <p:nvSpPr>
          <p:cNvPr id="11" name="Rounded Rectangle 10"/>
          <p:cNvSpPr/>
          <p:nvPr/>
        </p:nvSpPr>
        <p:spPr>
          <a:xfrm>
            <a:off x="8063788" y="2194560"/>
            <a:ext cx="3350666" cy="2391156"/>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356396" y="2578608"/>
            <a:ext cx="2765450" cy="548640"/>
          </a:xfrm>
          <a:prstGeom prst="rect">
            <a:avLst/>
          </a:prstGeom>
          <a:noFill/>
        </p:spPr>
        <p:txBody>
          <a:bodyPr wrap="square" lIns="0" rIns="0" tIns="0" bIns="0" anchor="t">
            <a:spAutoFit/>
          </a:bodyPr>
          <a:lstStyle/>
          <a:p>
            <a:pPr algn="l">
              <a:lnSpc>
                <a:spcPct val="105000"/>
              </a:lnSpc>
              <a:spcBef>
                <a:spcPts val="0"/>
              </a:spcBef>
              <a:spcAft>
                <a:spcPts val="700"/>
              </a:spcAft>
            </a:pPr>
            <a:r>
              <a:rPr sz="1500" b="1" i="0">
                <a:solidFill>
                  <a:srgbClr val="10375C"/>
                </a:solidFill>
                <a:latin typeface="Cambria"/>
              </a:rPr>
              <a:t>Process</a:t>
            </a:r>
          </a:p>
        </p:txBody>
      </p:sp>
      <p:sp>
        <p:nvSpPr>
          <p:cNvPr id="13" name="TextBox 12"/>
          <p:cNvSpPr txBox="1"/>
          <p:nvPr/>
        </p:nvSpPr>
        <p:spPr>
          <a:xfrm>
            <a:off x="8356396" y="3236976"/>
            <a:ext cx="2765450" cy="1092707"/>
          </a:xfrm>
          <a:prstGeom prst="rect">
            <a:avLst/>
          </a:prstGeom>
          <a:noFill/>
        </p:spPr>
        <p:txBody>
          <a:bodyPr wrap="square" lIns="0" rIns="0" tIns="0" bIns="0" anchor="t">
            <a:spAutoFit/>
          </a:bodyPr>
          <a:lstStyle/>
          <a:p>
            <a:pPr algn="l">
              <a:lnSpc>
                <a:spcPct val="118000"/>
              </a:lnSpc>
              <a:spcBef>
                <a:spcPts val="0"/>
              </a:spcBef>
              <a:spcAft>
                <a:spcPts val="600"/>
              </a:spcAft>
            </a:pPr>
            <a:r>
              <a:rPr sz="1150" b="0" i="0">
                <a:solidFill>
                  <a:srgbClr val="5A5A5A"/>
                </a:solidFill>
                <a:latin typeface="Calibri"/>
              </a:rPr>
              <a:t>No authority present and none obtainable.</a:t>
            </a:r>
          </a:p>
          <a:p>
            <a:pPr algn="l">
              <a:lnSpc>
                <a:spcPct val="118000"/>
              </a:lnSpc>
              <a:spcBef>
                <a:spcPts val="0"/>
              </a:spcBef>
              <a:spcAft>
                <a:spcPts val="600"/>
              </a:spcAft>
            </a:pPr>
            <a:r>
              <a:rPr sz="1150" b="0" i="0">
                <a:solidFill>
                  <a:srgbClr val="5A5A5A"/>
                </a:solidFill>
                <a:latin typeface="Calibri"/>
              </a:rPr>
              <a:t>A party under duress.</a:t>
            </a:r>
          </a:p>
          <a:p>
            <a:pPr algn="l">
              <a:lnSpc>
                <a:spcPct val="118000"/>
              </a:lnSpc>
              <a:spcBef>
                <a:spcPts val="0"/>
              </a:spcBef>
              <a:spcAft>
                <a:spcPts val="600"/>
              </a:spcAft>
            </a:pPr>
            <a:r>
              <a:rPr sz="1150" b="0" i="0">
                <a:solidFill>
                  <a:srgbClr val="5A5A5A"/>
                </a:solidFill>
                <a:latin typeface="Calibri"/>
              </a:rPr>
              <a:t>An undisclosed conflict you cannot cure.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Ethical dilemmas</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Work these in groups — there is no slide that answers them</a:t>
            </a:r>
          </a:p>
        </p:txBody>
      </p:sp>
      <p:sp>
        <p:nvSpPr>
          <p:cNvPr id="5" name="Oval 4"/>
          <p:cNvSpPr/>
          <p:nvPr/>
        </p:nvSpPr>
        <p:spPr>
          <a:xfrm>
            <a:off x="777240" y="2148839"/>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Cambria"/>
              </a:rPr>
              <a:t>1</a:t>
            </a:r>
          </a:p>
        </p:txBody>
      </p:sp>
      <p:sp>
        <p:nvSpPr>
          <p:cNvPr id="6" name="TextBox 5"/>
          <p:cNvSpPr txBox="1"/>
          <p:nvPr/>
        </p:nvSpPr>
        <p:spPr>
          <a:xfrm>
            <a:off x="1399032" y="2157984"/>
            <a:ext cx="2926080" cy="457200"/>
          </a:xfrm>
          <a:prstGeom prst="rect">
            <a:avLst/>
          </a:prstGeom>
          <a:noFill/>
        </p:spPr>
        <p:txBody>
          <a:bodyPr wrap="square" lIns="0" rIns="0" tIns="0" bIns="0" anchor="t">
            <a:spAutoFit/>
          </a:bodyPr>
          <a:lstStyle/>
          <a:p>
            <a:pPr algn="l">
              <a:lnSpc>
                <a:spcPct val="105000"/>
              </a:lnSpc>
              <a:spcBef>
                <a:spcPts val="0"/>
              </a:spcBef>
              <a:spcAft>
                <a:spcPts val="600"/>
              </a:spcAft>
            </a:pPr>
            <a:r>
              <a:rPr sz="1400" b="1" i="0">
                <a:solidFill>
                  <a:srgbClr val="10375C"/>
                </a:solidFill>
                <a:latin typeface="Cambria"/>
              </a:rPr>
              <a:t>The sham settlement</a:t>
            </a:r>
          </a:p>
        </p:txBody>
      </p:sp>
      <p:sp>
        <p:nvSpPr>
          <p:cNvPr id="7" name="TextBox 6"/>
          <p:cNvSpPr txBox="1"/>
          <p:nvPr/>
        </p:nvSpPr>
        <p:spPr>
          <a:xfrm>
            <a:off x="4553712" y="2139696"/>
            <a:ext cx="6540703" cy="658368"/>
          </a:xfrm>
          <a:prstGeom prst="rect">
            <a:avLst/>
          </a:prstGeom>
          <a:noFill/>
        </p:spPr>
        <p:txBody>
          <a:bodyPr wrap="square" lIns="0" rIns="0" tIns="0" bIns="0" anchor="t">
            <a:spAutoFit/>
          </a:bodyPr>
          <a:lstStyle/>
          <a:p>
            <a:pPr algn="l">
              <a:lnSpc>
                <a:spcPct val="120000"/>
              </a:lnSpc>
              <a:spcBef>
                <a:spcPts val="0"/>
              </a:spcBef>
              <a:spcAft>
                <a:spcPts val="600"/>
              </a:spcAft>
            </a:pPr>
            <a:r>
              <a:rPr sz="1250" b="0" i="0">
                <a:solidFill>
                  <a:srgbClr val="5A5A5A"/>
                </a:solidFill>
                <a:latin typeface="Calibri"/>
              </a:rPr>
              <a:t>A party tells you in caucus they have no intention of performing. What do you do?</a:t>
            </a:r>
          </a:p>
        </p:txBody>
      </p:sp>
      <p:sp>
        <p:nvSpPr>
          <p:cNvPr id="8" name="Rectangle 7"/>
          <p:cNvSpPr/>
          <p:nvPr/>
        </p:nvSpPr>
        <p:spPr>
          <a:xfrm>
            <a:off x="777240" y="2880360"/>
            <a:ext cx="10637215" cy="15875"/>
          </a:xfrm>
          <a:prstGeom prst="rect">
            <a:avLst/>
          </a:prstGeom>
          <a:solidFill>
            <a:srgbClr val="C9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77240" y="3017520"/>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Cambria"/>
              </a:rPr>
              <a:t>2</a:t>
            </a:r>
          </a:p>
        </p:txBody>
      </p:sp>
      <p:sp>
        <p:nvSpPr>
          <p:cNvPr id="10" name="TextBox 9"/>
          <p:cNvSpPr txBox="1"/>
          <p:nvPr/>
        </p:nvSpPr>
        <p:spPr>
          <a:xfrm>
            <a:off x="1399032" y="3026664"/>
            <a:ext cx="2926080" cy="457200"/>
          </a:xfrm>
          <a:prstGeom prst="rect">
            <a:avLst/>
          </a:prstGeom>
          <a:noFill/>
        </p:spPr>
        <p:txBody>
          <a:bodyPr wrap="square" lIns="0" rIns="0" tIns="0" bIns="0" anchor="t">
            <a:spAutoFit/>
          </a:bodyPr>
          <a:lstStyle/>
          <a:p>
            <a:pPr algn="l">
              <a:lnSpc>
                <a:spcPct val="105000"/>
              </a:lnSpc>
              <a:spcBef>
                <a:spcPts val="0"/>
              </a:spcBef>
              <a:spcAft>
                <a:spcPts val="600"/>
              </a:spcAft>
            </a:pPr>
            <a:r>
              <a:rPr sz="1400" b="1" i="0">
                <a:solidFill>
                  <a:srgbClr val="10375C"/>
                </a:solidFill>
                <a:latin typeface="Cambria"/>
              </a:rPr>
              <a:t>The unfair bargain</a:t>
            </a:r>
          </a:p>
        </p:txBody>
      </p:sp>
      <p:sp>
        <p:nvSpPr>
          <p:cNvPr id="11" name="TextBox 10"/>
          <p:cNvSpPr txBox="1"/>
          <p:nvPr/>
        </p:nvSpPr>
        <p:spPr>
          <a:xfrm>
            <a:off x="4553712" y="3008376"/>
            <a:ext cx="6540703" cy="658368"/>
          </a:xfrm>
          <a:prstGeom prst="rect">
            <a:avLst/>
          </a:prstGeom>
          <a:noFill/>
        </p:spPr>
        <p:txBody>
          <a:bodyPr wrap="square" lIns="0" rIns="0" tIns="0" bIns="0" anchor="t">
            <a:spAutoFit/>
          </a:bodyPr>
          <a:lstStyle/>
          <a:p>
            <a:pPr algn="l">
              <a:lnSpc>
                <a:spcPct val="120000"/>
              </a:lnSpc>
              <a:spcBef>
                <a:spcPts val="0"/>
              </a:spcBef>
              <a:spcAft>
                <a:spcPts val="600"/>
              </a:spcAft>
            </a:pPr>
            <a:r>
              <a:rPr sz="1250" b="0" i="0">
                <a:solidFill>
                  <a:srgbClr val="5A5A5A"/>
                </a:solidFill>
                <a:latin typeface="Calibri"/>
              </a:rPr>
              <a:t>An unrepresented party is about to accept far less than you think they should. What do you do?</a:t>
            </a:r>
          </a:p>
        </p:txBody>
      </p:sp>
      <p:sp>
        <p:nvSpPr>
          <p:cNvPr id="12" name="Rectangle 11"/>
          <p:cNvSpPr/>
          <p:nvPr/>
        </p:nvSpPr>
        <p:spPr>
          <a:xfrm>
            <a:off x="777240" y="3749040"/>
            <a:ext cx="10637215" cy="15875"/>
          </a:xfrm>
          <a:prstGeom prst="rect">
            <a:avLst/>
          </a:prstGeom>
          <a:solidFill>
            <a:srgbClr val="C9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77240" y="3886199"/>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Cambria"/>
              </a:rPr>
              <a:t>3</a:t>
            </a:r>
          </a:p>
        </p:txBody>
      </p:sp>
      <p:sp>
        <p:nvSpPr>
          <p:cNvPr id="14" name="TextBox 13"/>
          <p:cNvSpPr txBox="1"/>
          <p:nvPr/>
        </p:nvSpPr>
        <p:spPr>
          <a:xfrm>
            <a:off x="1399032" y="3895343"/>
            <a:ext cx="2926080" cy="457200"/>
          </a:xfrm>
          <a:prstGeom prst="rect">
            <a:avLst/>
          </a:prstGeom>
          <a:noFill/>
        </p:spPr>
        <p:txBody>
          <a:bodyPr wrap="square" lIns="0" rIns="0" tIns="0" bIns="0" anchor="t">
            <a:spAutoFit/>
          </a:bodyPr>
          <a:lstStyle/>
          <a:p>
            <a:pPr algn="l">
              <a:lnSpc>
                <a:spcPct val="105000"/>
              </a:lnSpc>
              <a:spcBef>
                <a:spcPts val="0"/>
              </a:spcBef>
              <a:spcAft>
                <a:spcPts val="600"/>
              </a:spcAft>
            </a:pPr>
            <a:r>
              <a:rPr sz="1400" b="1" i="0">
                <a:solidFill>
                  <a:srgbClr val="10375C"/>
                </a:solidFill>
                <a:latin typeface="Cambria"/>
              </a:rPr>
              <a:t>The illegality</a:t>
            </a:r>
          </a:p>
        </p:txBody>
      </p:sp>
      <p:sp>
        <p:nvSpPr>
          <p:cNvPr id="15" name="TextBox 14"/>
          <p:cNvSpPr txBox="1"/>
          <p:nvPr/>
        </p:nvSpPr>
        <p:spPr>
          <a:xfrm>
            <a:off x="4553712" y="3877055"/>
            <a:ext cx="6540703" cy="658368"/>
          </a:xfrm>
          <a:prstGeom prst="rect">
            <a:avLst/>
          </a:prstGeom>
          <a:noFill/>
        </p:spPr>
        <p:txBody>
          <a:bodyPr wrap="square" lIns="0" rIns="0" tIns="0" bIns="0" anchor="t">
            <a:spAutoFit/>
          </a:bodyPr>
          <a:lstStyle/>
          <a:p>
            <a:pPr algn="l">
              <a:lnSpc>
                <a:spcPct val="120000"/>
              </a:lnSpc>
              <a:spcBef>
                <a:spcPts val="0"/>
              </a:spcBef>
              <a:spcAft>
                <a:spcPts val="600"/>
              </a:spcAft>
            </a:pPr>
            <a:r>
              <a:rPr sz="1250" b="0" i="0">
                <a:solidFill>
                  <a:srgbClr val="5A5A5A"/>
                </a:solidFill>
                <a:latin typeface="Calibri"/>
              </a:rPr>
              <a:t>A party discloses an intention to do something unlawful. Does confidentiality hold?</a:t>
            </a:r>
          </a:p>
        </p:txBody>
      </p:sp>
      <p:sp>
        <p:nvSpPr>
          <p:cNvPr id="16" name="Rectangle 15"/>
          <p:cNvSpPr/>
          <p:nvPr/>
        </p:nvSpPr>
        <p:spPr>
          <a:xfrm>
            <a:off x="777240" y="4617720"/>
            <a:ext cx="10637215" cy="15875"/>
          </a:xfrm>
          <a:prstGeom prst="rect">
            <a:avLst/>
          </a:prstGeom>
          <a:solidFill>
            <a:srgbClr val="C9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77240" y="4754879"/>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Cambria"/>
              </a:rPr>
              <a:t>4</a:t>
            </a:r>
          </a:p>
        </p:txBody>
      </p:sp>
      <p:sp>
        <p:nvSpPr>
          <p:cNvPr id="18" name="TextBox 17"/>
          <p:cNvSpPr txBox="1"/>
          <p:nvPr/>
        </p:nvSpPr>
        <p:spPr>
          <a:xfrm>
            <a:off x="1399032" y="4764023"/>
            <a:ext cx="2926080" cy="457200"/>
          </a:xfrm>
          <a:prstGeom prst="rect">
            <a:avLst/>
          </a:prstGeom>
          <a:noFill/>
        </p:spPr>
        <p:txBody>
          <a:bodyPr wrap="square" lIns="0" rIns="0" tIns="0" bIns="0" anchor="t">
            <a:spAutoFit/>
          </a:bodyPr>
          <a:lstStyle/>
          <a:p>
            <a:pPr algn="l">
              <a:lnSpc>
                <a:spcPct val="105000"/>
              </a:lnSpc>
              <a:spcBef>
                <a:spcPts val="0"/>
              </a:spcBef>
              <a:spcAft>
                <a:spcPts val="600"/>
              </a:spcAft>
            </a:pPr>
            <a:r>
              <a:rPr sz="1400" b="1" i="0">
                <a:solidFill>
                  <a:srgbClr val="10375C"/>
                </a:solidFill>
                <a:latin typeface="Cambria"/>
              </a:rPr>
              <a:t>The pressure</a:t>
            </a:r>
          </a:p>
        </p:txBody>
      </p:sp>
      <p:sp>
        <p:nvSpPr>
          <p:cNvPr id="19" name="TextBox 18"/>
          <p:cNvSpPr txBox="1"/>
          <p:nvPr/>
        </p:nvSpPr>
        <p:spPr>
          <a:xfrm>
            <a:off x="4553712" y="4745736"/>
            <a:ext cx="6540703" cy="658368"/>
          </a:xfrm>
          <a:prstGeom prst="rect">
            <a:avLst/>
          </a:prstGeom>
          <a:noFill/>
        </p:spPr>
        <p:txBody>
          <a:bodyPr wrap="square" lIns="0" rIns="0" tIns="0" bIns="0" anchor="t">
            <a:spAutoFit/>
          </a:bodyPr>
          <a:lstStyle/>
          <a:p>
            <a:pPr algn="l">
              <a:lnSpc>
                <a:spcPct val="120000"/>
              </a:lnSpc>
              <a:spcBef>
                <a:spcPts val="0"/>
              </a:spcBef>
              <a:spcAft>
                <a:spcPts val="600"/>
              </a:spcAft>
            </a:pPr>
            <a:r>
              <a:rPr sz="1250" b="0" i="0">
                <a:solidFill>
                  <a:srgbClr val="5A5A5A"/>
                </a:solidFill>
                <a:latin typeface="Calibri"/>
              </a:rPr>
              <a:t>The referrer calls you at lunch and asks you to 'get this done today'. What do you say?</a:t>
            </a:r>
          </a:p>
        </p:txBody>
      </p:sp>
      <p:sp>
        <p:nvSpPr>
          <p:cNvPr id="20" name="Rectangle 19"/>
          <p:cNvSpPr/>
          <p:nvPr/>
        </p:nvSpPr>
        <p:spPr>
          <a:xfrm>
            <a:off x="777240" y="5486400"/>
            <a:ext cx="10637215" cy="15875"/>
          </a:xfrm>
          <a:prstGeom prst="rect">
            <a:avLst/>
          </a:prstGeom>
          <a:solidFill>
            <a:srgbClr val="C9D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77240" y="5623559"/>
            <a:ext cx="420624" cy="420624"/>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300" b="1">
                <a:solidFill>
                  <a:srgbClr val="FFFFFF"/>
                </a:solidFill>
                <a:latin typeface="Cambria"/>
              </a:rPr>
              <a:t>5</a:t>
            </a:r>
          </a:p>
        </p:txBody>
      </p:sp>
      <p:sp>
        <p:nvSpPr>
          <p:cNvPr id="22" name="TextBox 21"/>
          <p:cNvSpPr txBox="1"/>
          <p:nvPr/>
        </p:nvSpPr>
        <p:spPr>
          <a:xfrm>
            <a:off x="1399032" y="5632703"/>
            <a:ext cx="2926080" cy="457200"/>
          </a:xfrm>
          <a:prstGeom prst="rect">
            <a:avLst/>
          </a:prstGeom>
          <a:noFill/>
        </p:spPr>
        <p:txBody>
          <a:bodyPr wrap="square" lIns="0" rIns="0" tIns="0" bIns="0" anchor="t">
            <a:spAutoFit/>
          </a:bodyPr>
          <a:lstStyle/>
          <a:p>
            <a:pPr algn="l">
              <a:lnSpc>
                <a:spcPct val="105000"/>
              </a:lnSpc>
              <a:spcBef>
                <a:spcPts val="0"/>
              </a:spcBef>
              <a:spcAft>
                <a:spcPts val="600"/>
              </a:spcAft>
            </a:pPr>
            <a:r>
              <a:rPr sz="1400" b="1" i="0">
                <a:solidFill>
                  <a:srgbClr val="10375C"/>
                </a:solidFill>
                <a:latin typeface="Cambria"/>
              </a:rPr>
              <a:t>The late conflict</a:t>
            </a:r>
          </a:p>
        </p:txBody>
      </p:sp>
      <p:sp>
        <p:nvSpPr>
          <p:cNvPr id="23" name="TextBox 22"/>
          <p:cNvSpPr txBox="1"/>
          <p:nvPr/>
        </p:nvSpPr>
        <p:spPr>
          <a:xfrm>
            <a:off x="4553712" y="5614416"/>
            <a:ext cx="6540703" cy="658368"/>
          </a:xfrm>
          <a:prstGeom prst="rect">
            <a:avLst/>
          </a:prstGeom>
          <a:noFill/>
        </p:spPr>
        <p:txBody>
          <a:bodyPr wrap="square" lIns="0" rIns="0" tIns="0" bIns="0" anchor="t">
            <a:spAutoFit/>
          </a:bodyPr>
          <a:lstStyle/>
          <a:p>
            <a:pPr algn="l">
              <a:lnSpc>
                <a:spcPct val="120000"/>
              </a:lnSpc>
              <a:spcBef>
                <a:spcPts val="0"/>
              </a:spcBef>
              <a:spcAft>
                <a:spcPts val="600"/>
              </a:spcAft>
            </a:pPr>
            <a:r>
              <a:rPr sz="1250" b="0" i="0">
                <a:solidFill>
                  <a:srgbClr val="5A5A5A"/>
                </a:solidFill>
                <a:latin typeface="Calibri"/>
              </a:rPr>
              <a:t>Two hours in, you realise you know one of the parties' directors. What now?</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4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 y="2331720"/>
            <a:ext cx="868680" cy="868680"/>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600" b="1">
                <a:solidFill>
                  <a:srgbClr val="FFFFFF"/>
                </a:solidFill>
                <a:latin typeface="Cambria"/>
              </a:rPr>
              <a:t>5</a:t>
            </a:r>
          </a:p>
        </p:txBody>
      </p:sp>
      <p:sp>
        <p:nvSpPr>
          <p:cNvPr id="4" name="TextBox 3"/>
          <p:cNvSpPr txBox="1"/>
          <p:nvPr/>
        </p:nvSpPr>
        <p:spPr>
          <a:xfrm>
            <a:off x="2148840" y="2395728"/>
            <a:ext cx="8961120" cy="1280160"/>
          </a:xfrm>
          <a:prstGeom prst="rect">
            <a:avLst/>
          </a:prstGeom>
          <a:noFill/>
        </p:spPr>
        <p:txBody>
          <a:bodyPr wrap="square" lIns="0" rIns="0" tIns="0" bIns="0" anchor="t">
            <a:spAutoFit/>
          </a:bodyPr>
          <a:lstStyle/>
          <a:p>
            <a:pPr algn="l">
              <a:lnSpc>
                <a:spcPct val="100000"/>
              </a:lnSpc>
              <a:spcBef>
                <a:spcPts val="0"/>
              </a:spcBef>
              <a:spcAft>
                <a:spcPts val="800"/>
              </a:spcAft>
            </a:pPr>
            <a:r>
              <a:rPr sz="3400" b="1" i="0">
                <a:solidFill>
                  <a:srgbClr val="FFFFFF"/>
                </a:solidFill>
                <a:latin typeface="Cambria"/>
              </a:rPr>
              <a:t>Drafting, assessment and what comes next</a:t>
            </a:r>
          </a:p>
          <a:p>
            <a:pPr algn="l">
              <a:lnSpc>
                <a:spcPct val="125000"/>
              </a:lnSpc>
              <a:spcBef>
                <a:spcPts val="0"/>
              </a:spcBef>
              <a:spcAft>
                <a:spcPts val="600"/>
              </a:spcAft>
            </a:pPr>
            <a:r>
              <a:rPr sz="1500" b="0" i="0">
                <a:solidFill>
                  <a:srgbClr val="C9D6DE"/>
                </a:solidFill>
                <a:latin typeface="Calibri"/>
              </a:rPr>
              <a:t>Day 5  ·  8 hours  ·  10% input, 90% practice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The settlement agreement</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Enforceable in the manner of a judgment or decree</a:t>
            </a:r>
          </a:p>
        </p:txBody>
      </p:sp>
      <p:sp>
        <p:nvSpPr>
          <p:cNvPr id="5" name="Rounded Rectangle 4"/>
          <p:cNvSpPr/>
          <p:nvPr/>
        </p:nvSpPr>
        <p:spPr>
          <a:xfrm>
            <a:off x="777240" y="2011680"/>
            <a:ext cx="5135727" cy="3689604"/>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1143000" y="2340864"/>
            <a:ext cx="4404207" cy="457200"/>
          </a:xfrm>
          <a:prstGeom prst="rect">
            <a:avLst/>
          </a:prstGeom>
          <a:noFill/>
        </p:spPr>
        <p:txBody>
          <a:bodyPr wrap="square" lIns="0" rIns="0" tIns="0" bIns="0" anchor="t">
            <a:spAutoFit/>
          </a:bodyPr>
          <a:lstStyle/>
          <a:p>
            <a:pPr algn="l">
              <a:spcBef>
                <a:spcPts val="0"/>
              </a:spcBef>
              <a:spcAft>
                <a:spcPts val="600"/>
              </a:spcAft>
            </a:pPr>
            <a:r>
              <a:rPr sz="1650" b="1" i="0">
                <a:solidFill>
                  <a:srgbClr val="10375C"/>
                </a:solidFill>
                <a:latin typeface="Cambria"/>
              </a:rPr>
              <a:t>Essential components</a:t>
            </a:r>
          </a:p>
        </p:txBody>
      </p:sp>
      <p:sp>
        <p:nvSpPr>
          <p:cNvPr id="7" name="TextBox 6"/>
          <p:cNvSpPr txBox="1"/>
          <p:nvPr/>
        </p:nvSpPr>
        <p:spPr>
          <a:xfrm>
            <a:off x="1143000" y="2944368"/>
            <a:ext cx="4404207" cy="2409444"/>
          </a:xfrm>
          <a:prstGeom prst="rect">
            <a:avLst/>
          </a:prstGeom>
          <a:noFill/>
        </p:spPr>
        <p:txBody>
          <a:bodyPr wrap="square" lIns="0" rIns="0" tIns="0" bIns="0" anchor="t">
            <a:spAutoFit/>
          </a:bodyPr>
          <a:lstStyle/>
          <a:p>
            <a:pPr algn="l">
              <a:lnSpc>
                <a:spcPct val="120000"/>
              </a:lnSpc>
              <a:spcBef>
                <a:spcPts val="0"/>
              </a:spcBef>
              <a:spcAft>
                <a:spcPts val="900"/>
              </a:spcAft>
            </a:pPr>
            <a:r>
              <a:rPr sz="1250" b="0" i="0">
                <a:solidFill>
                  <a:srgbClr val="5A5A5A"/>
                </a:solidFill>
                <a:latin typeface="Calibri"/>
              </a:rPr>
              <a:t>Parties, correctly named — legal entity, not trading name.</a:t>
            </a:r>
          </a:p>
          <a:p>
            <a:pPr algn="l">
              <a:lnSpc>
                <a:spcPct val="120000"/>
              </a:lnSpc>
              <a:spcBef>
                <a:spcPts val="0"/>
              </a:spcBef>
              <a:spcAft>
                <a:spcPts val="900"/>
              </a:spcAft>
            </a:pPr>
            <a:r>
              <a:rPr sz="1250" b="0" i="0">
                <a:solidFill>
                  <a:srgbClr val="5A5A5A"/>
                </a:solidFill>
                <a:latin typeface="Calibri"/>
              </a:rPr>
              <a:t>Operative terms: who does what, by when, to whom.</a:t>
            </a:r>
          </a:p>
          <a:p>
            <a:pPr algn="l">
              <a:lnSpc>
                <a:spcPct val="120000"/>
              </a:lnSpc>
              <a:spcBef>
                <a:spcPts val="0"/>
              </a:spcBef>
              <a:spcAft>
                <a:spcPts val="900"/>
              </a:spcAft>
            </a:pPr>
            <a:r>
              <a:rPr sz="1250" b="0" i="0">
                <a:solidFill>
                  <a:srgbClr val="5A5A5A"/>
                </a:solidFill>
                <a:latin typeface="Calibri"/>
              </a:rPr>
              <a:t>Amounts in figures and words; the account specified.</a:t>
            </a:r>
          </a:p>
          <a:p>
            <a:pPr algn="l">
              <a:lnSpc>
                <a:spcPct val="120000"/>
              </a:lnSpc>
              <a:spcBef>
                <a:spcPts val="0"/>
              </a:spcBef>
              <a:spcAft>
                <a:spcPts val="900"/>
              </a:spcAft>
            </a:pPr>
            <a:r>
              <a:rPr sz="1250" b="0" i="0">
                <a:solidFill>
                  <a:srgbClr val="5A5A5A"/>
                </a:solidFill>
                <a:latin typeface="Calibri"/>
              </a:rPr>
              <a:t>Dates, not periods. 'By 31 October', not 'within 60 days'.</a:t>
            </a:r>
          </a:p>
          <a:p>
            <a:pPr algn="l">
              <a:lnSpc>
                <a:spcPct val="120000"/>
              </a:lnSpc>
              <a:spcBef>
                <a:spcPts val="0"/>
              </a:spcBef>
              <a:spcAft>
                <a:spcPts val="900"/>
              </a:spcAft>
            </a:pPr>
            <a:r>
              <a:rPr sz="1250" b="0" i="0">
                <a:solidFill>
                  <a:srgbClr val="5A5A5A"/>
                </a:solidFill>
                <a:latin typeface="Calibri"/>
              </a:rPr>
              <a:t>Full and final — say what it covers.</a:t>
            </a:r>
          </a:p>
          <a:p>
            <a:pPr algn="l">
              <a:lnSpc>
                <a:spcPct val="120000"/>
              </a:lnSpc>
              <a:spcBef>
                <a:spcPts val="0"/>
              </a:spcBef>
              <a:spcAft>
                <a:spcPts val="900"/>
              </a:spcAft>
            </a:pPr>
            <a:r>
              <a:rPr sz="1250" b="0" i="0">
                <a:solidFill>
                  <a:srgbClr val="5A5A5A"/>
                </a:solidFill>
                <a:latin typeface="Calibri"/>
              </a:rPr>
              <a:t>Default: what happens if a payment is missed.</a:t>
            </a:r>
          </a:p>
        </p:txBody>
      </p:sp>
      <p:sp>
        <p:nvSpPr>
          <p:cNvPr id="8" name="Rounded Rectangle 7"/>
          <p:cNvSpPr/>
          <p:nvPr/>
        </p:nvSpPr>
        <p:spPr>
          <a:xfrm>
            <a:off x="6278727" y="2011680"/>
            <a:ext cx="5135727" cy="3689604"/>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44487" y="2340864"/>
            <a:ext cx="4404207" cy="457200"/>
          </a:xfrm>
          <a:prstGeom prst="rect">
            <a:avLst/>
          </a:prstGeom>
          <a:noFill/>
        </p:spPr>
        <p:txBody>
          <a:bodyPr wrap="square" lIns="0" rIns="0" tIns="0" bIns="0" anchor="t">
            <a:spAutoFit/>
          </a:bodyPr>
          <a:lstStyle/>
          <a:p>
            <a:pPr algn="l">
              <a:spcBef>
                <a:spcPts val="0"/>
              </a:spcBef>
              <a:spcAft>
                <a:spcPts val="600"/>
              </a:spcAft>
            </a:pPr>
            <a:r>
              <a:rPr sz="1650" b="1" i="0">
                <a:solidFill>
                  <a:srgbClr val="10375C"/>
                </a:solidFill>
                <a:latin typeface="Cambria"/>
              </a:rPr>
              <a:t>Words to strike out</a:t>
            </a:r>
          </a:p>
        </p:txBody>
      </p:sp>
      <p:sp>
        <p:nvSpPr>
          <p:cNvPr id="10" name="TextBox 9"/>
          <p:cNvSpPr txBox="1"/>
          <p:nvPr/>
        </p:nvSpPr>
        <p:spPr>
          <a:xfrm>
            <a:off x="6644487" y="2944368"/>
            <a:ext cx="4404207" cy="2409444"/>
          </a:xfrm>
          <a:prstGeom prst="rect">
            <a:avLst/>
          </a:prstGeom>
          <a:noFill/>
        </p:spPr>
        <p:txBody>
          <a:bodyPr wrap="square" lIns="0" rIns="0" tIns="0" bIns="0" anchor="t">
            <a:spAutoFit/>
          </a:bodyPr>
          <a:lstStyle/>
          <a:p>
            <a:pPr algn="l">
              <a:lnSpc>
                <a:spcPct val="120000"/>
              </a:lnSpc>
              <a:spcBef>
                <a:spcPts val="0"/>
              </a:spcBef>
              <a:spcAft>
                <a:spcPts val="900"/>
              </a:spcAft>
            </a:pPr>
            <a:r>
              <a:rPr sz="1250" b="0" i="0">
                <a:solidFill>
                  <a:srgbClr val="5A5A5A"/>
                </a:solidFill>
                <a:latin typeface="Calibri"/>
              </a:rPr>
              <a:t>Reasonable</a:t>
            </a:r>
          </a:p>
          <a:p>
            <a:pPr algn="l">
              <a:lnSpc>
                <a:spcPct val="120000"/>
              </a:lnSpc>
              <a:spcBef>
                <a:spcPts val="0"/>
              </a:spcBef>
              <a:spcAft>
                <a:spcPts val="900"/>
              </a:spcAft>
            </a:pPr>
            <a:r>
              <a:rPr sz="1250" b="0" i="0">
                <a:solidFill>
                  <a:srgbClr val="5A5A5A"/>
                </a:solidFill>
                <a:latin typeface="Calibri"/>
              </a:rPr>
              <a:t>Promptly</a:t>
            </a:r>
          </a:p>
          <a:p>
            <a:pPr algn="l">
              <a:lnSpc>
                <a:spcPct val="120000"/>
              </a:lnSpc>
              <a:spcBef>
                <a:spcPts val="0"/>
              </a:spcBef>
              <a:spcAft>
                <a:spcPts val="900"/>
              </a:spcAft>
            </a:pPr>
            <a:r>
              <a:rPr sz="1250" b="0" i="0">
                <a:solidFill>
                  <a:srgbClr val="5A5A5A"/>
                </a:solidFill>
                <a:latin typeface="Calibri"/>
              </a:rPr>
              <a:t>As soon as possible</a:t>
            </a:r>
          </a:p>
          <a:p>
            <a:pPr algn="l">
              <a:lnSpc>
                <a:spcPct val="120000"/>
              </a:lnSpc>
              <a:spcBef>
                <a:spcPts val="0"/>
              </a:spcBef>
              <a:spcAft>
                <a:spcPts val="900"/>
              </a:spcAft>
            </a:pPr>
            <a:r>
              <a:rPr sz="1250" b="0" i="0">
                <a:solidFill>
                  <a:srgbClr val="5A5A5A"/>
                </a:solidFill>
                <a:latin typeface="Calibri"/>
              </a:rPr>
              <a:t>To be mutually agreed</a:t>
            </a:r>
          </a:p>
          <a:p>
            <a:pPr algn="l">
              <a:lnSpc>
                <a:spcPct val="120000"/>
              </a:lnSpc>
              <a:spcBef>
                <a:spcPts val="0"/>
              </a:spcBef>
              <a:spcAft>
                <a:spcPts val="900"/>
              </a:spcAft>
            </a:pPr>
            <a:r>
              <a:rPr sz="1250" b="0" i="0">
                <a:solidFill>
                  <a:srgbClr val="5A5A5A"/>
                </a:solidFill>
                <a:latin typeface="Calibri"/>
              </a:rPr>
              <a:t>To be documented later — if it is, it is not agreed</a:t>
            </a:r>
          </a:p>
        </p:txBody>
      </p:sp>
      <p:sp>
        <p:nvSpPr>
          <p:cNvPr id="11" name="TextBox 10"/>
          <p:cNvSpPr txBox="1"/>
          <p:nvPr/>
        </p:nvSpPr>
        <p:spPr>
          <a:xfrm>
            <a:off x="777240" y="6327648"/>
            <a:ext cx="10607040" cy="320040"/>
          </a:xfrm>
          <a:prstGeom prst="rect">
            <a:avLst/>
          </a:prstGeom>
          <a:noFill/>
        </p:spPr>
        <p:txBody>
          <a:bodyPr wrap="square" lIns="0" rIns="0" tIns="0" bIns="0" anchor="t">
            <a:spAutoFit/>
          </a:bodyPr>
          <a:lstStyle/>
          <a:p>
            <a:pPr algn="l">
              <a:spcBef>
                <a:spcPts val="0"/>
              </a:spcBef>
              <a:spcAft>
                <a:spcPts val="600"/>
              </a:spcAft>
            </a:pPr>
            <a:r>
              <a:rPr sz="950" b="0" i="1">
                <a:solidFill>
                  <a:srgbClr val="5A5A5A"/>
                </a:solidFill>
                <a:latin typeface="Calibri"/>
              </a:rPr>
              <a:t>The most consequential ten minutes of the process happen at the end of a long day when everybody is tired.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The precision test</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Could a stranger read this and know exactly what each party must do?</a:t>
            </a:r>
          </a:p>
        </p:txBody>
      </p:sp>
      <p:sp>
        <p:nvSpPr>
          <p:cNvPr id="5" name="TextBox 4"/>
          <p:cNvSpPr txBox="1"/>
          <p:nvPr/>
        </p:nvSpPr>
        <p:spPr>
          <a:xfrm>
            <a:off x="777240" y="2148840"/>
            <a:ext cx="10607040" cy="822960"/>
          </a:xfrm>
          <a:prstGeom prst="rect">
            <a:avLst/>
          </a:prstGeom>
          <a:noFill/>
        </p:spPr>
        <p:txBody>
          <a:bodyPr wrap="square" lIns="0" rIns="0" tIns="0" bIns="0" anchor="t">
            <a:spAutoFit/>
          </a:bodyPr>
          <a:lstStyle/>
          <a:p>
            <a:pPr algn="l">
              <a:lnSpc>
                <a:spcPct val="115000"/>
              </a:lnSpc>
              <a:spcBef>
                <a:spcPts val="0"/>
              </a:spcBef>
              <a:spcAft>
                <a:spcPts val="600"/>
              </a:spcAft>
            </a:pPr>
            <a:r>
              <a:rPr sz="2200" b="1" i="0">
                <a:solidFill>
                  <a:srgbClr val="10375C"/>
                </a:solidFill>
                <a:latin typeface="Cambria"/>
              </a:rPr>
              <a:t>Read it aloud. Then hand it to someone who was not in the room and ask them what happens next.</a:t>
            </a:r>
          </a:p>
        </p:txBody>
      </p:sp>
      <p:sp>
        <p:nvSpPr>
          <p:cNvPr id="6" name="Rounded Rectangle 5"/>
          <p:cNvSpPr/>
          <p:nvPr/>
        </p:nvSpPr>
        <p:spPr>
          <a:xfrm>
            <a:off x="777240" y="3200400"/>
            <a:ext cx="5135727" cy="2702051"/>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143000" y="3529584"/>
            <a:ext cx="4404207" cy="457200"/>
          </a:xfrm>
          <a:prstGeom prst="rect">
            <a:avLst/>
          </a:prstGeom>
          <a:noFill/>
        </p:spPr>
        <p:txBody>
          <a:bodyPr wrap="square" lIns="0" rIns="0" tIns="0" bIns="0" anchor="t">
            <a:spAutoFit/>
          </a:bodyPr>
          <a:lstStyle/>
          <a:p>
            <a:pPr algn="l">
              <a:spcBef>
                <a:spcPts val="0"/>
              </a:spcBef>
              <a:spcAft>
                <a:spcPts val="600"/>
              </a:spcAft>
            </a:pPr>
            <a:r>
              <a:rPr sz="1650" b="1" i="0">
                <a:solidFill>
                  <a:srgbClr val="10375C"/>
                </a:solidFill>
                <a:latin typeface="Cambria"/>
              </a:rPr>
              <a:t>Check</a:t>
            </a:r>
          </a:p>
        </p:txBody>
      </p:sp>
      <p:sp>
        <p:nvSpPr>
          <p:cNvPr id="8" name="TextBox 7"/>
          <p:cNvSpPr txBox="1"/>
          <p:nvPr/>
        </p:nvSpPr>
        <p:spPr>
          <a:xfrm>
            <a:off x="1143000" y="4133087"/>
            <a:ext cx="4404207" cy="1421891"/>
          </a:xfrm>
          <a:prstGeom prst="rect">
            <a:avLst/>
          </a:prstGeom>
          <a:noFill/>
        </p:spPr>
        <p:txBody>
          <a:bodyPr wrap="square" lIns="0" rIns="0" tIns="0" bIns="0" anchor="t">
            <a:spAutoFit/>
          </a:bodyPr>
          <a:lstStyle/>
          <a:p>
            <a:pPr algn="l">
              <a:lnSpc>
                <a:spcPct val="120000"/>
              </a:lnSpc>
              <a:spcBef>
                <a:spcPts val="0"/>
              </a:spcBef>
              <a:spcAft>
                <a:spcPts val="900"/>
              </a:spcAft>
            </a:pPr>
            <a:r>
              <a:rPr sz="1250" b="0" i="0">
                <a:solidFill>
                  <a:srgbClr val="5A5A5A"/>
                </a:solidFill>
                <a:latin typeface="Calibri"/>
              </a:rPr>
              <a:t>Is every obligation attached to a named party and a date?</a:t>
            </a:r>
          </a:p>
          <a:p>
            <a:pPr algn="l">
              <a:lnSpc>
                <a:spcPct val="120000"/>
              </a:lnSpc>
              <a:spcBef>
                <a:spcPts val="0"/>
              </a:spcBef>
              <a:spcAft>
                <a:spcPts val="900"/>
              </a:spcAft>
            </a:pPr>
            <a:r>
              <a:rPr sz="1250" b="0" i="0">
                <a:solidFill>
                  <a:srgbClr val="5A5A5A"/>
                </a:solidFill>
                <a:latin typeface="Calibri"/>
              </a:rPr>
              <a:t>Are amounts in figures and words?</a:t>
            </a:r>
          </a:p>
          <a:p>
            <a:pPr algn="l">
              <a:lnSpc>
                <a:spcPct val="120000"/>
              </a:lnSpc>
              <a:spcBef>
                <a:spcPts val="0"/>
              </a:spcBef>
              <a:spcAft>
                <a:spcPts val="900"/>
              </a:spcAft>
            </a:pPr>
            <a:r>
              <a:rPr sz="1250" b="0" i="0">
                <a:solidFill>
                  <a:srgbClr val="5A5A5A"/>
                </a:solidFill>
                <a:latin typeface="Calibri"/>
              </a:rPr>
              <a:t>Is the payment account specified?</a:t>
            </a:r>
          </a:p>
          <a:p>
            <a:pPr algn="l">
              <a:lnSpc>
                <a:spcPct val="120000"/>
              </a:lnSpc>
              <a:spcBef>
                <a:spcPts val="0"/>
              </a:spcBef>
              <a:spcAft>
                <a:spcPts val="900"/>
              </a:spcAft>
            </a:pPr>
            <a:r>
              <a:rPr sz="1250" b="0" i="0">
                <a:solidFill>
                  <a:srgbClr val="5A5A5A"/>
                </a:solidFill>
                <a:latin typeface="Calibri"/>
              </a:rPr>
              <a:t>Is there a mechanism if a payment is late?</a:t>
            </a:r>
          </a:p>
        </p:txBody>
      </p:sp>
      <p:sp>
        <p:nvSpPr>
          <p:cNvPr id="9" name="Rounded Rectangle 8"/>
          <p:cNvSpPr/>
          <p:nvPr/>
        </p:nvSpPr>
        <p:spPr>
          <a:xfrm>
            <a:off x="6278727" y="3200400"/>
            <a:ext cx="5135727" cy="2702051"/>
          </a:xfrm>
          <a:prstGeom prst="roundRect">
            <a:avLst>
              <a:gd name="adj" fmla="val 6000"/>
            </a:avLst>
          </a:prstGeom>
          <a:solidFill>
            <a:srgbClr val="EAF1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644487" y="3529584"/>
            <a:ext cx="4404207" cy="457200"/>
          </a:xfrm>
          <a:prstGeom prst="rect">
            <a:avLst/>
          </a:prstGeom>
          <a:noFill/>
        </p:spPr>
        <p:txBody>
          <a:bodyPr wrap="square" lIns="0" rIns="0" tIns="0" bIns="0" anchor="t">
            <a:spAutoFit/>
          </a:bodyPr>
          <a:lstStyle/>
          <a:p>
            <a:pPr algn="l">
              <a:spcBef>
                <a:spcPts val="0"/>
              </a:spcBef>
              <a:spcAft>
                <a:spcPts val="600"/>
              </a:spcAft>
            </a:pPr>
            <a:r>
              <a:rPr sz="1650" b="1" i="0">
                <a:solidFill>
                  <a:srgbClr val="10375C"/>
                </a:solidFill>
                <a:latin typeface="Cambria"/>
              </a:rPr>
              <a:t>Check</a:t>
            </a:r>
          </a:p>
        </p:txBody>
      </p:sp>
      <p:sp>
        <p:nvSpPr>
          <p:cNvPr id="11" name="TextBox 10"/>
          <p:cNvSpPr txBox="1"/>
          <p:nvPr/>
        </p:nvSpPr>
        <p:spPr>
          <a:xfrm>
            <a:off x="6644487" y="4133087"/>
            <a:ext cx="4404207" cy="1421891"/>
          </a:xfrm>
          <a:prstGeom prst="rect">
            <a:avLst/>
          </a:prstGeom>
          <a:noFill/>
        </p:spPr>
        <p:txBody>
          <a:bodyPr wrap="square" lIns="0" rIns="0" tIns="0" bIns="0" anchor="t">
            <a:spAutoFit/>
          </a:bodyPr>
          <a:lstStyle/>
          <a:p>
            <a:pPr algn="l">
              <a:lnSpc>
                <a:spcPct val="120000"/>
              </a:lnSpc>
              <a:spcBef>
                <a:spcPts val="0"/>
              </a:spcBef>
              <a:spcAft>
                <a:spcPts val="900"/>
              </a:spcAft>
            </a:pPr>
            <a:r>
              <a:rPr sz="1250" b="0" i="0">
                <a:solidFill>
                  <a:srgbClr val="5A5A5A"/>
                </a:solidFill>
                <a:latin typeface="Calibri"/>
              </a:rPr>
              <a:t>Does 'full and final' say what it covers?</a:t>
            </a:r>
          </a:p>
          <a:p>
            <a:pPr algn="l">
              <a:lnSpc>
                <a:spcPct val="120000"/>
              </a:lnSpc>
              <a:spcBef>
                <a:spcPts val="0"/>
              </a:spcBef>
              <a:spcAft>
                <a:spcPts val="900"/>
              </a:spcAft>
            </a:pPr>
            <a:r>
              <a:rPr sz="1250" b="0" i="0">
                <a:solidFill>
                  <a:srgbClr val="5A5A5A"/>
                </a:solidFill>
                <a:latin typeface="Calibri"/>
              </a:rPr>
              <a:t>Have the parties read it themselves, rather than had it read to them?</a:t>
            </a:r>
          </a:p>
          <a:p>
            <a:pPr algn="l">
              <a:lnSpc>
                <a:spcPct val="120000"/>
              </a:lnSpc>
              <a:spcBef>
                <a:spcPts val="0"/>
              </a:spcBef>
              <a:spcAft>
                <a:spcPts val="900"/>
              </a:spcAft>
            </a:pPr>
            <a:r>
              <a:rPr sz="1250" b="0" i="0">
                <a:solidFill>
                  <a:srgbClr val="5A5A5A"/>
                </a:solidFill>
                <a:latin typeface="Calibri"/>
              </a:rPr>
              <a:t>Does anyone need advice before signing, and have they had the chance?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607040" cy="822960"/>
          </a:xfrm>
          <a:prstGeom prst="rect">
            <a:avLst/>
          </a:prstGeom>
          <a:noFill/>
        </p:spPr>
        <p:txBody>
          <a:bodyPr wrap="square" lIns="0" rIns="0" tIns="0" bIns="0" anchor="t">
            <a:spAutoFit/>
          </a:bodyPr>
          <a:lstStyle/>
          <a:p>
            <a:pPr algn="l">
              <a:lnSpc>
                <a:spcPct val="100000"/>
              </a:lnSpc>
              <a:spcBef>
                <a:spcPts val="0"/>
              </a:spcBef>
              <a:spcAft>
                <a:spcPts val="400"/>
              </a:spcAft>
            </a:pPr>
            <a:r>
              <a:rPr sz="3000" b="1" i="0">
                <a:solidFill>
                  <a:srgbClr val="10375C"/>
                </a:solidFill>
                <a:latin typeface="Cambria"/>
              </a:rPr>
              <a:t>What you are assessed on</a:t>
            </a:r>
          </a:p>
        </p:txBody>
      </p:sp>
      <p:sp>
        <p:nvSpPr>
          <p:cNvPr id="4" name="TextBox 3"/>
          <p:cNvSpPr txBox="1"/>
          <p:nvPr/>
        </p:nvSpPr>
        <p:spPr>
          <a:xfrm>
            <a:off x="777240" y="1298448"/>
            <a:ext cx="10058400" cy="502920"/>
          </a:xfrm>
          <a:prstGeom prst="rect">
            <a:avLst/>
          </a:prstGeom>
          <a:noFill/>
        </p:spPr>
        <p:txBody>
          <a:bodyPr wrap="square" lIns="0" rIns="0" tIns="0" bIns="0" anchor="t">
            <a:spAutoFit/>
          </a:bodyPr>
          <a:lstStyle/>
          <a:p>
            <a:pPr algn="l">
              <a:lnSpc>
                <a:spcPct val="120000"/>
              </a:lnSpc>
              <a:spcBef>
                <a:spcPts val="0"/>
              </a:spcBef>
              <a:spcAft>
                <a:spcPts val="600"/>
              </a:spcAft>
            </a:pPr>
            <a:r>
              <a:rPr sz="1350" b="0" i="0">
                <a:solidFill>
                  <a:srgbClr val="5A5A5A"/>
                </a:solidFill>
                <a:latin typeface="Calibri"/>
              </a:rPr>
              <a:t>Note what is not on this list</a:t>
            </a:r>
          </a:p>
        </p:txBody>
      </p:sp>
      <p:graphicFrame>
        <p:nvGraphicFramePr>
          <p:cNvPr id="5" name="Table 4"/>
          <p:cNvGraphicFramePr>
            <a:graphicFrameLocks noGrp="1"/>
          </p:cNvGraphicFramePr>
          <p:nvPr/>
        </p:nvGraphicFramePr>
        <p:xfrm>
          <a:off x="777240" y="2011680"/>
          <a:ext cx="10637214" cy="3456432"/>
        </p:xfrm>
        <a:graphic>
          <a:graphicData uri="http://schemas.openxmlformats.org/drawingml/2006/table">
            <a:tbl>
              <a:tblPr firstRow="1" bandRow="1">
                <a:tableStyleId>{5C22544A-7EE6-4342-B048-85BDC9FD1C3A}</a:tableStyleId>
              </a:tblPr>
              <a:tblGrid>
                <a:gridCol w="773615"/>
                <a:gridCol w="8316368"/>
                <a:gridCol w="1547231"/>
              </a:tblGrid>
              <a:tr h="384048">
                <a:tc>
                  <a:txBody>
                    <a:bodyPr/>
                    <a:lstStyle/>
                    <a:p>
                      <a:r>
                        <a:rPr sz="1100" b="1">
                          <a:solidFill>
                            <a:srgbClr val="FFFFFF"/>
                          </a:solidFill>
                          <a:latin typeface="Calibri"/>
                        </a:rPr>
                        <a:t/>
                      </a:r>
                    </a:p>
                  </a:txBody>
                  <a:tcPr marL="109728" marR="73152" marT="45720" marB="45720" anchor="ctr">
                    <a:solidFill>
                      <a:srgbClr val="10375C"/>
                    </a:solidFill>
                  </a:tcPr>
                </a:tc>
                <a:tc>
                  <a:txBody>
                    <a:bodyPr/>
                    <a:lstStyle/>
                    <a:p>
                      <a:r>
                        <a:rPr sz="1100" b="1">
                          <a:solidFill>
                            <a:srgbClr val="FFFFFF"/>
                          </a:solidFill>
                          <a:latin typeface="Calibri"/>
                        </a:rPr>
                        <a:t>Criterion</a:t>
                      </a:r>
                    </a:p>
                  </a:txBody>
                  <a:tcPr marL="109728" marR="73152" marT="45720" marB="45720" anchor="ctr">
                    <a:solidFill>
                      <a:srgbClr val="10375C"/>
                    </a:solidFill>
                  </a:tcPr>
                </a:tc>
                <a:tc>
                  <a:txBody>
                    <a:bodyPr/>
                    <a:lstStyle/>
                    <a:p>
                      <a:r>
                        <a:rPr sz="1100" b="1">
                          <a:solidFill>
                            <a:srgbClr val="FFFFFF"/>
                          </a:solidFill>
                          <a:latin typeface="Calibri"/>
                        </a:rPr>
                        <a:t>Marks</a:t>
                      </a:r>
                    </a:p>
                  </a:txBody>
                  <a:tcPr marL="109728" marR="73152" marT="45720" marB="45720" anchor="ctr">
                    <a:solidFill>
                      <a:srgbClr val="10375C"/>
                    </a:solidFill>
                  </a:tcPr>
                </a:tc>
              </a:tr>
              <a:tr h="384048">
                <a:tc>
                  <a:txBody>
                    <a:bodyPr/>
                    <a:lstStyle/>
                    <a:p>
                      <a:r>
                        <a:rPr sz="1250" b="1">
                          <a:solidFill>
                            <a:srgbClr val="10375C"/>
                          </a:solidFill>
                          <a:latin typeface="Calibri"/>
                        </a:rPr>
                        <a:t>1</a:t>
                      </a:r>
                    </a:p>
                  </a:txBody>
                  <a:tcPr marL="109728" marR="73152" marT="36576" marB="36576" anchor="ctr">
                    <a:solidFill>
                      <a:srgbClr val="FFFFFF"/>
                    </a:solidFill>
                  </a:tcPr>
                </a:tc>
                <a:tc>
                  <a:txBody>
                    <a:bodyPr/>
                    <a:lstStyle/>
                    <a:p>
                      <a:r>
                        <a:rPr sz="1250" b="0">
                          <a:solidFill>
                            <a:srgbClr val="1F1F1F"/>
                          </a:solidFill>
                          <a:latin typeface="Calibri"/>
                        </a:rPr>
                        <a:t>Opening and process establishment</a:t>
                      </a:r>
                    </a:p>
                  </a:txBody>
                  <a:tcPr marL="109728" marR="73152" marT="36576" marB="36576" anchor="ctr">
                    <a:solidFill>
                      <a:srgbClr val="FFFFFF"/>
                    </a:solidFill>
                  </a:tcPr>
                </a:tc>
                <a:tc>
                  <a:txBody>
                    <a:bodyPr/>
                    <a:lstStyle/>
                    <a:p>
                      <a:r>
                        <a:rPr sz="1250" b="0">
                          <a:solidFill>
                            <a:srgbClr val="1F1F1F"/>
                          </a:solidFill>
                          <a:latin typeface="Calibri"/>
                        </a:rPr>
                        <a:t>12</a:t>
                      </a:r>
                    </a:p>
                  </a:txBody>
                  <a:tcPr marL="109728" marR="73152" marT="36576" marB="36576" anchor="ctr">
                    <a:solidFill>
                      <a:srgbClr val="FFFFFF"/>
                    </a:solidFill>
                  </a:tcPr>
                </a:tc>
              </a:tr>
              <a:tr h="384048">
                <a:tc>
                  <a:txBody>
                    <a:bodyPr/>
                    <a:lstStyle/>
                    <a:p>
                      <a:r>
                        <a:rPr sz="1250" b="1">
                          <a:solidFill>
                            <a:srgbClr val="10375C"/>
                          </a:solidFill>
                          <a:latin typeface="Calibri"/>
                        </a:rPr>
                        <a:t>2</a:t>
                      </a:r>
                    </a:p>
                  </a:txBody>
                  <a:tcPr marL="109728" marR="73152" marT="36576" marB="36576" anchor="ctr">
                    <a:solidFill>
                      <a:srgbClr val="EAF1F4"/>
                    </a:solidFill>
                  </a:tcPr>
                </a:tc>
                <a:tc>
                  <a:txBody>
                    <a:bodyPr/>
                    <a:lstStyle/>
                    <a:p>
                      <a:r>
                        <a:rPr sz="1250" b="0">
                          <a:solidFill>
                            <a:srgbClr val="1F1F1F"/>
                          </a:solidFill>
                          <a:latin typeface="Calibri"/>
                        </a:rPr>
                        <a:t>Listening and acknowledgement</a:t>
                      </a:r>
                    </a:p>
                  </a:txBody>
                  <a:tcPr marL="109728" marR="73152" marT="36576" marB="36576" anchor="ctr">
                    <a:solidFill>
                      <a:srgbClr val="EAF1F4"/>
                    </a:solidFill>
                  </a:tcPr>
                </a:tc>
                <a:tc>
                  <a:txBody>
                    <a:bodyPr/>
                    <a:lstStyle/>
                    <a:p>
                      <a:r>
                        <a:rPr sz="1250" b="0">
                          <a:solidFill>
                            <a:srgbClr val="1F1F1F"/>
                          </a:solidFill>
                          <a:latin typeface="Calibri"/>
                        </a:rPr>
                        <a:t>14</a:t>
                      </a:r>
                    </a:p>
                  </a:txBody>
                  <a:tcPr marL="109728" marR="73152" marT="36576" marB="36576" anchor="ctr">
                    <a:solidFill>
                      <a:srgbClr val="EAF1F4"/>
                    </a:solidFill>
                  </a:tcPr>
                </a:tc>
              </a:tr>
              <a:tr h="384048">
                <a:tc>
                  <a:txBody>
                    <a:bodyPr/>
                    <a:lstStyle/>
                    <a:p>
                      <a:r>
                        <a:rPr sz="1250" b="1">
                          <a:solidFill>
                            <a:srgbClr val="10375C"/>
                          </a:solidFill>
                          <a:latin typeface="Calibri"/>
                        </a:rPr>
                        <a:t>3</a:t>
                      </a:r>
                    </a:p>
                  </a:txBody>
                  <a:tcPr marL="109728" marR="73152" marT="36576" marB="36576" anchor="ctr">
                    <a:solidFill>
                      <a:srgbClr val="FFFFFF"/>
                    </a:solidFill>
                  </a:tcPr>
                </a:tc>
                <a:tc>
                  <a:txBody>
                    <a:bodyPr/>
                    <a:lstStyle/>
                    <a:p>
                      <a:r>
                        <a:rPr sz="1250" b="0">
                          <a:solidFill>
                            <a:srgbClr val="1F1F1F"/>
                          </a:solidFill>
                          <a:latin typeface="Calibri"/>
                        </a:rPr>
                        <a:t>Questioning</a:t>
                      </a:r>
                    </a:p>
                  </a:txBody>
                  <a:tcPr marL="109728" marR="73152" marT="36576" marB="36576" anchor="ctr">
                    <a:solidFill>
                      <a:srgbClr val="FFFFFF"/>
                    </a:solidFill>
                  </a:tcPr>
                </a:tc>
                <a:tc>
                  <a:txBody>
                    <a:bodyPr/>
                    <a:lstStyle/>
                    <a:p>
                      <a:r>
                        <a:rPr sz="1250" b="0">
                          <a:solidFill>
                            <a:srgbClr val="1F1F1F"/>
                          </a:solidFill>
                          <a:latin typeface="Calibri"/>
                        </a:rPr>
                        <a:t>14</a:t>
                      </a:r>
                    </a:p>
                  </a:txBody>
                  <a:tcPr marL="109728" marR="73152" marT="36576" marB="36576" anchor="ctr">
                    <a:solidFill>
                      <a:srgbClr val="FFFFFF"/>
                    </a:solidFill>
                  </a:tcPr>
                </a:tc>
              </a:tr>
              <a:tr h="384048">
                <a:tc>
                  <a:txBody>
                    <a:bodyPr/>
                    <a:lstStyle/>
                    <a:p>
                      <a:r>
                        <a:rPr sz="1250" b="1">
                          <a:solidFill>
                            <a:srgbClr val="10375C"/>
                          </a:solidFill>
                          <a:latin typeface="Calibri"/>
                        </a:rPr>
                        <a:t>4</a:t>
                      </a:r>
                    </a:p>
                  </a:txBody>
                  <a:tcPr marL="109728" marR="73152" marT="36576" marB="36576" anchor="ctr">
                    <a:solidFill>
                      <a:srgbClr val="EAF1F4"/>
                    </a:solidFill>
                  </a:tcPr>
                </a:tc>
                <a:tc>
                  <a:txBody>
                    <a:bodyPr/>
                    <a:lstStyle/>
                    <a:p>
                      <a:r>
                        <a:rPr sz="1250" b="0">
                          <a:solidFill>
                            <a:srgbClr val="1F1F1F"/>
                          </a:solidFill>
                          <a:latin typeface="Calibri"/>
                        </a:rPr>
                        <a:t>Identifying interests</a:t>
                      </a:r>
                    </a:p>
                  </a:txBody>
                  <a:tcPr marL="109728" marR="73152" marT="36576" marB="36576" anchor="ctr">
                    <a:solidFill>
                      <a:srgbClr val="EAF1F4"/>
                    </a:solidFill>
                  </a:tcPr>
                </a:tc>
                <a:tc>
                  <a:txBody>
                    <a:bodyPr/>
                    <a:lstStyle/>
                    <a:p>
                      <a:r>
                        <a:rPr sz="1250" b="0">
                          <a:solidFill>
                            <a:srgbClr val="1F1F1F"/>
                          </a:solidFill>
                          <a:latin typeface="Calibri"/>
                        </a:rPr>
                        <a:t>14</a:t>
                      </a:r>
                    </a:p>
                  </a:txBody>
                  <a:tcPr marL="109728" marR="73152" marT="36576" marB="36576" anchor="ctr">
                    <a:solidFill>
                      <a:srgbClr val="EAF1F4"/>
                    </a:solidFill>
                  </a:tcPr>
                </a:tc>
              </a:tr>
              <a:tr h="384048">
                <a:tc>
                  <a:txBody>
                    <a:bodyPr/>
                    <a:lstStyle/>
                    <a:p>
                      <a:r>
                        <a:rPr sz="1250" b="1">
                          <a:solidFill>
                            <a:srgbClr val="10375C"/>
                          </a:solidFill>
                          <a:latin typeface="Calibri"/>
                        </a:rPr>
                        <a:t>5</a:t>
                      </a:r>
                    </a:p>
                  </a:txBody>
                  <a:tcPr marL="109728" marR="73152" marT="36576" marB="36576" anchor="ctr">
                    <a:solidFill>
                      <a:srgbClr val="FFFFFF"/>
                    </a:solidFill>
                  </a:tcPr>
                </a:tc>
                <a:tc>
                  <a:txBody>
                    <a:bodyPr/>
                    <a:lstStyle/>
                    <a:p>
                      <a:r>
                        <a:rPr sz="1250" b="0">
                          <a:solidFill>
                            <a:srgbClr val="1F1F1F"/>
                          </a:solidFill>
                          <a:latin typeface="Calibri"/>
                        </a:rPr>
                        <a:t>Process management</a:t>
                      </a:r>
                    </a:p>
                  </a:txBody>
                  <a:tcPr marL="109728" marR="73152" marT="36576" marB="36576" anchor="ctr">
                    <a:solidFill>
                      <a:srgbClr val="FFFFFF"/>
                    </a:solidFill>
                  </a:tcPr>
                </a:tc>
                <a:tc>
                  <a:txBody>
                    <a:bodyPr/>
                    <a:lstStyle/>
                    <a:p>
                      <a:r>
                        <a:rPr sz="1250" b="0">
                          <a:solidFill>
                            <a:srgbClr val="1F1F1F"/>
                          </a:solidFill>
                          <a:latin typeface="Calibri"/>
                        </a:rPr>
                        <a:t>12</a:t>
                      </a:r>
                    </a:p>
                  </a:txBody>
                  <a:tcPr marL="109728" marR="73152" marT="36576" marB="36576" anchor="ctr">
                    <a:solidFill>
                      <a:srgbClr val="FFFFFF"/>
                    </a:solidFill>
                  </a:tcPr>
                </a:tc>
              </a:tr>
              <a:tr h="384048">
                <a:tc>
                  <a:txBody>
                    <a:bodyPr/>
                    <a:lstStyle/>
                    <a:p>
                      <a:r>
                        <a:rPr sz="1250" b="1">
                          <a:solidFill>
                            <a:srgbClr val="10375C"/>
                          </a:solidFill>
                          <a:latin typeface="Calibri"/>
                        </a:rPr>
                        <a:t>6</a:t>
                      </a:r>
                    </a:p>
                  </a:txBody>
                  <a:tcPr marL="109728" marR="73152" marT="36576" marB="36576" anchor="ctr">
                    <a:solidFill>
                      <a:srgbClr val="EAF1F4"/>
                    </a:solidFill>
                  </a:tcPr>
                </a:tc>
                <a:tc>
                  <a:txBody>
                    <a:bodyPr/>
                    <a:lstStyle/>
                    <a:p>
                      <a:r>
                        <a:rPr sz="1250" b="0">
                          <a:solidFill>
                            <a:srgbClr val="1F1F1F"/>
                          </a:solidFill>
                          <a:latin typeface="Calibri"/>
                        </a:rPr>
                        <a:t>Option generation and testing</a:t>
                      </a:r>
                    </a:p>
                  </a:txBody>
                  <a:tcPr marL="109728" marR="73152" marT="36576" marB="36576" anchor="ctr">
                    <a:solidFill>
                      <a:srgbClr val="EAF1F4"/>
                    </a:solidFill>
                  </a:tcPr>
                </a:tc>
                <a:tc>
                  <a:txBody>
                    <a:bodyPr/>
                    <a:lstStyle/>
                    <a:p>
                      <a:r>
                        <a:rPr sz="1250" b="0">
                          <a:solidFill>
                            <a:srgbClr val="1F1F1F"/>
                          </a:solidFill>
                          <a:latin typeface="Calibri"/>
                        </a:rPr>
                        <a:t>12</a:t>
                      </a:r>
                    </a:p>
                  </a:txBody>
                  <a:tcPr marL="109728" marR="73152" marT="36576" marB="36576" anchor="ctr">
                    <a:solidFill>
                      <a:srgbClr val="EAF1F4"/>
                    </a:solidFill>
                  </a:tcPr>
                </a:tc>
              </a:tr>
              <a:tr h="384048">
                <a:tc>
                  <a:txBody>
                    <a:bodyPr/>
                    <a:lstStyle/>
                    <a:p>
                      <a:r>
                        <a:rPr sz="1250" b="1">
                          <a:solidFill>
                            <a:srgbClr val="10375C"/>
                          </a:solidFill>
                          <a:latin typeface="Calibri"/>
                        </a:rPr>
                        <a:t>7</a:t>
                      </a:r>
                    </a:p>
                  </a:txBody>
                  <a:tcPr marL="109728" marR="73152" marT="36576" marB="36576" anchor="ctr">
                    <a:solidFill>
                      <a:srgbClr val="FFFFFF"/>
                    </a:solidFill>
                  </a:tcPr>
                </a:tc>
                <a:tc>
                  <a:txBody>
                    <a:bodyPr/>
                    <a:lstStyle/>
                    <a:p>
                      <a:r>
                        <a:rPr sz="1250" b="0">
                          <a:solidFill>
                            <a:srgbClr val="1F1F1F"/>
                          </a:solidFill>
                          <a:latin typeface="Calibri"/>
                        </a:rPr>
                        <a:t>Impartiality and ethics</a:t>
                      </a:r>
                    </a:p>
                  </a:txBody>
                  <a:tcPr marL="109728" marR="73152" marT="36576" marB="36576" anchor="ctr">
                    <a:solidFill>
                      <a:srgbClr val="FFFFFF"/>
                    </a:solidFill>
                  </a:tcPr>
                </a:tc>
                <a:tc>
                  <a:txBody>
                    <a:bodyPr/>
                    <a:lstStyle/>
                    <a:p>
                      <a:r>
                        <a:rPr sz="1250" b="0">
                          <a:solidFill>
                            <a:srgbClr val="1F1F1F"/>
                          </a:solidFill>
                          <a:latin typeface="Calibri"/>
                        </a:rPr>
                        <a:t>12</a:t>
                      </a:r>
                    </a:p>
                  </a:txBody>
                  <a:tcPr marL="109728" marR="73152" marT="36576" marB="36576" anchor="ctr">
                    <a:solidFill>
                      <a:srgbClr val="FFFFFF"/>
                    </a:solidFill>
                  </a:tcPr>
                </a:tc>
              </a:tr>
              <a:tr h="384048">
                <a:tc>
                  <a:txBody>
                    <a:bodyPr/>
                    <a:lstStyle/>
                    <a:p>
                      <a:r>
                        <a:rPr sz="1250" b="1">
                          <a:solidFill>
                            <a:srgbClr val="10375C"/>
                          </a:solidFill>
                          <a:latin typeface="Calibri"/>
                        </a:rPr>
                        <a:t>8</a:t>
                      </a:r>
                    </a:p>
                  </a:txBody>
                  <a:tcPr marL="109728" marR="73152" marT="36576" marB="36576" anchor="ctr">
                    <a:solidFill>
                      <a:srgbClr val="EAF1F4"/>
                    </a:solidFill>
                  </a:tcPr>
                </a:tc>
                <a:tc>
                  <a:txBody>
                    <a:bodyPr/>
                    <a:lstStyle/>
                    <a:p>
                      <a:r>
                        <a:rPr sz="1250" b="0">
                          <a:solidFill>
                            <a:srgbClr val="1F1F1F"/>
                          </a:solidFill>
                          <a:latin typeface="Calibri"/>
                        </a:rPr>
                        <a:t>Closure</a:t>
                      </a:r>
                    </a:p>
                  </a:txBody>
                  <a:tcPr marL="109728" marR="73152" marT="36576" marB="36576" anchor="ctr">
                    <a:solidFill>
                      <a:srgbClr val="EAF1F4"/>
                    </a:solidFill>
                  </a:tcPr>
                </a:tc>
                <a:tc>
                  <a:txBody>
                    <a:bodyPr/>
                    <a:lstStyle/>
                    <a:p>
                      <a:r>
                        <a:rPr sz="1250" b="0">
                          <a:solidFill>
                            <a:srgbClr val="1F1F1F"/>
                          </a:solidFill>
                          <a:latin typeface="Calibri"/>
                        </a:rPr>
                        <a:t>10</a:t>
                      </a:r>
                    </a:p>
                  </a:txBody>
                  <a:tcPr marL="109728" marR="73152" marT="36576" marB="36576" anchor="ctr">
                    <a:solidFill>
                      <a:srgbClr val="EAF1F4"/>
                    </a:solidFill>
                  </a:tcPr>
                </a:tc>
              </a:tr>
            </a:tbl>
          </a:graphicData>
        </a:graphic>
      </p:graphicFrame>
      <p:sp>
        <p:nvSpPr>
          <p:cNvPr id="6" name="TextBox 5"/>
          <p:cNvSpPr txBox="1"/>
          <p:nvPr/>
        </p:nvSpPr>
        <p:spPr>
          <a:xfrm>
            <a:off x="777240" y="6327648"/>
            <a:ext cx="10607040" cy="320040"/>
          </a:xfrm>
          <a:prstGeom prst="rect">
            <a:avLst/>
          </a:prstGeom>
          <a:noFill/>
        </p:spPr>
        <p:txBody>
          <a:bodyPr wrap="square" lIns="0" rIns="0" tIns="0" bIns="0" anchor="t">
            <a:spAutoFit/>
          </a:bodyPr>
          <a:lstStyle/>
          <a:p>
            <a:pPr algn="l">
              <a:spcBef>
                <a:spcPts val="0"/>
              </a:spcBef>
              <a:spcAft>
                <a:spcPts val="600"/>
              </a:spcAft>
            </a:pPr>
            <a:r>
              <a:rPr sz="950" b="0" i="1">
                <a:solidFill>
                  <a:srgbClr val="5A5A5A"/>
                </a:solidFill>
                <a:latin typeface="Calibri"/>
              </a:rPr>
              <a:t>Whether you settled is not a criterion. A mediation that does not settle but is well conducted scores above one that settles badly.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37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234440"/>
            <a:ext cx="10424160" cy="822960"/>
          </a:xfrm>
          <a:prstGeom prst="rect">
            <a:avLst/>
          </a:prstGeom>
          <a:noFill/>
        </p:spPr>
        <p:txBody>
          <a:bodyPr wrap="square" lIns="0" rIns="0" tIns="0" bIns="0" anchor="t">
            <a:spAutoFit/>
          </a:bodyPr>
          <a:lstStyle/>
          <a:p>
            <a:pPr algn="l">
              <a:lnSpc>
                <a:spcPct val="100000"/>
              </a:lnSpc>
              <a:spcBef>
                <a:spcPts val="0"/>
              </a:spcBef>
              <a:spcAft>
                <a:spcPts val="600"/>
              </a:spcAft>
            </a:pPr>
            <a:r>
              <a:rPr sz="3200" b="1" i="0">
                <a:solidFill>
                  <a:srgbClr val="FFFFFF"/>
                </a:solidFill>
                <a:latin typeface="Cambria"/>
              </a:rPr>
              <a:t>What happens next</a:t>
            </a:r>
          </a:p>
        </p:txBody>
      </p:sp>
      <p:sp>
        <p:nvSpPr>
          <p:cNvPr id="4" name="Oval 3"/>
          <p:cNvSpPr/>
          <p:nvPr/>
        </p:nvSpPr>
        <p:spPr>
          <a:xfrm>
            <a:off x="868680" y="2331720"/>
            <a:ext cx="475488" cy="475488"/>
          </a:xfrm>
          <a:prstGeom prst="ellipse">
            <a:avLst/>
          </a:prstGeom>
          <a:solidFill>
            <a:srgbClr val="C8873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0A243D"/>
                </a:solidFill>
                <a:latin typeface="Cambria"/>
              </a:rPr>
              <a:t>1</a:t>
            </a:r>
          </a:p>
        </p:txBody>
      </p:sp>
      <p:sp>
        <p:nvSpPr>
          <p:cNvPr id="5" name="TextBox 4"/>
          <p:cNvSpPr txBox="1"/>
          <p:nvPr/>
        </p:nvSpPr>
        <p:spPr>
          <a:xfrm>
            <a:off x="1536192" y="2350008"/>
            <a:ext cx="9601200" cy="777240"/>
          </a:xfrm>
          <a:prstGeom prst="rect">
            <a:avLst/>
          </a:prstGeom>
          <a:noFill/>
        </p:spPr>
        <p:txBody>
          <a:bodyPr wrap="square" lIns="0" rIns="0" tIns="0" bIns="0" anchor="t">
            <a:spAutoFit/>
          </a:bodyPr>
          <a:lstStyle/>
          <a:p>
            <a:pPr algn="l">
              <a:lnSpc>
                <a:spcPct val="105000"/>
              </a:lnSpc>
              <a:spcBef>
                <a:spcPts val="0"/>
              </a:spcBef>
              <a:spcAft>
                <a:spcPts val="300"/>
              </a:spcAft>
            </a:pPr>
            <a:r>
              <a:rPr sz="1500" b="1" i="0">
                <a:solidFill>
                  <a:srgbClr val="FFFFFF"/>
                </a:solidFill>
                <a:latin typeface="Cambria"/>
              </a:rPr>
              <a:t>Supervised practice</a:t>
            </a:r>
          </a:p>
          <a:p>
            <a:pPr algn="l">
              <a:lnSpc>
                <a:spcPct val="120000"/>
              </a:lnSpc>
              <a:spcBef>
                <a:spcPts val="0"/>
              </a:spcBef>
              <a:spcAft>
                <a:spcPts val="600"/>
              </a:spcAft>
            </a:pPr>
            <a:r>
              <a:rPr sz="1200" b="0" i="0">
                <a:solidFill>
                  <a:srgbClr val="C9D6DE"/>
                </a:solidFill>
                <a:latin typeface="Calibri"/>
              </a:rPr>
              <a:t>A required number of mediations, including co-mediation, logged and countersigned by the supervising neutral.</a:t>
            </a:r>
          </a:p>
        </p:txBody>
      </p:sp>
      <p:sp>
        <p:nvSpPr>
          <p:cNvPr id="6" name="Oval 5"/>
          <p:cNvSpPr/>
          <p:nvPr/>
        </p:nvSpPr>
        <p:spPr>
          <a:xfrm>
            <a:off x="868680" y="3264408"/>
            <a:ext cx="475488" cy="475488"/>
          </a:xfrm>
          <a:prstGeom prst="ellipse">
            <a:avLst/>
          </a:prstGeom>
          <a:solidFill>
            <a:srgbClr val="C8873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0A243D"/>
                </a:solidFill>
                <a:latin typeface="Cambria"/>
              </a:rPr>
              <a:t>2</a:t>
            </a:r>
          </a:p>
        </p:txBody>
      </p:sp>
      <p:sp>
        <p:nvSpPr>
          <p:cNvPr id="7" name="TextBox 6"/>
          <p:cNvSpPr txBox="1"/>
          <p:nvPr/>
        </p:nvSpPr>
        <p:spPr>
          <a:xfrm>
            <a:off x="1536192" y="3282696"/>
            <a:ext cx="9601200" cy="777240"/>
          </a:xfrm>
          <a:prstGeom prst="rect">
            <a:avLst/>
          </a:prstGeom>
          <a:noFill/>
        </p:spPr>
        <p:txBody>
          <a:bodyPr wrap="square" lIns="0" rIns="0" tIns="0" bIns="0" anchor="t">
            <a:spAutoFit/>
          </a:bodyPr>
          <a:lstStyle/>
          <a:p>
            <a:pPr algn="l">
              <a:lnSpc>
                <a:spcPct val="105000"/>
              </a:lnSpc>
              <a:spcBef>
                <a:spcPts val="0"/>
              </a:spcBef>
              <a:spcAft>
                <a:spcPts val="300"/>
              </a:spcAft>
            </a:pPr>
            <a:r>
              <a:rPr sz="1500" b="1" i="0">
                <a:solidFill>
                  <a:srgbClr val="FFFFFF"/>
                </a:solidFill>
                <a:latin typeface="Cambria"/>
              </a:rPr>
              <a:t>The advanced programme</a:t>
            </a:r>
          </a:p>
          <a:p>
            <a:pPr algn="l">
              <a:lnSpc>
                <a:spcPct val="120000"/>
              </a:lnSpc>
              <a:spcBef>
                <a:spcPts val="0"/>
              </a:spcBef>
              <a:spcAft>
                <a:spcPts val="600"/>
              </a:spcAft>
            </a:pPr>
            <a:r>
              <a:rPr sz="1200" b="0" i="0">
                <a:solidFill>
                  <a:srgbClr val="C9D6DE"/>
                </a:solidFill>
                <a:latin typeface="Calibri"/>
              </a:rPr>
              <a:t>20 hours, taken after supervised practice. A reflective portfolio and an assessed live simulation. It is deliberately harder.</a:t>
            </a:r>
          </a:p>
        </p:txBody>
      </p:sp>
      <p:sp>
        <p:nvSpPr>
          <p:cNvPr id="8" name="Oval 7"/>
          <p:cNvSpPr/>
          <p:nvPr/>
        </p:nvSpPr>
        <p:spPr>
          <a:xfrm>
            <a:off x="868680" y="4197096"/>
            <a:ext cx="475488" cy="475488"/>
          </a:xfrm>
          <a:prstGeom prst="ellipse">
            <a:avLst/>
          </a:prstGeom>
          <a:solidFill>
            <a:srgbClr val="C8873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0A243D"/>
                </a:solidFill>
                <a:latin typeface="Cambria"/>
              </a:rPr>
              <a:t>3</a:t>
            </a:r>
          </a:p>
        </p:txBody>
      </p:sp>
      <p:sp>
        <p:nvSpPr>
          <p:cNvPr id="9" name="TextBox 8"/>
          <p:cNvSpPr txBox="1"/>
          <p:nvPr/>
        </p:nvSpPr>
        <p:spPr>
          <a:xfrm>
            <a:off x="1536192" y="4215383"/>
            <a:ext cx="9601200" cy="777240"/>
          </a:xfrm>
          <a:prstGeom prst="rect">
            <a:avLst/>
          </a:prstGeom>
          <a:noFill/>
        </p:spPr>
        <p:txBody>
          <a:bodyPr wrap="square" lIns="0" rIns="0" tIns="0" bIns="0" anchor="t">
            <a:spAutoFit/>
          </a:bodyPr>
          <a:lstStyle/>
          <a:p>
            <a:pPr algn="l">
              <a:lnSpc>
                <a:spcPct val="105000"/>
              </a:lnSpc>
              <a:spcBef>
                <a:spcPts val="0"/>
              </a:spcBef>
              <a:spcAft>
                <a:spcPts val="300"/>
              </a:spcAft>
            </a:pPr>
            <a:r>
              <a:rPr sz="1500" b="1" i="0">
                <a:solidFill>
                  <a:srgbClr val="FFFFFF"/>
                </a:solidFill>
                <a:latin typeface="Cambria"/>
              </a:rPr>
              <a:t>Internship and empanelment</a:t>
            </a:r>
          </a:p>
          <a:p>
            <a:pPr algn="l">
              <a:lnSpc>
                <a:spcPct val="120000"/>
              </a:lnSpc>
              <a:spcBef>
                <a:spcPts val="0"/>
              </a:spcBef>
              <a:spcAft>
                <a:spcPts val="600"/>
              </a:spcAft>
            </a:pPr>
            <a:r>
              <a:rPr sz="1200" b="0" i="0">
                <a:solidFill>
                  <a:srgbClr val="C9D6DE"/>
                </a:solidFill>
                <a:latin typeface="Calibri"/>
              </a:rPr>
              <a:t>A structured placement, and consideration for the panel of neutrals after the advanced programme.</a:t>
            </a:r>
          </a:p>
        </p:txBody>
      </p:sp>
      <p:sp>
        <p:nvSpPr>
          <p:cNvPr id="10" name="TextBox 9"/>
          <p:cNvSpPr txBox="1"/>
          <p:nvPr/>
        </p:nvSpPr>
        <p:spPr>
          <a:xfrm>
            <a:off x="868680" y="6035040"/>
            <a:ext cx="10424160" cy="457200"/>
          </a:xfrm>
          <a:prstGeom prst="rect">
            <a:avLst/>
          </a:prstGeom>
          <a:noFill/>
        </p:spPr>
        <p:txBody>
          <a:bodyPr wrap="square" lIns="0" rIns="0" tIns="0" bIns="0" anchor="t">
            <a:spAutoFit/>
          </a:bodyPr>
          <a:lstStyle/>
          <a:p>
            <a:pPr algn="l">
              <a:spcBef>
                <a:spcPts val="0"/>
              </a:spcBef>
              <a:spcAft>
                <a:spcPts val="600"/>
              </a:spcAft>
            </a:pPr>
            <a:r>
              <a:rPr sz="1200" b="0" i="0">
                <a:solidFill>
                  <a:srgbClr val="C9D6DE"/>
                </a:solidFill>
                <a:latin typeface="Calibri"/>
              </a:rPr>
              <a:t>Your certificate evidences training and assessment. It is not a degree or diploma and is not a statutory qualification.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3D5D88ED318E546B0BAD9611B3061C9" ma:contentTypeVersion="9" ma:contentTypeDescription="Create a new document." ma:contentTypeScope="" ma:versionID="d50db782a5ec69b02a0131a0f200a05c">
  <xsd:schema xmlns:xsd="http://www.w3.org/2001/XMLSchema" xmlns:xs="http://www.w3.org/2001/XMLSchema" xmlns:p="http://schemas.microsoft.com/office/2006/metadata/properties" xmlns:ns2="30dddea4-ca15-4972-99ca-320a89f10386" targetNamespace="http://schemas.microsoft.com/office/2006/metadata/properties" ma:root="true" ma:fieldsID="2e09d9990d161d2f2733b865e15bb167" ns2:_="">
    <xsd:import namespace="30dddea4-ca15-4972-99ca-320a89f103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dddea4-ca15-4972-99ca-320a89f103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fieldId="{5cf76f15-5ced-4ddc-b409-7134ff3c332f}" ma:taxonomyMulti="true" ma:sspId="00000000-0000-0000-0000-000000000000" ma:termSetId="00000000-0000-0000-0000-000000000000" ma:anchorId="00000000-0000-0000-0000-000000000000" ma:open="fals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0dddea4-ca15-4972-99ca-320a89f1038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AC089F6-5665-4173-B6B1-346AF50AC1FB}"/>
</file>

<file path=customXml/itemProps2.xml><?xml version="1.0" encoding="utf-8"?>
<ds:datastoreItem xmlns:ds="http://schemas.openxmlformats.org/officeDocument/2006/customXml" ds:itemID="{C26003A7-7BD4-4243-9539-AAF18633ABE3}"/>
</file>

<file path=customXml/itemProps3.xml><?xml version="1.0" encoding="utf-8"?>
<ds:datastoreItem xmlns:ds="http://schemas.openxmlformats.org/officeDocument/2006/customXml" ds:itemID="{A3D7F685-086C-48F4-932E-D66A082DEE94}"/>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0x01010053D5D88ED318E546B0BAD9611B3061C9</vt:lpwstr>
  </property>
</Properties>
</file>