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8" Type="http://schemas.openxmlformats.org/officeDocument/2006/relationships/customXml" Target="../customXml/item3.xml"/><Relationship Id="rId3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5.xml"/><Relationship Id="rId17" Type="http://schemas.openxmlformats.org/officeDocument/2006/relationships/customXml" Target="../customXml/item2.xml"/><Relationship Id="rId2" Type="http://schemas.openxmlformats.org/officeDocument/2006/relationships/printerSettings" Target="printerSettings/printerSettings1.bin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slide" Target="slides/slide4.xml"/><Relationship Id="rId5" Type="http://schemas.openxmlformats.org/officeDocument/2006/relationships/theme" Target="theme/theme1.xml"/><Relationship Id="rId15" Type="http://schemas.openxmlformats.org/officeDocument/2006/relationships/slide" Target="slides/slide8.xml"/><Relationship Id="rId10" Type="http://schemas.openxmlformats.org/officeDocument/2006/relationships/slide" Target="slides/slide3.xml"/><Relationship Id="rId4" Type="http://schemas.openxmlformats.org/officeDocument/2006/relationships/viewProps" Target="viewProps.xml"/><Relationship Id="rId9" Type="http://schemas.openxmlformats.org/officeDocument/2006/relationships/slide" Target="slides/slide2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Audience is the Registrar and possibly the VC. Not the Dean of Law. This is a services conversation, not an academic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 this without any suggestion of exposure or penalty. The moment it sounds like a threat, it gets filed.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873C"/>
                </a:solidFill>
                <a:latin typeface="Calibri"/>
              </a:rPr>
              <a:t>EQUATOR RESOLUTION  ·  INSTITUTIONAL ADVISORY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4200" b="1" i="0">
                <a:solidFill>
                  <a:srgbClr val="FFFFFF"/>
                </a:solidFill>
                <a:latin typeface="Cambria"/>
              </a:rPr>
              <a:t>Grievance redressal that
withstands scrutiny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43400"/>
            <a:ext cx="8778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C9D6DE"/>
                </a:solidFill>
                <a:latin typeface="Calibri"/>
              </a:rPr>
              <a:t>Ombudsperson, SGRC and Internal Committee support for [●]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8932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C9D6DE"/>
                </a:solidFill>
                <a:latin typeface="Calibri"/>
              </a:rPr>
              <a:t>[●]  ·  An Infrabyx Group venture  ·  www.equatorresolution.com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0375C"/>
                </a:solidFill>
                <a:latin typeface="Cambria"/>
              </a:rPr>
              <a:t>What the Regulations require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A5A5A"/>
                </a:solidFill>
                <a:latin typeface="Calibri"/>
              </a:rPr>
              <a:t>UGC (Redressal of Grievances of Students) Regulations, 2023, notified 11 April 2023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920239"/>
            <a:ext cx="420624" cy="420624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9032" y="1929384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0375C"/>
                </a:solidFill>
                <a:latin typeface="Cambria"/>
              </a:rPr>
              <a:t>Committees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70832" y="1911095"/>
            <a:ext cx="672358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Every institution shall constitute one or more Students' Grievance Redressal Committees.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542032"/>
            <a:ext cx="10637215" cy="15875"/>
          </a:xfrm>
          <a:prstGeom prst="rect">
            <a:avLst/>
          </a:prstGeom>
          <a:solidFill>
            <a:srgbClr val="C9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679191"/>
            <a:ext cx="420624" cy="420624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688336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0375C"/>
                </a:solidFill>
                <a:latin typeface="Cambria"/>
              </a:rPr>
              <a:t>An Ombudsperson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832" y="2670048"/>
            <a:ext cx="672358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To be appointed — a retired Vice-Chancellor, a retired professor with ten years' experience, or a former District Judge.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00984"/>
            <a:ext cx="10637215" cy="15875"/>
          </a:xfrm>
          <a:prstGeom prst="rect">
            <a:avLst/>
          </a:prstGeom>
          <a:solidFill>
            <a:srgbClr val="C9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3438144"/>
            <a:ext cx="420624" cy="420624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9032" y="3447288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0375C"/>
                </a:solidFill>
                <a:latin typeface="Cambria"/>
              </a:rPr>
              <a:t>Within thirty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0832" y="3429000"/>
            <a:ext cx="672358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Both were required within thirty days of notification.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59936"/>
            <a:ext cx="10637215" cy="15875"/>
          </a:xfrm>
          <a:prstGeom prst="rect">
            <a:avLst/>
          </a:prstGeom>
          <a:solidFill>
            <a:srgbClr val="C9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4197095"/>
            <a:ext cx="420624" cy="420624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9032" y="4206239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0375C"/>
                </a:solidFill>
                <a:latin typeface="Cambria"/>
              </a:rPr>
              <a:t>Composition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2" y="4187951"/>
            <a:ext cx="672358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Representation from Scheduled Castes, Scheduled Tribes, Other Backward Classes and women, as chairperson or members.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818888"/>
            <a:ext cx="10637215" cy="15875"/>
          </a:xfrm>
          <a:prstGeom prst="rect">
            <a:avLst/>
          </a:prstGeom>
          <a:solidFill>
            <a:srgbClr val="C9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7240" y="4956047"/>
            <a:ext cx="420624" cy="420624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99032" y="4965191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0375C"/>
                </a:solidFill>
                <a:latin typeface="Cambria"/>
              </a:rPr>
              <a:t>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0832" y="4946903"/>
            <a:ext cx="672358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Grievances concerning admissions, fees, examinations, scholarships, harassment and allied matters.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577840"/>
            <a:ext cx="10637215" cy="15875"/>
          </a:xfrm>
          <a:prstGeom prst="rect">
            <a:avLst/>
          </a:prstGeom>
          <a:solidFill>
            <a:srgbClr val="C9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7240" y="5714999"/>
            <a:ext cx="420624" cy="420624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99032" y="5724143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0375C"/>
                </a:solidFill>
                <a:latin typeface="Cambria"/>
              </a:rPr>
              <a:t>Separately, the POSH 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0832" y="5705855"/>
            <a:ext cx="672358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An Internal Committee including an external member from an NGO or a person familiar with issues relating to sexual harassment.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0375C"/>
                </a:solidFill>
                <a:latin typeface="Cambria"/>
              </a:rPr>
              <a:t>What we usually find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A5A5A"/>
                </a:solidFill>
                <a:latin typeface="Calibri"/>
              </a:rPr>
              <a:t>Not a criticism of any institution — this is dispute-resolution work imposed on people whose job is education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57400"/>
            <a:ext cx="5135727" cy="3474720"/>
          </a:xfrm>
          <a:prstGeom prst="roundRect">
            <a:avLst>
              <a:gd name="adj" fmla="val 6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386584"/>
            <a:ext cx="44042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1" i="0">
                <a:solidFill>
                  <a:srgbClr val="10375C"/>
                </a:solidFill>
                <a:latin typeface="Cambria"/>
              </a:rPr>
              <a:t>Commonly in place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990088"/>
            <a:ext cx="4404207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A committee, constituted correctly on paper.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An Ombudsperson, appointed.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A willingness to do this properly.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Someone who has been asked to look after it, alongside their actual job.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2057400"/>
            <a:ext cx="5135727" cy="3474720"/>
          </a:xfrm>
          <a:prstGeom prst="roundRect">
            <a:avLst>
              <a:gd name="adj" fmla="val 6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4487" y="2386584"/>
            <a:ext cx="44042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1" i="0">
                <a:solidFill>
                  <a:srgbClr val="10375C"/>
                </a:solidFill>
                <a:latin typeface="Cambria"/>
              </a:rPr>
              <a:t>Commonly missing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4487" y="2990088"/>
            <a:ext cx="4404207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A written procedure that would withstand scrutiny.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Members trained to conduct a hearing and record reasons.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A register of grievances received and disposed.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Documented timelines that are actually met.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An appeal route communicated to students.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Anything to produce if an accreditation team asked tomorrow.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73736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D6EEED"/>
                </a:solidFill>
                <a:latin typeface="Calibri"/>
              </a:rPr>
              <a:t>ONE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40280"/>
            <a:ext cx="97840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400"/>
              </a:spcAft>
            </a:pPr>
            <a:r>
              <a:rPr sz="2700" b="1" i="0">
                <a:solidFill>
                  <a:srgbClr val="FFFFFF"/>
                </a:solidFill>
                <a:latin typeface="Cambria"/>
              </a:rPr>
              <a:t>What would you produce if an accreditation team asked to see the procedure, the register and the training records tomorrow?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D6EEED"/>
                </a:solidFill>
                <a:latin typeface="Calibri"/>
              </a:rPr>
              <a:t>The question that starts most of our engagements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0375C"/>
                </a:solidFill>
                <a:latin typeface="Cambria"/>
              </a:rPr>
              <a:t>What we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A5A5A"/>
                </a:solidFill>
                <a:latin typeface="Calibri"/>
              </a:rPr>
              <a:t>Two retainers, and services on their own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965960"/>
          <a:ext cx="10637213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4321"/>
                <a:gridCol w="2711446"/>
                <a:gridCol w="2711446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09728" marR="73152" marT="45720" marB="45720" anchor="ctr">
                    <a:solidFill>
                      <a:srgbClr val="1037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Comprehensive · ADV-A</a:t>
                      </a:r>
                    </a:p>
                  </a:txBody>
                  <a:tcPr marL="109728" marR="73152" marT="45720" marB="45720" anchor="ctr">
                    <a:solidFill>
                      <a:srgbClr val="1037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Standard · ADV-B</a:t>
                      </a:r>
                    </a:p>
                  </a:txBody>
                  <a:tcPr marL="109728" marR="73152" marT="45720" marB="45720" anchor="ctr">
                    <a:solidFill>
                      <a:srgbClr val="1037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0375C"/>
                          </a:solidFill>
                          <a:latin typeface="Calibri"/>
                        </a:rPr>
                        <a:t>Written diagnostic against the Regulations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1F1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1F1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0375C"/>
                          </a:solidFill>
                          <a:latin typeface="Calibri"/>
                        </a:rPr>
                        <a:t>Process design, documentation, forms, registers</a:t>
                      </a:r>
                    </a:p>
                  </a:txBody>
                  <a:tcPr marL="109728" marR="73152" marT="36576" marB="36576" anchor="ctr"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1F1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109728" marR="73152" marT="36576" marB="36576" anchor="ctr"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1F1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109728" marR="73152" marT="36576" marB="36576" anchor="ctr">
                    <a:solidFill>
                      <a:srgbClr val="EAF1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0375C"/>
                          </a:solidFill>
                          <a:latin typeface="Calibri"/>
                        </a:rPr>
                        <a:t>SGRC and Ombudsperson training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1F1F"/>
                          </a:solidFill>
                          <a:latin typeface="Calibri"/>
                        </a:rPr>
                        <a:t>One day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1F1F"/>
                          </a:solidFill>
                          <a:latin typeface="Calibri"/>
                        </a:rPr>
                        <a:t>One day, combined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0375C"/>
                          </a:solidFill>
                          <a:latin typeface="Calibri"/>
                        </a:rPr>
                        <a:t>Internal Committee training</a:t>
                      </a:r>
                    </a:p>
                  </a:txBody>
                  <a:tcPr marL="109728" marR="73152" marT="36576" marB="36576" anchor="ctr"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1F1F"/>
                          </a:solidFill>
                          <a:latin typeface="Calibri"/>
                        </a:rPr>
                        <a:t>One day</a:t>
                      </a:r>
                    </a:p>
                  </a:txBody>
                  <a:tcPr marL="109728" marR="73152" marT="36576" marB="36576" anchor="ctr"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1F1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09728" marR="73152" marT="36576" marB="36576" anchor="ctr">
                    <a:solidFill>
                      <a:srgbClr val="EAF1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0375C"/>
                          </a:solidFill>
                          <a:latin typeface="Calibri"/>
                        </a:rPr>
                        <a:t>Review visits, with a written report each time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1F1F"/>
                          </a:solidFill>
                          <a:latin typeface="Calibri"/>
                        </a:rPr>
                        <a:t>Four a year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1F1F"/>
                          </a:solidFill>
                          <a:latin typeface="Calibri"/>
                        </a:rPr>
                        <a:t>Two a year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0375C"/>
                          </a:solidFill>
                          <a:latin typeface="Calibri"/>
                        </a:rPr>
                        <a:t>Helpline with a named contact</a:t>
                      </a:r>
                    </a:p>
                  </a:txBody>
                  <a:tcPr marL="109728" marR="73152" marT="36576" marB="36576" anchor="ctr"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1F1F"/>
                          </a:solidFill>
                          <a:latin typeface="Calibri"/>
                        </a:rPr>
                        <a:t>Two working days</a:t>
                      </a:r>
                    </a:p>
                  </a:txBody>
                  <a:tcPr marL="109728" marR="73152" marT="36576" marB="36576" anchor="ctr"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1F1F"/>
                          </a:solidFill>
                          <a:latin typeface="Calibri"/>
                        </a:rPr>
                        <a:t>Two working days</a:t>
                      </a:r>
                    </a:p>
                  </a:txBody>
                  <a:tcPr marL="109728" marR="73152" marT="36576" marB="36576" anchor="ctr">
                    <a:solidFill>
                      <a:srgbClr val="EAF1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0375C"/>
                          </a:solidFill>
                          <a:latin typeface="Calibri"/>
                        </a:rPr>
                        <a:t>Annual compliance report for your governing body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1F1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1F1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0375C"/>
                          </a:solidFill>
                          <a:latin typeface="Calibri"/>
                        </a:rPr>
                        <a:t>Trained external members and neutrals</a:t>
                      </a:r>
                    </a:p>
                  </a:txBody>
                  <a:tcPr marL="109728" marR="73152" marT="36576" marB="36576" anchor="ctr"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1F1F"/>
                          </a:solidFill>
                          <a:latin typeface="Calibri"/>
                        </a:rPr>
                        <a:t>Per sitting</a:t>
                      </a:r>
                    </a:p>
                  </a:txBody>
                  <a:tcPr marL="109728" marR="73152" marT="36576" marB="36576" anchor="ctr"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1F1F"/>
                          </a:solidFill>
                          <a:latin typeface="Calibri"/>
                        </a:rPr>
                        <a:t>Per sitting</a:t>
                      </a:r>
                    </a:p>
                  </a:txBody>
                  <a:tcPr marL="109728" marR="73152" marT="36576" marB="36576" anchor="ctr">
                    <a:solidFill>
                      <a:srgbClr val="EAF1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0375C"/>
                          </a:solidFill>
                          <a:latin typeface="Calibri"/>
                        </a:rPr>
                        <a:t>Annual fee, exclusive of taxes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1F1F"/>
                          </a:solidFill>
                          <a:latin typeface="Calibri"/>
                        </a:rPr>
                        <a:t>₹3,60,000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1F1F"/>
                          </a:solidFill>
                          <a:latin typeface="Calibri"/>
                        </a:rPr>
                        <a:t>₹1,80,000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327648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0" i="1">
                <a:solidFill>
                  <a:srgbClr val="5A5A5A"/>
                </a:solidFill>
                <a:latin typeface="Calibri"/>
              </a:rPr>
              <a:t>External Internal Committee member: ₹18,000 per sitting.  ·  One-off training without a retainer: ₹85,000 to ₹95,000.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0375C"/>
                </a:solidFill>
                <a:latin typeface="Cambria"/>
              </a:rPr>
              <a:t>What we do not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A5A5A"/>
                </a:solidFill>
                <a:latin typeface="Calibri"/>
              </a:rPr>
              <a:t>Stated at the outset, because it establishes what we 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286000"/>
            <a:ext cx="2439847" cy="2286000"/>
          </a:xfrm>
          <a:prstGeom prst="roundRect">
            <a:avLst>
              <a:gd name="adj" fmla="val 6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670048"/>
            <a:ext cx="185463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10375C"/>
                </a:solidFill>
                <a:latin typeface="Cambria"/>
              </a:rPr>
              <a:t>We do not decide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3328415"/>
            <a:ext cx="1854631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A5A5A"/>
                </a:solidFill>
                <a:latin typeface="Calibri"/>
              </a:rPr>
              <a:t>We do not act as your Ombudsperson and we do not decide grievances. Those are yours.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9695" y="2286000"/>
            <a:ext cx="2439847" cy="2286000"/>
          </a:xfrm>
          <a:prstGeom prst="roundRect">
            <a:avLst>
              <a:gd name="adj" fmla="val 6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02303" y="2670048"/>
            <a:ext cx="185463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10375C"/>
                </a:solidFill>
                <a:latin typeface="Cambria"/>
              </a:rPr>
              <a:t>We do not investigate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02303" y="3328415"/>
            <a:ext cx="1854631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A5A5A"/>
                </a:solidFill>
                <a:latin typeface="Calibri"/>
              </a:rPr>
              <a:t>Not unless separately engaged in writing to do so — an adviser who also investigates has a conflict.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2151" y="2286000"/>
            <a:ext cx="2439847" cy="2286000"/>
          </a:xfrm>
          <a:prstGeom prst="roundRect">
            <a:avLst>
              <a:gd name="adj" fmla="val 6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4759" y="2670048"/>
            <a:ext cx="185463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10375C"/>
                </a:solidFill>
                <a:latin typeface="Cambria"/>
              </a:rPr>
              <a:t>We do not see your 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4759" y="3328415"/>
            <a:ext cx="1854631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A5A5A"/>
                </a:solidFill>
                <a:latin typeface="Calibri"/>
              </a:rPr>
              <a:t>We see no grievance file unless you ask us to. We retain none.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74607" y="2286000"/>
            <a:ext cx="2439847" cy="2286000"/>
          </a:xfrm>
          <a:prstGeom prst="roundRect">
            <a:avLst>
              <a:gd name="adj" fmla="val 6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67215" y="2670048"/>
            <a:ext cx="185463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10375C"/>
                </a:solidFill>
                <a:latin typeface="Cambria"/>
              </a:rPr>
              <a:t>We do not advise on law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67215" y="3328415"/>
            <a:ext cx="1854631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A5A5A"/>
                </a:solidFill>
                <a:latin typeface="Calibri"/>
              </a:rPr>
              <a:t>We design process and train people to run it. Your legal team advises on law.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0375C"/>
                </a:solidFill>
                <a:latin typeface="Cambria"/>
              </a:rPr>
              <a:t>Start with the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A5A5A"/>
                </a:solidFill>
                <a:latin typeface="Calibri"/>
              </a:rPr>
              <a:t>Free, and useful whether or not anything follows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2423160"/>
            <a:ext cx="420624" cy="420624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9032" y="2432304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0375C"/>
                </a:solidFill>
                <a:latin typeface="Cambria"/>
              </a:rPr>
              <a:t>A thirty-minute conversation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19472" y="2414016"/>
            <a:ext cx="617494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With whoever administers the process today. Twelve questions.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337560"/>
            <a:ext cx="10637215" cy="15875"/>
          </a:xfrm>
          <a:prstGeom prst="rect">
            <a:avLst/>
          </a:prstGeom>
          <a:solidFill>
            <a:srgbClr val="C9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3474720"/>
            <a:ext cx="420624" cy="420624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3483864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0375C"/>
                </a:solidFill>
                <a:latin typeface="Cambria"/>
              </a:rPr>
              <a:t>A two-page written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9472" y="3465576"/>
            <a:ext cx="617494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Within five working days. What the Regulations require; where you stand against each requirement; three observations; what we would suggest in order of priority.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389120"/>
            <a:ext cx="10637215" cy="15875"/>
          </a:xfrm>
          <a:prstGeom prst="rect">
            <a:avLst/>
          </a:prstGeom>
          <a:solidFill>
            <a:srgbClr val="C9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4526280"/>
            <a:ext cx="420624" cy="420624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9032" y="4535424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0375C"/>
                </a:solidFill>
                <a:latin typeface="Cambria"/>
              </a:rPr>
              <a:t>Yours either 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9472" y="4517136"/>
            <a:ext cx="617494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If it is useful, we can discuss support. If not, you keep the assessment and we will not write again this session.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0" i="1">
                <a:solidFill>
                  <a:srgbClr val="5A5A5A"/>
                </a:solidFill>
                <a:latin typeface="Calibri"/>
              </a:rPr>
              <a:t>Almost every diagnostic surfaces something the institution did not know. That is the point of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23444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Next step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2331720"/>
            <a:ext cx="475488" cy="475488"/>
          </a:xfrm>
          <a:prstGeom prst="ellipse">
            <a:avLst/>
          </a:prstGeom>
          <a:solidFill>
            <a:srgbClr val="C88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0A243D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2350008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Tell us who administers this today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9D6DE"/>
                </a:solidFill>
                <a:latin typeface="Calibri"/>
              </a:rPr>
              <a:t>A name and an email is all we need.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3264408"/>
            <a:ext cx="475488" cy="475488"/>
          </a:xfrm>
          <a:prstGeom prst="ellipse">
            <a:avLst/>
          </a:prstGeom>
          <a:solidFill>
            <a:srgbClr val="C88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0A243D"/>
                </a:solidFill>
                <a:latin typeface="Cambr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3282696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Thirty minutes with them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9D6DE"/>
                </a:solidFill>
                <a:latin typeface="Calibri"/>
              </a:rPr>
              <a:t>At their convenience, in person or by telephone.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4197096"/>
            <a:ext cx="475488" cy="475488"/>
          </a:xfrm>
          <a:prstGeom prst="ellipse">
            <a:avLst/>
          </a:prstGeom>
          <a:solidFill>
            <a:srgbClr val="C88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0A243D"/>
                </a:solidFill>
                <a:latin typeface="Cambr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4215383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Your assessment within five working days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9D6DE"/>
                </a:solidFill>
                <a:latin typeface="Calibri"/>
              </a:rPr>
              <a:t>No cost, no obligation, and no follow-up unless you ask for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60350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9D6DE"/>
                </a:solidFill>
                <a:latin typeface="Calibri"/>
              </a:rPr>
              <a:t>[●]  ·  Equator Resolution  ·  [●]  ·  www.equatorresolution.com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D5D88ED318E546B0BAD9611B3061C9" ma:contentTypeVersion="9" ma:contentTypeDescription="Create a new document." ma:contentTypeScope="" ma:versionID="d50db782a5ec69b02a0131a0f200a05c">
  <xsd:schema xmlns:xsd="http://www.w3.org/2001/XMLSchema" xmlns:xs="http://www.w3.org/2001/XMLSchema" xmlns:p="http://schemas.microsoft.com/office/2006/metadata/properties" xmlns:ns2="30dddea4-ca15-4972-99ca-320a89f10386" targetNamespace="http://schemas.microsoft.com/office/2006/metadata/properties" ma:root="true" ma:fieldsID="2e09d9990d161d2f2733b865e15bb167" ns2:_="">
    <xsd:import namespace="30dddea4-ca15-4972-99ca-320a89f1038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dddea4-ca15-4972-99ca-320a89f103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fieldId="{5cf76f15-5ced-4ddc-b409-7134ff3c332f}" ma:taxonomyMulti="true" ma:sspId="00000000-0000-0000-0000-000000000000" ma:termSetId="00000000-0000-0000-0000-00000000000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0dddea4-ca15-4972-99ca-320a89f1038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1DB95EB-00E4-4AD2-B9BC-063F15DAC31C}"/>
</file>

<file path=customXml/itemProps2.xml><?xml version="1.0" encoding="utf-8"?>
<ds:datastoreItem xmlns:ds="http://schemas.openxmlformats.org/officeDocument/2006/customXml" ds:itemID="{1671F2BC-1AD3-43C2-89A5-73D06900106B}"/>
</file>

<file path=customXml/itemProps3.xml><?xml version="1.0" encoding="utf-8"?>
<ds:datastoreItem xmlns:ds="http://schemas.openxmlformats.org/officeDocument/2006/customXml" ds:itemID="{34CB035C-0E08-4B67-8932-A2F50CD28350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0x01010053D5D88ED318E546B0BAD9611B3061C9</vt:lpwstr>
  </property>
</Properties>
</file>