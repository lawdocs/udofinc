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presProps" Target="presProps.xml"/><Relationship Id="rId21" Type="http://schemas.openxmlformats.org/officeDocument/2006/relationships/slide" Target="slides/slide14.xml"/><Relationship Id="rId7" Type="http://schemas.openxmlformats.org/officeDocument/2006/relationships/slide" Target="slides/slide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4.xml"/><Relationship Id="rId24" Type="http://schemas.openxmlformats.org/officeDocument/2006/relationships/customXml" Target="../customXml/item2.xml"/><Relationship Id="rId5" Type="http://schemas.openxmlformats.org/officeDocument/2006/relationships/theme" Target="theme/theme1.xml"/><Relationship Id="rId15" Type="http://schemas.openxmlformats.org/officeDocument/2006/relationships/slide" Target="slides/slide8.xml"/><Relationship Id="rId23" Type="http://schemas.openxmlformats.org/officeDocument/2006/relationships/customXml" Target="../customXml/item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opening to 45 seconds. Do not present the catalogue. This meeting is to understand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gently. The Dean has probably tried. Lead with the problem you both recognise, not with your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12A point is the one that lands. It converts mediation from optional to structural.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sentences. Then stop and go back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sells the partnership. Faculty want consultancy income, publication and standing. We can give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 at a university that has moved to internship-embedded degrees. It makes the MOU something they need rather than something they grant.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minimum activity clause is the one to dwell on. Frame it as protective of them: if we do not deliver, they get a clean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builds more trust than any other in the deck. Deliver it without defensiveness — it is a competitive advantage, because most providers cannot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this. The single most effective thing in the whole approach is the free lecture. It converts.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873C"/>
                </a:solidFill>
                <a:latin typeface="Calibri"/>
              </a:rPr>
              <a:t>EQUATOR ADR INSTITUTE  ·  ACADEMIC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Alternative dispute resolution,
taught by people who do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D6DE"/>
                </a:solidFill>
                <a:latin typeface="Calibri"/>
              </a:rPr>
              <a:t>A proposal for collaboration with [●]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C9D6DE"/>
                </a:solidFill>
                <a:latin typeface="Calibri"/>
              </a:rPr>
              <a:t>[●]  ·  An Infrabyx Group venture  ·  www.equatorresolution.com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Most students never see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The gap between what the ADR paper teaches and what practice now requires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3350666" cy="2633472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45973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13639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Never seen a 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794760"/>
            <a:ext cx="276545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Students complete the ADR component of an Indian law degree without observing a single mediation conducted.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0514" y="2148840"/>
            <a:ext cx="3350666" cy="2633472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122" y="245973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3122" y="313639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Never drafted a settlement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3122" y="3794760"/>
            <a:ext cx="276545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The document that ends the dispute — and which is enforceable in the manner of a decree — is rarely drafted in a classroom.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2148840"/>
            <a:ext cx="3350666" cy="2633472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6396" y="245973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396" y="313639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Never advocated in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3794760"/>
            <a:ext cx="276545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Almost every course teaches students to be the mediator. Most of them will be advocates.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This is not a criticism of any faculty. Simulation-led teaching is difficult to build from inside a department.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Why this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Two provisions have made mediation a gateway rather than a courtesy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35727" cy="3031235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9514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The Mediation Act,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98648"/>
            <a:ext cx="4404207" cy="175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statutory framework for mediation in India.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Mediated settlements enforceable in the manner of a judgment or decree.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Confidentiality is statutory. Recording of proceedings is prohibited.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Mediation to conclude within 120 days, extendable by 60.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135727" cy="3031235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29514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Section 12A, Commercial Courts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898648"/>
            <a:ext cx="4404207" cy="175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commercial suit not seeking urgent relief may not be instituted until pre-institution mediation is exhausted.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Held mandatory by the Supreme Court in Patil Automation, applying to suits filed from 20 August 2022.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Non-compliance renders a suit liable to rejection under Order VII Rule 11 CPC.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Every commercial litigator in India now needs to know how a mediation actually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7373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6EEED"/>
                </a:solidFill>
                <a:latin typeface="Calibri"/>
              </a:rPr>
              <a:t>WHAT HAS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784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Mediation is no longer something a litigator may choose to know about. It is the door they have to walk through.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The academic arm of a working dispute-resolution practice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05740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206654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Equator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2272" y="2048256"/>
            <a:ext cx="66321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An institutional dispute-resolution platform administering mediation, conciliation and arbitration across five purpose-built verticals on one shared operating engine.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01752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302666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Equator ADR Institute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3008376"/>
            <a:ext cx="66321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The academic, training and certification arm. The counterparty to every university collaboration.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4048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97764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98678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Five verticals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968496"/>
            <a:ext cx="66321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Commercial and business · financial and loan · workplace and human resources · insurance · family and marital.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0060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93776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49469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Why that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4928616"/>
            <a:ext cx="66321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single-subject provider can teach mediation in the abstract. We can teach how it differs across sectors — because we administer all five.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31720"/>
            <a:ext cx="868680" cy="8686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395728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What a partnership looks like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9D6DE"/>
                </a:solidFill>
                <a:latin typeface="Calibri"/>
              </a:rPr>
              <a:t>Seven things, of which you would start with one or two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For your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Delivered on your campus, on your calendar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2439847" cy="3877056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414015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090672"/>
            <a:ext cx="18546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Certificate courses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749039"/>
            <a:ext cx="1854631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40-hour basic and 20-hour advanced mediation training.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Structured on the model used by court-annexed centres.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Simulation-led. Assessed. Maximum 30 per cohort.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9695" y="2103120"/>
            <a:ext cx="2439847" cy="3877056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02303" y="2414015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2303" y="3090672"/>
            <a:ext cx="18546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Mediation advocacy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2303" y="3749039"/>
            <a:ext cx="1854631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Representing a party in front of a mediator.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The skill almost no Indian programme teaches.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Our clearest point of difference.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151" y="2103120"/>
            <a:ext cx="2439847" cy="3877056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4759" y="2414015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090672"/>
            <a:ext cx="18546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Campus mediation 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749039"/>
            <a:ext cx="1854631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Trained students handling peer, hostel and society disputes under our supervision.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A permanent structure, not an event.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4607" y="2103120"/>
            <a:ext cx="2439847" cy="3877056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67215" y="2414015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7215" y="3090672"/>
            <a:ext cx="18546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Internships &amp; competitions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215" y="3749039"/>
            <a:ext cx="1854631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A structured ladder with named supervision and a written evaluation.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National competition circuit. Coaching for the international circuit.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For your faculty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The half nobody offers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35727" cy="324612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9514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Faculty Development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98648"/>
            <a:ext cx="4404207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Five days. Up to 30 faculty.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Half the programme is pedagogy — designing a simulation, running a debrief, assessing a skill rather than a body of knowledge.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Each participant leaves with a simulation they designed, a session plan and an assessment rubric for their own teaching.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135727" cy="324612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29514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Professional association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898648"/>
            <a:ext cx="4404207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Empanelment as neutrals in real matters, remunerated at our published rates.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Joint empirical research drawing on anonymised outcome data from our own caseload.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Adjunct association for our senior practitioners with your faculty.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Curriculum consultation, at no charge.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A faculty member with a paid seat on a national panel is the strongest partnership a university can have with 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For your institution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Two obligations we are unusually well placed to help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35727" cy="3346703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9514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Student grievance redressal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98648"/>
            <a:ext cx="4404207" cy="2066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The UGC (Redressal of Grievances of Students) Regulations, 2023 require every institution to constitute Students' Grievance Redressal Committees and appoint an Ombudsperson.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We design the process, train the members, and can supply trained external neutrals.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You get a register and a procedure you can produce to an accreditation team.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135727" cy="3346703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29514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Prevention of sexual harassment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898648"/>
            <a:ext cx="4404207" cy="2066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The POSH Act, 2013 requires an Internal Committee with an external member.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We train the Committee in inquiry skills, evidence, recording and report writing.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We can supply the external member.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This is dispute-resolution work. It is what we do everywhere else.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The internship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UGC guidance requires internship-embedded degrees delivered under an MOU with an outside organisation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5135727" cy="3790187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8658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What the guidance requires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90088"/>
            <a:ext cx="4404207" cy="2510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At least 20% of total programme credits as internship or apprenticeship, for a 132-credit undergraduate degree.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An MOU with a discipline-specific organisation to provide 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Credits included in total programme credits.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Final mark sheet reflecting internship performance, evaluated with the host organisation.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057400"/>
            <a:ext cx="5135727" cy="3790187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38658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What we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990088"/>
            <a:ext cx="4404207" cy="2510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four-level internship ladder with defined learning outcomes.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named supervisor, meeting the intern weekly.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Attendance, continuous assessment, written output and an exit viva.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written evaluation in a form designed to support your credit award.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The award of credit remains a matter for the University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31720"/>
            <a:ext cx="868680" cy="8686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395728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How we work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9D6DE"/>
                </a:solidFill>
                <a:latin typeface="Calibri"/>
              </a:rPr>
              <a:t>Governance, and what stops this becoming a document in a file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How a collaboration is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Six commitments we make in every partnership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20239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19293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Named nodal officers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1911095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One on each side, with authority to agree the calendar. Named within fifteen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42032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679191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6883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 written activity 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670048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Agreed and signed before each academic year. Built around your term dates and examination windows.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00984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438144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4472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 minimum activity commitment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429000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Stated in the MOU. If we fall below it for two consecutive years, the arrangement lapses — cleanly, without liability, on either side.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197095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42062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 joint steering committee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187951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Meets at least twice a year, chaired alternately.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818888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956047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965191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 written report after every 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4946903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Within twenty-one days. Participation, assessment outcomes, feedback analysis and photographs — in a form you can place in your own accreditation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57784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5714999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5724143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 written annual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5705855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Including what did not work, and what we got wrong.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What we do 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We state this plainly, because a good deal is claimed loosely in this sector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3350666" cy="2208276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624328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No degrees or diplomas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282696"/>
            <a:ext cx="2765450" cy="909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We issue certificates of training and assessed competence. Nothing more, and we say so on the certificate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0514" y="2240280"/>
            <a:ext cx="3350666" cy="2208276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3122" y="2624328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No claim of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3122" y="3282696"/>
            <a:ext cx="2765450" cy="909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The Mediation Council of India contemplated by the Act is not yet constituted. No body in India currently issues a statutorily recognised mediator certification, and we do not pretend otherwise.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3788" y="2240280"/>
            <a:ext cx="3350666" cy="2208276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6396" y="2624328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No placement promise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6396" y="3282696"/>
            <a:ext cx="2765450" cy="909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We offer a documented internship-to-employment pathway. Any provider who guarantees placement should not be believed.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Our curriculum is designed in line with prevailing court-annexed norms of 40 hours basic and 20 hours advanced training, and is built to be re-mapped when Council standards are notified.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Start with something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Three ways in, none of which needs an agreement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3350666" cy="3012948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50545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18211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One guest lecture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840480"/>
            <a:ext cx="2765450" cy="1110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Ninety minutes, on your campus, at no cost.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Mediation after the Mediation Act, 2023 — what practice now requires.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It needs a room and a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0514" y="2194560"/>
            <a:ext cx="3350666" cy="3012948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122" y="250545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3122" y="318211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Webinar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3122" y="3840480"/>
            <a:ext cx="2765450" cy="1110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Our national webinar programme, open to all of your students.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No cost, no registration barrier, no agreement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2194560"/>
            <a:ext cx="3350666" cy="3012948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6396" y="250545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396" y="318211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Your teams at our competition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3840480"/>
            <a:ext cx="2765450" cy="1110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Entry on the same footing as any other institution.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Our judges are available for competitions you host, at no fee.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What we would ask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331720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2350008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A decision in principle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By [●], on whether a collaboration is of interest — not on its scope.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264408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3282696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A nodal officer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One named person on your side who would make it happen.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197096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4215383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Permission to send the draft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Our standard Memorandum of Understanding, for your legal team to review at their own 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[●]  ·  Programme Director — Academic Partnerships  ·  [●]  ·  www.equatorresolution.com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B07613-B06C-4068-9073-71E7E6578947}"/>
</file>

<file path=customXml/itemProps2.xml><?xml version="1.0" encoding="utf-8"?>
<ds:datastoreItem xmlns:ds="http://schemas.openxmlformats.org/officeDocument/2006/customXml" ds:itemID="{EA68CEA3-D752-4A62-A51C-709A194BCE96}"/>
</file>

<file path=customXml/itemProps3.xml><?xml version="1.0" encoding="utf-8"?>
<ds:datastoreItem xmlns:ds="http://schemas.openxmlformats.org/officeDocument/2006/customXml" ds:itemID="{F63AE8BF-ED10-444C-B4BC-9AD5264E932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