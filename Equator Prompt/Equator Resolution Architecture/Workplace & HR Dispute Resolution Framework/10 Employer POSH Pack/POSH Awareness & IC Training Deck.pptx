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 OF SEXUAL HARASSMENT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workplace where everyone is safe and respected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3474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for all employees · Capacity-building for the Internal Committee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POSH Act, 2013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[Organisation] · [Date] · Facilitated by Equator Resolution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session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formality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law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workplace with 10 or more workers must have a policy, an Internal Committee and awareness programmes.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about safety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causes real harm — to health, to careers, and to people's sense of safety at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is the problem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harassment is never reported. People stay quiet because they fear disbelief or retaliation.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has a part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Bystanders, managers and colleagues shape whether a workplace is safe — not just the Committee.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sexual harassment means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2(n) and section 3 of the 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55448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Unwelcome acts or behaviour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contact and advances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or request for sexual favours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coloured remarks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pornography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unwelcome physical, verbal or non-verbal conduct of a sexual nature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Circumstances that may also amount to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or explicit promise of preferential treatment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or explicit threat of detrimental treatment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about present or future employment status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with work; an intimidating, offensive or hostile environment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Humiliating treatment likely to affect health or safety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is whether it was UNWELCOME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turns on how the conduct was received — not on what was intended.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only joking" is not a defence. Nor is "nobody else minded", or "we've always been like this here".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383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"She never said stop"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33832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freeze, or fear the consequences of objecting. Silence is not consent.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04164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0416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happened outside office"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40416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workplace includes travel, client sites, off-site events — and digital spaces.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7000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was consensual once"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7000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not permanent. It can be withdrawn at any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5838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3583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"He's senior, it's just his manner"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53583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makes it worse, not acceptable. Power is part of the harm.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protected, and where it applies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645920"/>
            <a:ext cx="530352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woman at the workplace — employed or not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outsourced and daily-wage workers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Interns, apprentices, trainees, probationers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and third parties at the workplace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sites and any place visited during work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Employer-provided transport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vendor premises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events, training and travel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spaces — email, chat, calls, social media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raise a complaint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happens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writing to the Internal Committee, within 3 months (extendable by 3). The IC will help you put it in writing.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ask for conciliation under s.10 — your choice alone, and never based on money. Or go straight to an inquiry.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are heard fairly. No lawyers represent parties. Completed within 90 days.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98280" y="3246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 employer in 10 days; the employer acts within 60 days. Appeal within 90 days.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relief is available during the inquiry — transfer, leave of up to 3 months (not deducted from your balance), or restraining the respondent from appraising your work.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protections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law guarantees you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 (s.16)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identity, the respondent's, the witnesses', the proceedings and the outcome cannot be published or made known to the media. Breach is penalised.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retaliation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Retaliation against a complainant, witness or IC member is itself misconduct.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proved ≠ false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complain in good faith and it cannot be proved, no action is taken against you. Only a genuinely malicious complaint attracts action.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Criminal remedy preserved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also go to the police. The employer must assist you if you ask.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see it happening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colleague or manager can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2057400"/>
            <a:ext cx="658368" cy="6583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dismiss it as banter. If it looks unwelcome, it probably 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2057400"/>
            <a:ext cx="658368" cy="6583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71216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16936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redirection in the moment can stop it without confrontation.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0912" y="182880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24144" y="2057400"/>
            <a:ext cx="658368" cy="6583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02352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48072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person how they are. Believe them. Don't investigate it yourself.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42048" y="182880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2057400"/>
            <a:ext cx="658368" cy="6583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33488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Signpost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79208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about the IC and this policy. Offer to go with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73184" y="182880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86416" y="2057400"/>
            <a:ext cx="658368" cy="65836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6" name="Text 24"/>
          <p:cNvSpPr/>
          <p:nvPr/>
        </p:nvSpPr>
        <p:spPr>
          <a:xfrm>
            <a:off x="10186416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64624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10344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have a duty to act on what they know — you cannot un-know it.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workplace is made safe by the ordinary behaviour of ordinary colleagues — not by a policy on a noticeboard.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Internal Committee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Capacity-building module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Presiding Officer (senior woman), 2+ members, and at least one EXTERNAL member. Half the members women. Term up to 3 years.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Conciliation limits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4840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the woman's request. Never IC-initiated, never at the respondent's request, never on a monetary basis.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920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justice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38160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complaint to the respondent; 10 working days to reply; hear both; no lawyers representing parties.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ask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character, dress, personal life or sexual history. Keep the inquiry to the conduct alleged.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840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4434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90 days · report 10 days · employer acts 60 days · appeal 90 days.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84048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&amp; report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38160" y="4434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 minutes; sealed file; annual report to the employer and District Officer.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scenarios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answers on the slide — talk them 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6E0E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repeatedly comments on a colleague's appearance in team meetings. She laughs it off. A teammate is uncomfortable.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harassment? Does her laughing change it? What should the teammate do?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999232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work group includes sexual jokes. One member goes quiet and later leaves the group.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0" y="2999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work group 'the workplace'? What should the group admin do?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6E0E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169664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complainant asks the IC to 'just make him apologise and move him to another floor'.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0" y="416966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IC do this? Under what provision, and what are the limits?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340096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inquiry cannot establish what happened — it is one person's word against another's.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0" y="534009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IC record? What must NOT follow for the complainant?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awareness &amp; IC training  ·  Model deck for adaptation  ·  Not legal advice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happens, you will be believed, and you will be heard.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49808" y="3108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Internal Committee — [names and contact details]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on the intranet at [link] · Complaints to [email]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4389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in immediate danger, contact the police. You may pursue a criminal complaint as well as this process.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deck for adaptation · not legal advice · www.equatorresolution.com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0F28F1B-2314-4D5A-B214-9BB958C8C19E}"/>
</file>

<file path=customXml/itemProps2.xml><?xml version="1.0" encoding="utf-8"?>
<ds:datastoreItem xmlns:ds="http://schemas.openxmlformats.org/officeDocument/2006/customXml" ds:itemID="{A58487AE-EC35-4DA0-AF2F-E9E60C7F58CC}"/>
</file>

<file path=customXml/itemProps3.xml><?xml version="1.0" encoding="utf-8"?>
<ds:datastoreItem xmlns:ds="http://schemas.openxmlformats.org/officeDocument/2006/customXml" ds:itemID="{B6624D90-7138-4CF9-A0C3-3DFAF490616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2026-07-21T10:14:39Z</dcterms:created>
  <dcterms:modified xsi:type="dcterms:W3CDTF">2026-07-21T10:14:39Z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