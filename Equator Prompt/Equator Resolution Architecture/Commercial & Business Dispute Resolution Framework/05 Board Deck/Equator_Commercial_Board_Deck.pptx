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EQUATOR RESOLUTION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&amp; Business Dispute Resolution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3383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arbitration, mediation and MSME resolution — for contract, commercial, MSME, company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transaction disputes. Faster, enforceable, and delivered end-to-end online.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Investor Briefing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commercial disputes cost years and capital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5–15 yrs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resolve a commercial suit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capital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52044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tied up in disputes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outcomes &amp; delays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MSMEs hit hardest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9828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payments strangle cash 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need a faster, more commercial forum — and India's policy now compels it.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regulatory tailwinds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now pushes disputes toward institutional ADR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Courts Act, s.12A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Pre-institution mediation is MANDATORY for commercial suits of specified value (Patil Automation).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4825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Mediation Act, 2023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mediated settlement is enforceable as a court decree (s.27).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Arbitration Act + 2024 Bill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awards; the draft Bill champions institutional arbitration &amp; an Arbitration Council.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MSMED Act, s.18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Samadhaan routes delayed-payment disputes to conciliation then arbitration, with 3× interest.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one institution, three mechanisms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route each dispute to the right mechanism — arbitration, mediation, s.12A or MSME.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Graded, conflict-checked neutrals (former judges, senior advocates, sector experts).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Resolve, fast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hearings within statutory clocks; escrow secures the money.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1540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9828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award or settlement, e-signed, e-stamped, and enforceable as a decree.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Equator different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92808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Institutional, not ad-hoc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60020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graded panel, case management &amp; award repository — the model the 2024 Bill promotes.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892808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mechanism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22376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Arbitration, mediation, mandatory s.12A, and MSME Samadhaan — under one roof.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041648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secured by escrow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60020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Award/settlement sums held by a regulated bank, released on compliance.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4041648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online + AI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22376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resolve, e-sign, e-stamp, enforce — with an AI mechanism &amp; drafting assistant.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disputes we resolve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types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of contract &amp; damages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recovery · MSME delayed payment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Supply, vendor &amp; procurement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franchise &amp; agency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/ JV / partnership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infrastructure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IT &amp; IP · real estate · banking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/ international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IT/technology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infrastructure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/ finance · real estate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/ healthcare · energy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FMCG · logistics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&amp; other services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Time-bound by statute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litigation cannot offer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(+6) months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Arbitral award (s.29A)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months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2044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award (s.29B)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(+2) months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s.12A mediation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 days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9828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Samadhaan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 clock, an emergency-arbitrator track for urgent relief, and expedited procedures for lower-value matters.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that resolves — end to end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ODR, e-Sign, e-Stamp and court/tribunal integration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9397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Dispute Explorer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mechanism, checks arbitrability, and drafts the Request for Arbitration / claim.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9397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(ODR)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hear (video + caucus) and settle online — ideal for cross-border matters.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e-Sign &amp; e-Stamp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e-Sign + SHCIL e-stamp; award/MSA enforceable as a decree.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 &amp; tribunal integration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with commercial courts, High Courts and the NCLT (s.8, s.11, s.12A).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global best practice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to Indian law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UNCITRAL Model Law &amp; Rules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4880" y="178308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India's Act follows — party autonomy, kompetenz-kompetenz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9748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SIAC / ICC / LCIA / HKIAC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54880" y="269748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 &amp; emergency procedures; award scrutiny; ad valorem fees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1188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ICC / construction practice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med-arb clauses; dispute boards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2628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Singapore Convention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54880" y="452628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enforceability of mediated settlements (watch India ratification)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valorem fees scaled to the amount in dispute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&amp; admin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+ ad valorem administration fee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 fee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2044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Fourth-Schedule / institutional scale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handling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secured sums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Clause-insertion pipeline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9828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named in contracts → recurring cases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F5ECD6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High-value, high-volume category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disputes are the largest and highest-value ADR category; the mandatory s.12A gateway and clause insertion create a self-replenishing pipeline. A fee estimator gives parties an instant, transparent quote.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launch &amp; scale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DCEAE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panel, intake, forms, KYB, case management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3–5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Escrow, emergency/interim track, MSME workflow, e-Sign/e-Stamp, pilot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5–8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Court/tribunal referral; ACI grading readiness; clause-insertion programme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1540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256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8–12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sectors; international arbitration; publish outcomes &amp; rules commentary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disputes, resolved — not litigated for years.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arbitration, mediation and MSME resolution — faster, enforceable, and fully online.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4023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clause-insertion partners · escrow-bank integration · founding arbitrators &amp; mediators.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4846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www.equatorresolution.com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5D88ED318E546B0BAD9611B3061C9" ma:contentTypeVersion="9" ma:contentTypeDescription="Create a new document." ma:contentTypeScope="" ma:versionID="d50db782a5ec69b02a0131a0f200a05c">
  <xsd:schema xmlns:xsd="http://www.w3.org/2001/XMLSchema" xmlns:xs="http://www.w3.org/2001/XMLSchema" xmlns:p="http://schemas.microsoft.com/office/2006/metadata/properties" xmlns:ns2="30dddea4-ca15-4972-99ca-320a89f10386" targetNamespace="http://schemas.microsoft.com/office/2006/metadata/properties" ma:root="true" ma:fieldsID="2e09d9990d161d2f2733b865e15bb167" ns2:_="">
    <xsd:import namespace="30dddea4-ca15-4972-99ca-320a89f10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dea4-ca15-4972-99ca-320a89f10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dddea4-ca15-4972-99ca-320a89f1038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6635269-CED9-4A53-904B-AD2931AB3E20}"/>
</file>

<file path=customXml/itemProps2.xml><?xml version="1.0" encoding="utf-8"?>
<ds:datastoreItem xmlns:ds="http://schemas.openxmlformats.org/officeDocument/2006/customXml" ds:itemID="{FEC6BF63-6EF7-4B26-AB9F-381A43746DE5}"/>
</file>

<file path=customXml/itemProps3.xml><?xml version="1.0" encoding="utf-8"?>
<ds:datastoreItem xmlns:ds="http://schemas.openxmlformats.org/officeDocument/2006/customXml" ds:itemID="{3C25D16E-D1DB-422F-8860-08F467FC49F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2026-07-19T18:13:56Z</dcterms:created>
  <dcterms:modified xsi:type="dcterms:W3CDTF">2026-07-19T18:13:56Z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0x01010053D5D88ED318E546B0BAD9611B3061C9</vt:lpwstr>
  </property>
</Properties>
</file>